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x="18288000" cy="10287000"/>
  <p:notesSz cx="6858000" cy="9144000"/>
  <p:embeddedFontLst>
    <p:embeddedFont>
      <p:font typeface="Montserrat Ultra-Bold" charset="1" panose="00000900000000000000"/>
      <p:regular r:id="rId49"/>
    </p:embeddedFont>
    <p:embeddedFont>
      <p:font typeface="Montserrat" charset="1" panose="00000500000000000000"/>
      <p:regular r:id="rId50"/>
    </p:embeddedFont>
    <p:embeddedFont>
      <p:font typeface="Montserrat Bold" charset="1" panose="00000800000000000000"/>
      <p:regular r:id="rId51"/>
    </p:embeddedFont>
    <p:embeddedFont>
      <p:font typeface="Montserrat Semi-Bold" charset="1" panose="00000700000000000000"/>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notesMasters/notesMaster1.xml" Type="http://schemas.openxmlformats.org/officeDocument/2006/relationships/notesMaster"/><Relationship Id="rId47" Target="theme/theme2.xml" Type="http://schemas.openxmlformats.org/officeDocument/2006/relationships/theme"/><Relationship Id="rId48" Target="notesSlides/notesSlide1.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slides/slide1.xml" Type="http://schemas.openxmlformats.org/officeDocument/2006/relationships/slide"/><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slides/slide2.xml" Type="http://schemas.openxmlformats.org/officeDocument/2006/relationships/slid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notesSlides/notesSlide27.xml" Type="http://schemas.openxmlformats.org/officeDocument/2006/relationships/notesSlide"/><Relationship Id="rId79" Target="notesSlides/notesSlide28.xml" Type="http://schemas.openxmlformats.org/officeDocument/2006/relationships/notesSlide"/><Relationship Id="rId8" Target="slides/slide3.xml" Type="http://schemas.openxmlformats.org/officeDocument/2006/relationships/slide"/><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notesSlides/notesSlide32.xml" Type="http://schemas.openxmlformats.org/officeDocument/2006/relationships/notesSlide"/><Relationship Id="rId84" Target="notesSlides/notesSlide33.xml" Type="http://schemas.openxmlformats.org/officeDocument/2006/relationships/notesSlide"/><Relationship Id="rId85" Target="notesSlides/notesSlide34.xml" Type="http://schemas.openxmlformats.org/officeDocument/2006/relationships/notesSlide"/><Relationship Id="rId86" Target="notesSlides/notesSlide35.xml" Type="http://schemas.openxmlformats.org/officeDocument/2006/relationships/notesSlide"/><Relationship Id="rId87" Target="notesSlides/notesSlide36.xml" Type="http://schemas.openxmlformats.org/officeDocument/2006/relationships/notesSlide"/><Relationship Id="rId88" Target="notesSlides/notesSlide37.xml" Type="http://schemas.openxmlformats.org/officeDocument/2006/relationships/notesSlide"/><Relationship Id="rId89" Target="notesSlides/notesSlide38.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"Kính thưa Hội đồng, để đánh giá một hệ thống phân tán phức tạp như QRTable, một lớp kiểm thử đơn lẻ hay giao diện demo xanh không đủ để chứng minh tính đúng đắn của toàn bộ kiến trúc. Vì vậy, chúng em đã xây dựng một Khung phương pháp đánh giá hệ thống đa tầng, liên kết chặt chẽ từ logic code thô cho đến trạng thái lưu trữ thực tế và ma trận đối chiếu yêu cầu:</a:t>
            </a:r>
          </a:p>
          <a:p>
            <a:r>
              <a:rPr lang="en-US"/>
              <a:t/>
            </a:r>
          </a:p>
          <a:p>
            <a:r>
              <a:rPr lang="en-US"/>
              <a:t>- Ở tầng kiểm thử tự động (Đơn vị &amp; Tích hợp): Chúng em dùng kiểm thử đơn vị để xác minh các nhánh logic lỗi nghiệp vụ hoặc bù trừ tồn kho. Kiểm thử tích hợp được thực thi trên môi trường Docker chứa PostgreSQL, Redis, TCP và Kafka thật để đảm bảo các dịch vụ phối hợp chính xác qua ranh giới hạ tầng.</a:t>
            </a:r>
          </a:p>
          <a:p>
            <a:r>
              <a:rPr lang="en-US"/>
              <a:t/>
            </a:r>
          </a:p>
          <a:p>
            <a:r>
              <a:rPr lang="en-US"/>
              <a:t>- Ở tầng kiến trúc: Chúng em thực hiện kiểm tra kiến trúc tĩnh ngay trong Nx Workspace để đảm bảo không có sự vi phạm ranh giới dịch vụ (ví dụ: ngăn chặn việc import chéo repository giữa các domain). </a:t>
            </a:r>
          </a:p>
          <a:p>
            <a:r>
              <a:rPr lang="en-US"/>
              <a:t/>
            </a:r>
          </a:p>
          <a:p>
            <a:r>
              <a:rPr lang="en-US"/>
              <a:t>- Ở tầng lưu trữ vật lý (Trạng thái dữ liệu lưu trữ): Đây là bằng chứng thực tế quan trọng nhất của backend. Chúng em trực tiếp kiểm tra và đối chiếu các bản ghi dữ liệu đơn hàng, trạng thái hóa đơn, sự kiện trong bảng Outbox của PostgreSQL, cùng các cấu trúc dữ liệu hàng đợi và locks khử trùng lặp trong Redis.</a:t>
            </a:r>
          </a:p>
          <a:p>
            <a:r>
              <a:rPr lang="en-US"/>
              <a:t/>
            </a:r>
          </a:p>
          <a:p>
            <a:r>
              <a:rPr lang="en-US"/>
              <a:t>- Cuối cùng, ở tầng trải nghiệm: Luồng chạy thực tế từ quét mã QR, gọi món, hiển thị tại bếp cho đến khi nhận webhook thanh toán từ SePay được demo trực quan. Sau đó, toàn bộ các kết quả kiểm chứng này được ánh xạ vào một Ma trận truy vết (Traceability Matrix) trong Chương 6 để chứng minh 100% yêu cầu đề ra ban đầu đã được hiện thực hóa và vượt qua kiểm thử thành công."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"QRTable lựa chọn kiến trúc vi dịch vụ (microservices) từ đặc điểm của bài toán nghiệp vụ, không phải từ giả định rằng mọi hệ thống đều cần được chia thành nhiều dịch vụ. Nền tảng không chỉ mở thực đơn bằng QR, mà bao phủ một luồng POS gồm thực đơn, bàn, tồn kho, phiên QR, giỏ món, đơn hàng, bếp/bar, thanh toán, tenant và quyền truy cập.</a:t>
            </a:r>
          </a:p>
          <a:p>
            <a:r>
              <a:rPr lang="en-US"/>
              <a:t/>
            </a:r>
          </a:p>
          <a:p>
            <a:r>
              <a:rPr lang="en-US"/>
              <a:t>Các nhóm nghiệp vụ có quy tắc thay đổi, nhịp vận hành và mốc xác nhận khác nhau. Nếu gom toàn bộ vào một khối nghiệp vụ chung, triển khai ban đầu có thể đơn giản hơn nhưng ranh giới trách nhiệm dễ bị mờ, làm tăng phụ thuộc giữa các phần vốn có lý do thay đổi khác nhau.</a:t>
            </a:r>
          </a:p>
          <a:p>
            <a:r>
              <a:rPr lang="en-US"/>
              <a:t/>
            </a:r>
          </a:p>
          <a:p>
            <a:r>
              <a:rPr lang="en-US"/>
              <a:t>Vì vậy, kiến trúc vi dịch vụ được chọn để tổ chức các miền nghiệp vụ thành những ranh giới triển khai và giao tiếp rõ ràng. </a:t>
            </a:r>
          </a:p>
          <a:p>
            <a:r>
              <a:rPr lang="en-US"/>
              <a:t>Lựa chọn này phù hợp với mục tiêu nghiên cứu ranh giới dịch vụ (service boundary) và quyền sở hữu dữ liệu (data ownership), nhưng không có nghĩa vi dịch vụ luôn tốt hơn kiến trúc nguyên khối (monolith).</a:t>
            </a:r>
          </a:p>
          <a:p>
            <a:r>
              <a:rPr lang="en-US"/>
              <a:t>Tuy nhiên, lựa chọn này tạo thêm chi phí kỹ thuật. Khi đã tách ranh giới, hệ thống phải xử lý giao tiếp giữa các dịch vụ, việc không còn một giao dịch chung, ngữ cảnh tenant và xác thực đi qua nhiều lớp, thao tác gửi lại và cập nhật gần thời gian thực. Những chi phí đó tạo thành các nhóm vấn đề phân tán mà kiến trúc QRTable phải giải quyết."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"QRTable lựa chọn kiến trúc vi dịch vụ (microservices) từ đặc điểm của bài toán nghiệp vụ, không phải từ giả định rằng mọi hệ thống đều cần được chia thành nhiều dịch vụ. Nền tảng không chỉ mở thực đơn bằng QR, mà bao phủ một luồng POS gồm thực đơn, bàn, tồn kho, phiên QR, giỏ món, đơn hàng, bếp/bar, thanh toán, tenant và quyền truy cập.</a:t>
            </a:r>
          </a:p>
          <a:p>
            <a:r>
              <a:rPr lang="en-US"/>
              <a:t/>
            </a:r>
          </a:p>
          <a:p>
            <a:r>
              <a:rPr lang="en-US"/>
              <a:t>Các nhóm nghiệp vụ có quy tắc thay đổi, nhịp vận hành và mốc xác nhận khác nhau. Nếu gom toàn bộ vào một khối nghiệp vụ chung, triển khai ban đầu có thể đơn giản hơn nhưng ranh giới trách nhiệm dễ bị mờ, làm tăng phụ thuộc giữa các phần vốn có lý do thay đổi khác nhau.</a:t>
            </a:r>
          </a:p>
          <a:p>
            <a:r>
              <a:rPr lang="en-US"/>
              <a:t/>
            </a:r>
          </a:p>
          <a:p>
            <a:r>
              <a:rPr lang="en-US"/>
              <a:t>Vì vậy, kiến trúc vi dịch vụ được chọn để tổ chức các miền nghiệp vụ thành những ranh giới triển khai và giao tiếp rõ ràng. </a:t>
            </a:r>
          </a:p>
          <a:p>
            <a:r>
              <a:rPr lang="en-US"/>
              <a:t>Lựa chọn này phù hợp với mục tiêu nghiên cứu ranh giới dịch vụ (service boundary) và quyền sở hữu dữ liệu (data ownership), nhưng không có nghĩa vi dịch vụ luôn tốt hơn kiến trúc nguyên khối (monolith).</a:t>
            </a:r>
          </a:p>
          <a:p>
            <a:r>
              <a:rPr lang="en-US"/>
              <a:t>Tuy nhiên, lựa chọn này tạo thêm chi phí kỹ thuật. Khi đã tách ranh giới, hệ thống phải xử lý giao tiếp giữa các dịch vụ, việc không còn một giao dịch chung, ngữ cảnh tenant và xác thực đi qua nhiều lớp, thao tác gửi lại và cập nhật gần thời gian thực. Những chi phí đó tạo thành các nhóm vấn đề phân tán mà kiến trúc QRTable phải giải quyết."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"QRTable lựa chọn kiến trúc vi dịch vụ (microservices) từ đặc điểm của bài toán nghiệp vụ, không phải từ giả định rằng mọi hệ thống đều cần được chia thành nhiều dịch vụ. Nền tảng không chỉ mở thực đơn bằng QR, mà bao phủ một luồng POS gồm thực đơn, bàn, tồn kho, phiên QR, giỏ món, đơn hàng, bếp/bar, thanh toán, tenant và quyền truy cập.</a:t>
            </a:r>
          </a:p>
          <a:p>
            <a:r>
              <a:rPr lang="en-US"/>
              <a:t/>
            </a:r>
          </a:p>
          <a:p>
            <a:r>
              <a:rPr lang="en-US"/>
              <a:t>Các nhóm nghiệp vụ có quy tắc thay đổi, nhịp vận hành và mốc xác nhận khác nhau. Nếu gom toàn bộ vào một khối nghiệp vụ chung, triển khai ban đầu có thể đơn giản hơn nhưng ranh giới trách nhiệm dễ bị mờ, làm tăng phụ thuộc giữa các phần vốn có lý do thay đổi khác nhau.</a:t>
            </a:r>
          </a:p>
          <a:p>
            <a:r>
              <a:rPr lang="en-US"/>
              <a:t/>
            </a:r>
          </a:p>
          <a:p>
            <a:r>
              <a:rPr lang="en-US"/>
              <a:t>Vì vậy, kiến trúc vi dịch vụ được chọn để tổ chức các miền nghiệp vụ thành những ranh giới triển khai và giao tiếp rõ ràng. </a:t>
            </a:r>
          </a:p>
          <a:p>
            <a:r>
              <a:rPr lang="en-US"/>
              <a:t>Lựa chọn này phù hợp với mục tiêu nghiên cứu ranh giới dịch vụ (service boundary) và quyền sở hữu dữ liệu (data ownership), nhưng không có nghĩa vi dịch vụ luôn tốt hơn kiến trúc nguyên khối (monolith).</a:t>
            </a:r>
          </a:p>
          <a:p>
            <a:r>
              <a:rPr lang="en-US"/>
              <a:t>Tuy nhiên, lựa chọn này tạo thêm chi phí kỹ thuật. Khi đã tách ranh giới, hệ thống phải xử lý giao tiếp giữa các dịch vụ, việc không còn một giao dịch chung, ngữ cảnh tenant và xác thực đi qua nhiều lớp, thao tác gửi lại và cập nhật gần thời gian thực. Những chi phí đó tạo thành các nhóm vấn đề phân tán mà kiến trúc QRTable phải giải quyết."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"QRTable lựa chọn kiến trúc vi dịch vụ (microservices) từ đặc điểm của bài toán nghiệp vụ, không phải từ giả định rằng mọi hệ thống đều cần được chia thành nhiều dịch vụ. Nền tảng không chỉ mở thực đơn bằng QR, mà bao phủ một luồng POS gồm thực đơn, bàn, tồn kho, phiên QR, giỏ món, đơn hàng, bếp/bar, thanh toán, tenant và quyền truy cập.</a:t>
            </a:r>
          </a:p>
          <a:p>
            <a:r>
              <a:rPr lang="en-US"/>
              <a:t/>
            </a:r>
          </a:p>
          <a:p>
            <a:r>
              <a:rPr lang="en-US"/>
              <a:t>Các nhóm nghiệp vụ có quy tắc thay đổi, nhịp vận hành và mốc xác nhận khác nhau. Nếu gom toàn bộ vào một khối nghiệp vụ chung, triển khai ban đầu có thể đơn giản hơn nhưng ranh giới trách nhiệm dễ bị mờ, làm tăng phụ thuộc giữa các phần vốn có lý do thay đổi khác nhau.</a:t>
            </a:r>
          </a:p>
          <a:p>
            <a:r>
              <a:rPr lang="en-US"/>
              <a:t/>
            </a:r>
          </a:p>
          <a:p>
            <a:r>
              <a:rPr lang="en-US"/>
              <a:t>Vì vậy, kiến trúc vi dịch vụ được chọn để tổ chức các miền nghiệp vụ thành những ranh giới triển khai và giao tiếp rõ ràng. </a:t>
            </a:r>
          </a:p>
          <a:p>
            <a:r>
              <a:rPr lang="en-US"/>
              <a:t>Lựa chọn này phù hợp với mục tiêu nghiên cứu ranh giới dịch vụ (service boundary) và quyền sở hữu dữ liệu (data ownership), nhưng không có nghĩa vi dịch vụ luôn tốt hơn kiến trúc nguyên khối (monolith).</a:t>
            </a:r>
          </a:p>
          <a:p>
            <a:r>
              <a:rPr lang="en-US"/>
              <a:t>Tuy nhiên, lựa chọn này tạo thêm chi phí kỹ thuật. Khi đã tách ranh giới, hệ thống phải xử lý giao tiếp giữa các dịch vụ, việc không còn một giao dịch chung, ngữ cảnh tenant và xác thực đi qua nhiều lớp, thao tác gửi lại và cập nhật gần thời gian thực. Những chi phí đó tạo thành các nhóm vấn đề phân tán mà kiến trúc QRTable phải giải quyết."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"Kết quả thực nghiệm của khóa luận được tổng hợp và đối chiếu khoa học theo ma trận truy vết. Thay vì liệt kê lại các chức năng, biểu đồ này đo lường mức độ bao phủ và bằng chứng kiểm thử của toàn bộ hệ thống. </a:t>
            </a:r>
          </a:p>
          <a:p>
            <a:r>
              <a:rPr lang="en-US"/>
              <a:t/>
            </a:r>
          </a:p>
          <a:p>
            <a:r>
              <a:rPr lang="en-US"/>
              <a:t>Đầu tiên, về độ bao phủ, toàn bộ các yêu cầu chức năng cốt lõi từ mức độ P0 đến P1 đã được bao phủ đầy đủ 100%. Thứ hai, về mặt số lượng kiểm thử tự động, chúng em đã thực thi thành công tổng cộng 78 bài test từ Unit Tests cho đến Integration Tests trên hạ tầng Docker thật, kết hợp với các quy tắc kiểm tra ranh giới Nx Workspace để đảm bảo tính đúng đắn ở mức kiến trúc. Thứ ba, toàn bộ các mốc thay đổi trạng thái của đơn hàng trong PostgreSQL và RAM Redis đều có sự đối chiếu vật lý chi tiết, chứng minh tính khớp dịch giữa thiết kế logic và vận hành hệ thống thực tế.</a:t>
            </a:r>
          </a:p>
          <a:p>
            <a:r>
              <a:rPr lang="en-US"/>
              <a:t/>
            </a:r>
          </a:p>
          <a:p>
            <a:r>
              <a:rPr lang="en-US"/>
              <a:t>Đối với các yêu cầu, chúng em phân loại thành ba trạng thái: Đã kiểm chứng (Covered) cho toàn bộ luồng cốt lõi, KDS và Saga; Kiểm chứng một phần (Partial) cho các luồng thanh toán và đối tượng đơn vị thuê; và Chưa đánh giá (Deferred) cho các phép đo tải trọng hoặc tiêm lỗi quy mô lớn. Cách đánh giá định lượng này giúp Hội đồng có một cái nhìn khách quan về kết quả thực tế đạt được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 Id="rId4" Target="../media/image9.png" Type="http://schemas.openxmlformats.org/officeDocument/2006/relationships/image"/><Relationship Id="rId5"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png" Type="http://schemas.openxmlformats.org/officeDocument/2006/relationships/image"/><Relationship Id="rId12" Target="../media/image8.png" Type="http://schemas.openxmlformats.org/officeDocument/2006/relationships/image"/><Relationship Id="rId13" Target="../media/image7.png" Type="http://schemas.openxmlformats.org/officeDocument/2006/relationships/image"/><Relationship Id="rId2" Target="../notesSlides/notesSlide3.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2" Target="../notesSlides/notesSlide4.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2" Target="../notesSlides/notesSlide5.xml" Type="http://schemas.openxmlformats.org/officeDocument/2006/relationships/notesSlide"/><Relationship Id="rId3" Target="../media/image7.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pn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2" Target="../notesSlides/notesSlide6.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png" Type="http://schemas.openxmlformats.org/officeDocument/2006/relationships/image"/><Relationship Id="rId12" Target="../media/image8.png" Type="http://schemas.openxmlformats.org/officeDocument/2006/relationships/image"/><Relationship Id="rId13" Target="../media/image7.png" Type="http://schemas.openxmlformats.org/officeDocument/2006/relationships/image"/><Relationship Id="rId2" Target="../notesSlides/notesSlide7.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notesSlides/notesSlide8.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notesSlides/notesSlide9.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8.png" Type="http://schemas.openxmlformats.org/officeDocument/2006/relationships/image"/><Relationship Id="rId12" Target="../media/image7.pn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png" Type="http://schemas.openxmlformats.org/officeDocument/2006/relationships/image"/><Relationship Id="rId12" Target="../media/image40.png" Type="http://schemas.openxmlformats.org/officeDocument/2006/relationships/image"/><Relationship Id="rId2" Target="../notesSlides/notesSlide11.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2" Target="../notesSlides/notesSlide12.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notesSlides/notesSlide13.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9.png" Type="http://schemas.openxmlformats.org/officeDocument/2006/relationships/image"/><Relationship Id="rId9" Target="../media/image4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png" Type="http://schemas.openxmlformats.org/officeDocument/2006/relationships/image"/><Relationship Id="rId2" Target="../notesSlides/notesSlide14.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46.pn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png" Type="http://schemas.openxmlformats.org/officeDocument/2006/relationships/image"/><Relationship Id="rId12" Target="../media/image8.png" Type="http://schemas.openxmlformats.org/officeDocument/2006/relationships/image"/><Relationship Id="rId13" Target="../media/image7.png" Type="http://schemas.openxmlformats.org/officeDocument/2006/relationships/image"/><Relationship Id="rId2" Target="../notesSlides/notesSlide15.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2" Target="../notesSlides/notesSlide16.xml" Type="http://schemas.openxmlformats.org/officeDocument/2006/relationships/notesSlide"/><Relationship Id="rId3" Target="../media/image7.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52.png" Type="http://schemas.openxmlformats.org/officeDocument/2006/relationships/image"/><Relationship Id="rId8" Target="../media/image53.png" Type="http://schemas.openxmlformats.org/officeDocument/2006/relationships/image"/><Relationship Id="rId9"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9.png" Type="http://schemas.openxmlformats.org/officeDocument/2006/relationships/image"/><Relationship Id="rId9" Target="../media/image5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7.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9.png" Type="http://schemas.openxmlformats.org/officeDocument/2006/relationships/image"/><Relationship Id="rId9"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3.png" Type="http://schemas.openxmlformats.org/officeDocument/2006/relationships/image"/><Relationship Id="rId11" Target="../media/image64.pn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65.png" Type="http://schemas.openxmlformats.org/officeDocument/2006/relationships/image"/><Relationship Id="rId15" Target="../media/image66.svg" Type="http://schemas.openxmlformats.org/officeDocument/2006/relationships/image"/><Relationship Id="rId16" Target="../media/image9.png" Type="http://schemas.openxmlformats.org/officeDocument/2006/relationships/image"/><Relationship Id="rId2" Target="../notesSlides/notesSlide20.xml" Type="http://schemas.openxmlformats.org/officeDocument/2006/relationships/notesSlide"/><Relationship Id="rId3" Target="../media/image7.pn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59.png" Type="http://schemas.openxmlformats.org/officeDocument/2006/relationships/image"/><Relationship Id="rId7" Target="../media/image60.svg" Type="http://schemas.openxmlformats.org/officeDocument/2006/relationships/image"/><Relationship Id="rId8" Target="../media/image61.png" Type="http://schemas.openxmlformats.org/officeDocument/2006/relationships/image"/><Relationship Id="rId9" Target="../media/image6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9.png" Type="http://schemas.openxmlformats.org/officeDocument/2006/relationships/image"/><Relationship Id="rId9" Target="../media/image6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2" Target="../notesSlides/notesSlide23.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png" Type="http://schemas.openxmlformats.org/officeDocument/2006/relationships/image"/><Relationship Id="rId12" Target="../media/image8.png" Type="http://schemas.openxmlformats.org/officeDocument/2006/relationships/image"/><Relationship Id="rId13" Target="../media/image7.png" Type="http://schemas.openxmlformats.org/officeDocument/2006/relationships/image"/><Relationship Id="rId2" Target="../notesSlides/notesSlide24.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9.png" Type="http://schemas.openxmlformats.org/officeDocument/2006/relationships/image"/><Relationship Id="rId2" Target="../notesSlides/notesSlide26.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png" Type="http://schemas.openxmlformats.org/officeDocument/2006/relationships/image"/><Relationship Id="rId2" Target="../notesSlides/notesSlide27.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2" Target="../notesSlides/notesSlide28.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2.png" Type="http://schemas.openxmlformats.org/officeDocument/2006/relationships/image"/><Relationship Id="rId2" Target="../notesSlides/notesSlide29.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2" Target="../notesSlides/notesSlide30.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2" Target="../notesSlides/notesSlide31.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2" Target="../notesSlides/notesSlide32.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png" Type="http://schemas.openxmlformats.org/officeDocument/2006/relationships/image"/><Relationship Id="rId2" Target="../notesSlides/notesSlide33.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7.png" Type="http://schemas.openxmlformats.org/officeDocument/2006/relationships/image"/><Relationship Id="rId11" Target="../media/image78.png" Type="http://schemas.openxmlformats.org/officeDocument/2006/relationships/image"/><Relationship Id="rId2" Target="../notesSlides/notesSlide34.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2" Target="../notesSlides/notesSlide35.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2" Target="../notesSlides/notesSlide36.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9.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2" Target="../notesSlides/notesSlide37.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 Id="rId3" Target="../media/image7.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31315">
            <a:off x="3309380" y="4303365"/>
            <a:ext cx="11864756" cy="2041866"/>
            <a:chOff x="0" y="0"/>
            <a:chExt cx="2656007" cy="457086"/>
          </a:xfrm>
        </p:grpSpPr>
        <p:sp>
          <p:nvSpPr>
            <p:cNvPr name="Freeform 3" id="3"/>
            <p:cNvSpPr/>
            <p:nvPr/>
          </p:nvSpPr>
          <p:spPr>
            <a:xfrm flipH="false" flipV="false" rot="0">
              <a:off x="0" y="0"/>
              <a:ext cx="2656007" cy="457086"/>
            </a:xfrm>
            <a:custGeom>
              <a:avLst/>
              <a:gdLst/>
              <a:ahLst/>
              <a:cxnLst/>
              <a:rect r="r" b="b" t="t" l="l"/>
              <a:pathLst>
                <a:path h="457086" w="2656007">
                  <a:moveTo>
                    <a:pt x="9135" y="0"/>
                  </a:moveTo>
                  <a:lnTo>
                    <a:pt x="2646872" y="0"/>
                  </a:lnTo>
                  <a:cubicBezTo>
                    <a:pt x="2649294" y="0"/>
                    <a:pt x="2651618" y="962"/>
                    <a:pt x="2653331" y="2676"/>
                  </a:cubicBezTo>
                  <a:cubicBezTo>
                    <a:pt x="2655044" y="4389"/>
                    <a:pt x="2656007" y="6712"/>
                    <a:pt x="2656007" y="9135"/>
                  </a:cubicBezTo>
                  <a:lnTo>
                    <a:pt x="2656007" y="447951"/>
                  </a:lnTo>
                  <a:cubicBezTo>
                    <a:pt x="2656007" y="450373"/>
                    <a:pt x="2655044" y="452697"/>
                    <a:pt x="2653331" y="454410"/>
                  </a:cubicBezTo>
                  <a:cubicBezTo>
                    <a:pt x="2651618" y="456123"/>
                    <a:pt x="2649294" y="457086"/>
                    <a:pt x="2646872" y="457086"/>
                  </a:cubicBezTo>
                  <a:lnTo>
                    <a:pt x="9135" y="457086"/>
                  </a:lnTo>
                  <a:cubicBezTo>
                    <a:pt x="6712" y="457086"/>
                    <a:pt x="4389" y="456123"/>
                    <a:pt x="2676" y="454410"/>
                  </a:cubicBezTo>
                  <a:cubicBezTo>
                    <a:pt x="962" y="452697"/>
                    <a:pt x="0" y="450373"/>
                    <a:pt x="0" y="447951"/>
                  </a:cubicBezTo>
                  <a:lnTo>
                    <a:pt x="0" y="9135"/>
                  </a:lnTo>
                  <a:cubicBezTo>
                    <a:pt x="0" y="6712"/>
                    <a:pt x="962" y="4389"/>
                    <a:pt x="2676" y="2676"/>
                  </a:cubicBezTo>
                  <a:cubicBezTo>
                    <a:pt x="4389" y="962"/>
                    <a:pt x="6712" y="0"/>
                    <a:pt x="9135" y="0"/>
                  </a:cubicBezTo>
                  <a:close/>
                </a:path>
              </a:pathLst>
            </a:custGeom>
            <a:solidFill>
              <a:srgbClr val="000101"/>
            </a:solidFill>
            <a:ln w="47625" cap="sq">
              <a:solidFill>
                <a:srgbClr val="000000"/>
              </a:solidFill>
              <a:prstDash val="solid"/>
              <a:miter/>
            </a:ln>
          </p:spPr>
        </p:sp>
        <p:sp>
          <p:nvSpPr>
            <p:cNvPr name="TextBox 4" id="4"/>
            <p:cNvSpPr txBox="true"/>
            <p:nvPr/>
          </p:nvSpPr>
          <p:spPr>
            <a:xfrm>
              <a:off x="0" y="-38100"/>
              <a:ext cx="2656007" cy="495186"/>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5" id="5"/>
          <p:cNvGrpSpPr/>
          <p:nvPr/>
        </p:nvGrpSpPr>
        <p:grpSpPr>
          <a:xfrm rot="-131315">
            <a:off x="3113864" y="4131040"/>
            <a:ext cx="11864756" cy="2041866"/>
            <a:chOff x="0" y="0"/>
            <a:chExt cx="2656007" cy="457086"/>
          </a:xfrm>
        </p:grpSpPr>
        <p:sp>
          <p:nvSpPr>
            <p:cNvPr name="Freeform 6" id="6"/>
            <p:cNvSpPr/>
            <p:nvPr/>
          </p:nvSpPr>
          <p:spPr>
            <a:xfrm flipH="false" flipV="false" rot="0">
              <a:off x="0" y="0"/>
              <a:ext cx="2656007" cy="457086"/>
            </a:xfrm>
            <a:custGeom>
              <a:avLst/>
              <a:gdLst/>
              <a:ahLst/>
              <a:cxnLst/>
              <a:rect r="r" b="b" t="t" l="l"/>
              <a:pathLst>
                <a:path h="457086" w="2656007">
                  <a:moveTo>
                    <a:pt x="9135" y="0"/>
                  </a:moveTo>
                  <a:lnTo>
                    <a:pt x="2646872" y="0"/>
                  </a:lnTo>
                  <a:cubicBezTo>
                    <a:pt x="2649294" y="0"/>
                    <a:pt x="2651618" y="962"/>
                    <a:pt x="2653331" y="2676"/>
                  </a:cubicBezTo>
                  <a:cubicBezTo>
                    <a:pt x="2655044" y="4389"/>
                    <a:pt x="2656007" y="6712"/>
                    <a:pt x="2656007" y="9135"/>
                  </a:cubicBezTo>
                  <a:lnTo>
                    <a:pt x="2656007" y="447951"/>
                  </a:lnTo>
                  <a:cubicBezTo>
                    <a:pt x="2656007" y="450373"/>
                    <a:pt x="2655044" y="452697"/>
                    <a:pt x="2653331" y="454410"/>
                  </a:cubicBezTo>
                  <a:cubicBezTo>
                    <a:pt x="2651618" y="456123"/>
                    <a:pt x="2649294" y="457086"/>
                    <a:pt x="2646872" y="457086"/>
                  </a:cubicBezTo>
                  <a:lnTo>
                    <a:pt x="9135" y="457086"/>
                  </a:lnTo>
                  <a:cubicBezTo>
                    <a:pt x="6712" y="457086"/>
                    <a:pt x="4389" y="456123"/>
                    <a:pt x="2676" y="454410"/>
                  </a:cubicBezTo>
                  <a:cubicBezTo>
                    <a:pt x="962" y="452697"/>
                    <a:pt x="0" y="450373"/>
                    <a:pt x="0" y="447951"/>
                  </a:cubicBezTo>
                  <a:lnTo>
                    <a:pt x="0" y="9135"/>
                  </a:lnTo>
                  <a:cubicBezTo>
                    <a:pt x="0" y="6712"/>
                    <a:pt x="962" y="4389"/>
                    <a:pt x="2676" y="2676"/>
                  </a:cubicBezTo>
                  <a:cubicBezTo>
                    <a:pt x="4389" y="962"/>
                    <a:pt x="6712" y="0"/>
                    <a:pt x="9135" y="0"/>
                  </a:cubicBezTo>
                  <a:close/>
                </a:path>
              </a:pathLst>
            </a:custGeom>
            <a:solidFill>
              <a:srgbClr val="22D3EE"/>
            </a:solidFill>
            <a:ln w="47625" cap="sq">
              <a:solidFill>
                <a:srgbClr val="000000"/>
              </a:solidFill>
              <a:prstDash val="solid"/>
              <a:miter/>
            </a:ln>
          </p:spPr>
        </p:sp>
        <p:sp>
          <p:nvSpPr>
            <p:cNvPr name="TextBox 7" id="7"/>
            <p:cNvSpPr txBox="true"/>
            <p:nvPr/>
          </p:nvSpPr>
          <p:spPr>
            <a:xfrm>
              <a:off x="0" y="-38100"/>
              <a:ext cx="2656007" cy="495186"/>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true" flipV="false" rot="0">
            <a:off x="13378027" y="1195729"/>
            <a:ext cx="4909973" cy="4365412"/>
          </a:xfrm>
          <a:custGeom>
            <a:avLst/>
            <a:gdLst/>
            <a:ahLst/>
            <a:cxnLst/>
            <a:rect r="r" b="b" t="t" l="l"/>
            <a:pathLst>
              <a:path h="4365412" w="4909973">
                <a:moveTo>
                  <a:pt x="4909973" y="0"/>
                </a:moveTo>
                <a:lnTo>
                  <a:pt x="0" y="0"/>
                </a:lnTo>
                <a:lnTo>
                  <a:pt x="0" y="4365412"/>
                </a:lnTo>
                <a:lnTo>
                  <a:pt x="4909973" y="4365412"/>
                </a:lnTo>
                <a:lnTo>
                  <a:pt x="4909973" y="0"/>
                </a:lnTo>
                <a:close/>
              </a:path>
            </a:pathLst>
          </a:custGeom>
          <a:blipFill>
            <a:blip r:embed="rId3">
              <a:alphaModFix amt="7999"/>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true" flipV="false" rot="0">
            <a:off x="13378027" y="1028700"/>
            <a:ext cx="4909973" cy="4365412"/>
          </a:xfrm>
          <a:custGeom>
            <a:avLst/>
            <a:gdLst/>
            <a:ahLst/>
            <a:cxnLst/>
            <a:rect r="r" b="b" t="t" l="l"/>
            <a:pathLst>
              <a:path h="4365412" w="4909973">
                <a:moveTo>
                  <a:pt x="4909973" y="0"/>
                </a:moveTo>
                <a:lnTo>
                  <a:pt x="0" y="0"/>
                </a:lnTo>
                <a:lnTo>
                  <a:pt x="0" y="4365412"/>
                </a:lnTo>
                <a:lnTo>
                  <a:pt x="4909973" y="4365412"/>
                </a:lnTo>
                <a:lnTo>
                  <a:pt x="4909973"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0" id="10"/>
          <p:cNvSpPr/>
          <p:nvPr/>
        </p:nvSpPr>
        <p:spPr>
          <a:xfrm flipH="false" flipV="false" rot="1069721">
            <a:off x="16694731" y="1535412"/>
            <a:ext cx="1057111" cy="1221452"/>
          </a:xfrm>
          <a:custGeom>
            <a:avLst/>
            <a:gdLst/>
            <a:ahLst/>
            <a:cxnLst/>
            <a:rect r="r" b="b" t="t" l="l"/>
            <a:pathLst>
              <a:path h="1221452" w="1057111">
                <a:moveTo>
                  <a:pt x="0" y="0"/>
                </a:moveTo>
                <a:lnTo>
                  <a:pt x="1057111" y="0"/>
                </a:lnTo>
                <a:lnTo>
                  <a:pt x="1057111" y="1221452"/>
                </a:lnTo>
                <a:lnTo>
                  <a:pt x="0" y="12214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1069721">
            <a:off x="13585112" y="5297375"/>
            <a:ext cx="846769" cy="978410"/>
          </a:xfrm>
          <a:custGeom>
            <a:avLst/>
            <a:gdLst/>
            <a:ahLst/>
            <a:cxnLst/>
            <a:rect r="r" b="b" t="t" l="l"/>
            <a:pathLst>
              <a:path h="978410" w="846769">
                <a:moveTo>
                  <a:pt x="0" y="0"/>
                </a:moveTo>
                <a:lnTo>
                  <a:pt x="846769" y="0"/>
                </a:lnTo>
                <a:lnTo>
                  <a:pt x="846769" y="978410"/>
                </a:lnTo>
                <a:lnTo>
                  <a:pt x="0" y="9784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9"/>
            <a:stretch>
              <a:fillRect l="0" t="0" r="0" b="0"/>
            </a:stretch>
          </a:blipFill>
        </p:spPr>
      </p:sp>
      <p:grpSp>
        <p:nvGrpSpPr>
          <p:cNvPr name="Group 13" id="13"/>
          <p:cNvGrpSpPr/>
          <p:nvPr/>
        </p:nvGrpSpPr>
        <p:grpSpPr>
          <a:xfrm rot="-131315">
            <a:off x="10617774" y="5993552"/>
            <a:ext cx="6503584" cy="634510"/>
            <a:chOff x="0" y="0"/>
            <a:chExt cx="4685025" cy="457086"/>
          </a:xfrm>
        </p:grpSpPr>
        <p:sp>
          <p:nvSpPr>
            <p:cNvPr name="Freeform 14" id="14"/>
            <p:cNvSpPr/>
            <p:nvPr/>
          </p:nvSpPr>
          <p:spPr>
            <a:xfrm flipH="false" flipV="false" rot="0">
              <a:off x="0" y="0"/>
              <a:ext cx="4685025" cy="457086"/>
            </a:xfrm>
            <a:custGeom>
              <a:avLst/>
              <a:gdLst/>
              <a:ahLst/>
              <a:cxnLst/>
              <a:rect r="r" b="b" t="t" l="l"/>
              <a:pathLst>
                <a:path h="457086" w="4685025">
                  <a:moveTo>
                    <a:pt x="16666" y="0"/>
                  </a:moveTo>
                  <a:lnTo>
                    <a:pt x="4668360" y="0"/>
                  </a:lnTo>
                  <a:cubicBezTo>
                    <a:pt x="4672780" y="0"/>
                    <a:pt x="4677018" y="1756"/>
                    <a:pt x="4680144" y="4881"/>
                  </a:cubicBezTo>
                  <a:cubicBezTo>
                    <a:pt x="4683270" y="8007"/>
                    <a:pt x="4685025" y="12246"/>
                    <a:pt x="4685025" y="16666"/>
                  </a:cubicBezTo>
                  <a:lnTo>
                    <a:pt x="4685025" y="440420"/>
                  </a:lnTo>
                  <a:cubicBezTo>
                    <a:pt x="4685025" y="449624"/>
                    <a:pt x="4677564" y="457086"/>
                    <a:pt x="4668360" y="457086"/>
                  </a:cubicBezTo>
                  <a:lnTo>
                    <a:pt x="16666" y="457086"/>
                  </a:lnTo>
                  <a:cubicBezTo>
                    <a:pt x="7461" y="457086"/>
                    <a:pt x="0" y="449624"/>
                    <a:pt x="0" y="440420"/>
                  </a:cubicBezTo>
                  <a:lnTo>
                    <a:pt x="0" y="16666"/>
                  </a:lnTo>
                  <a:cubicBezTo>
                    <a:pt x="0" y="7461"/>
                    <a:pt x="7461" y="0"/>
                    <a:pt x="16666" y="0"/>
                  </a:cubicBezTo>
                  <a:close/>
                </a:path>
              </a:pathLst>
            </a:custGeom>
            <a:solidFill>
              <a:srgbClr val="000101"/>
            </a:solidFill>
            <a:ln w="47625" cap="sq">
              <a:solidFill>
                <a:srgbClr val="000000"/>
              </a:solidFill>
              <a:prstDash val="solid"/>
              <a:miter/>
            </a:ln>
          </p:spPr>
        </p:sp>
        <p:sp>
          <p:nvSpPr>
            <p:cNvPr name="TextBox 15" id="15"/>
            <p:cNvSpPr txBox="true"/>
            <p:nvPr/>
          </p:nvSpPr>
          <p:spPr>
            <a:xfrm>
              <a:off x="0" y="-38100"/>
              <a:ext cx="4685025" cy="495186"/>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6" id="16"/>
          <p:cNvGrpSpPr/>
          <p:nvPr/>
        </p:nvGrpSpPr>
        <p:grpSpPr>
          <a:xfrm rot="-131315">
            <a:off x="10617774" y="5938400"/>
            <a:ext cx="6503584" cy="634510"/>
            <a:chOff x="0" y="0"/>
            <a:chExt cx="4685025" cy="457086"/>
          </a:xfrm>
        </p:grpSpPr>
        <p:sp>
          <p:nvSpPr>
            <p:cNvPr name="Freeform 17" id="17"/>
            <p:cNvSpPr/>
            <p:nvPr/>
          </p:nvSpPr>
          <p:spPr>
            <a:xfrm flipH="false" flipV="false" rot="0">
              <a:off x="0" y="0"/>
              <a:ext cx="4685025" cy="457086"/>
            </a:xfrm>
            <a:custGeom>
              <a:avLst/>
              <a:gdLst/>
              <a:ahLst/>
              <a:cxnLst/>
              <a:rect r="r" b="b" t="t" l="l"/>
              <a:pathLst>
                <a:path h="457086" w="4685025">
                  <a:moveTo>
                    <a:pt x="16666" y="0"/>
                  </a:moveTo>
                  <a:lnTo>
                    <a:pt x="4668360" y="0"/>
                  </a:lnTo>
                  <a:cubicBezTo>
                    <a:pt x="4672780" y="0"/>
                    <a:pt x="4677018" y="1756"/>
                    <a:pt x="4680144" y="4881"/>
                  </a:cubicBezTo>
                  <a:cubicBezTo>
                    <a:pt x="4683270" y="8007"/>
                    <a:pt x="4685025" y="12246"/>
                    <a:pt x="4685025" y="16666"/>
                  </a:cubicBezTo>
                  <a:lnTo>
                    <a:pt x="4685025" y="440420"/>
                  </a:lnTo>
                  <a:cubicBezTo>
                    <a:pt x="4685025" y="449624"/>
                    <a:pt x="4677564" y="457086"/>
                    <a:pt x="4668360" y="457086"/>
                  </a:cubicBezTo>
                  <a:lnTo>
                    <a:pt x="16666" y="457086"/>
                  </a:lnTo>
                  <a:cubicBezTo>
                    <a:pt x="7461" y="457086"/>
                    <a:pt x="0" y="449624"/>
                    <a:pt x="0" y="440420"/>
                  </a:cubicBezTo>
                  <a:lnTo>
                    <a:pt x="0" y="16666"/>
                  </a:lnTo>
                  <a:cubicBezTo>
                    <a:pt x="0" y="7461"/>
                    <a:pt x="7461" y="0"/>
                    <a:pt x="16666" y="0"/>
                  </a:cubicBezTo>
                  <a:close/>
                </a:path>
              </a:pathLst>
            </a:custGeom>
            <a:solidFill>
              <a:srgbClr val="FFFFFF"/>
            </a:solidFill>
            <a:ln w="47625" cap="sq">
              <a:solidFill>
                <a:srgbClr val="000000"/>
              </a:solidFill>
              <a:prstDash val="solid"/>
              <a:miter/>
            </a:ln>
          </p:spPr>
        </p:sp>
        <p:sp>
          <p:nvSpPr>
            <p:cNvPr name="TextBox 18" id="18"/>
            <p:cNvSpPr txBox="true"/>
            <p:nvPr/>
          </p:nvSpPr>
          <p:spPr>
            <a:xfrm>
              <a:off x="0" y="-38100"/>
              <a:ext cx="4685025" cy="495186"/>
            </a:xfrm>
            <a:prstGeom prst="rect">
              <a:avLst/>
            </a:prstGeom>
          </p:spPr>
          <p:txBody>
            <a:bodyPr anchor="ctr" rtlCol="false" tIns="50800" lIns="50800" bIns="50800" rIns="50800"/>
            <a:lstStyle/>
            <a:p>
              <a:pPr algn="ctr">
                <a:lnSpc>
                  <a:spcPts val="2800"/>
                </a:lnSpc>
              </a:pPr>
            </a:p>
          </p:txBody>
        </p:sp>
      </p:grpSp>
      <p:sp>
        <p:nvSpPr>
          <p:cNvPr name="Freeform 19" id="19"/>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0"/>
            <a:stretch>
              <a:fillRect l="-209" t="0" r="-209" b="0"/>
            </a:stretch>
          </a:blipFill>
        </p:spPr>
      </p:sp>
      <p:sp>
        <p:nvSpPr>
          <p:cNvPr name="Freeform 20" id="20"/>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sp>
        <p:nvSpPr>
          <p:cNvPr name="TextBox 21" id="21"/>
          <p:cNvSpPr txBox="true"/>
          <p:nvPr/>
        </p:nvSpPr>
        <p:spPr>
          <a:xfrm rot="0">
            <a:off x="2929269" y="2398172"/>
            <a:ext cx="12615482" cy="1193801"/>
          </a:xfrm>
          <a:prstGeom prst="rect">
            <a:avLst/>
          </a:prstGeom>
        </p:spPr>
        <p:txBody>
          <a:bodyPr anchor="t" rtlCol="false" tIns="0" lIns="0" bIns="0" rIns="0">
            <a:spAutoFit/>
          </a:bodyPr>
          <a:lstStyle/>
          <a:p>
            <a:pPr algn="ctr">
              <a:lnSpc>
                <a:spcPts val="9799"/>
              </a:lnSpc>
            </a:pPr>
            <a:r>
              <a:rPr lang="en-US" b="true" sz="6999" spc="-258">
                <a:solidFill>
                  <a:srgbClr val="000101"/>
                </a:solidFill>
                <a:latin typeface="Montserrat Ultra-Bold"/>
                <a:ea typeface="Montserrat Ultra-Bold"/>
                <a:cs typeface="Montserrat Ultra-Bold"/>
                <a:sym typeface="Montserrat Ultra-Bold"/>
              </a:rPr>
              <a:t>KHÓA LUẬN TỐT NGHIỆP</a:t>
            </a:r>
          </a:p>
        </p:txBody>
      </p:sp>
      <p:sp>
        <p:nvSpPr>
          <p:cNvPr name="TextBox 22" id="22"/>
          <p:cNvSpPr txBox="true"/>
          <p:nvPr/>
        </p:nvSpPr>
        <p:spPr>
          <a:xfrm rot="-131315">
            <a:off x="3638492" y="4240119"/>
            <a:ext cx="10812955" cy="1780540"/>
          </a:xfrm>
          <a:prstGeom prst="rect">
            <a:avLst/>
          </a:prstGeom>
        </p:spPr>
        <p:txBody>
          <a:bodyPr anchor="t" rtlCol="false" tIns="0" lIns="0" bIns="0" rIns="0">
            <a:spAutoFit/>
          </a:bodyPr>
          <a:lstStyle/>
          <a:p>
            <a:pPr algn="ctr">
              <a:lnSpc>
                <a:spcPts val="4759"/>
              </a:lnSpc>
            </a:pPr>
            <a:r>
              <a:rPr lang="en-US" b="true" sz="3399" spc="-125">
                <a:solidFill>
                  <a:srgbClr val="000101"/>
                </a:solidFill>
                <a:latin typeface="Montserrat Ultra-Bold"/>
                <a:ea typeface="Montserrat Ultra-Bold"/>
                <a:cs typeface="Montserrat Ultra-Bold"/>
                <a:sym typeface="Montserrat Ultra-Bold"/>
              </a:rPr>
              <a:t>NGHIÊN CỨU VÀ XÂY DỰNG NỀN TẢNG POS</a:t>
            </a:r>
          </a:p>
          <a:p>
            <a:pPr algn="ctr">
              <a:lnSpc>
                <a:spcPts val="4759"/>
              </a:lnSpc>
            </a:pPr>
            <a:r>
              <a:rPr lang="en-US" b="true" sz="3399" spc="-125">
                <a:solidFill>
                  <a:srgbClr val="000101"/>
                </a:solidFill>
                <a:latin typeface="Montserrat Ultra-Bold"/>
                <a:ea typeface="Montserrat Ultra-Bold"/>
                <a:cs typeface="Montserrat Ultra-Bold"/>
                <a:sym typeface="Montserrat Ultra-Bold"/>
              </a:rPr>
              <a:t>THEO MÔ HÌNH </a:t>
            </a:r>
            <a:r>
              <a:rPr lang="en-US" b="true" sz="3399" spc="-125">
                <a:solidFill>
                  <a:srgbClr val="FFFFFF"/>
                </a:solidFill>
                <a:latin typeface="Montserrat Ultra-Bold"/>
                <a:ea typeface="Montserrat Ultra-Bold"/>
                <a:cs typeface="Montserrat Ultra-Bold"/>
                <a:sym typeface="Montserrat Ultra-Bold"/>
              </a:rPr>
              <a:t>SAAS</a:t>
            </a:r>
            <a:r>
              <a:rPr lang="en-US" b="true" sz="3399" spc="-125">
                <a:solidFill>
                  <a:srgbClr val="000101"/>
                </a:solidFill>
                <a:latin typeface="Montserrat Ultra-Bold"/>
                <a:ea typeface="Montserrat Ultra-Bold"/>
                <a:cs typeface="Montserrat Ultra-Bold"/>
                <a:sym typeface="Montserrat Ultra-Bold"/>
              </a:rPr>
              <a:t> TÍCH HỢP ĐẶT MÓN QUA</a:t>
            </a:r>
          </a:p>
          <a:p>
            <a:pPr algn="ctr">
              <a:lnSpc>
                <a:spcPts val="4759"/>
              </a:lnSpc>
            </a:pPr>
            <a:r>
              <a:rPr lang="en-US" b="true" sz="3399" spc="-125">
                <a:solidFill>
                  <a:srgbClr val="FFFFFF"/>
                </a:solidFill>
                <a:latin typeface="Montserrat Ultra-Bold"/>
                <a:ea typeface="Montserrat Ultra-Bold"/>
                <a:cs typeface="Montserrat Ultra-Bold"/>
                <a:sym typeface="Montserrat Ultra-Bold"/>
              </a:rPr>
              <a:t>MÃ QR</a:t>
            </a:r>
            <a:r>
              <a:rPr lang="en-US" b="true" sz="3399" spc="-125">
                <a:solidFill>
                  <a:srgbClr val="000101"/>
                </a:solidFill>
                <a:latin typeface="Montserrat Ultra-Bold"/>
                <a:ea typeface="Montserrat Ultra-Bold"/>
                <a:cs typeface="Montserrat Ultra-Bold"/>
                <a:sym typeface="Montserrat Ultra-Bold"/>
              </a:rPr>
              <a:t> DỰA TRÊN KIẾN TRÚC </a:t>
            </a:r>
            <a:r>
              <a:rPr lang="en-US" b="true" sz="3399" spc="-125">
                <a:solidFill>
                  <a:srgbClr val="FFFFFF"/>
                </a:solidFill>
                <a:latin typeface="Montserrat Ultra-Bold"/>
                <a:ea typeface="Montserrat Ultra-Bold"/>
                <a:cs typeface="Montserrat Ultra-Bold"/>
                <a:sym typeface="Montserrat Ultra-Bold"/>
              </a:rPr>
              <a:t>MICROSERVICES</a:t>
            </a:r>
          </a:p>
        </p:txBody>
      </p:sp>
      <p:sp>
        <p:nvSpPr>
          <p:cNvPr name="TextBox 23" id="23"/>
          <p:cNvSpPr txBox="true"/>
          <p:nvPr/>
        </p:nvSpPr>
        <p:spPr>
          <a:xfrm rot="0">
            <a:off x="333018" y="8420942"/>
            <a:ext cx="5193072" cy="471805"/>
          </a:xfrm>
          <a:prstGeom prst="rect">
            <a:avLst/>
          </a:prstGeom>
        </p:spPr>
        <p:txBody>
          <a:bodyPr anchor="t" rtlCol="false" tIns="0" lIns="0" bIns="0" rIns="0">
            <a:spAutoFit/>
          </a:bodyPr>
          <a:lstStyle/>
          <a:p>
            <a:pPr algn="l">
              <a:lnSpc>
                <a:spcPts val="3919"/>
              </a:lnSpc>
            </a:pPr>
            <a:r>
              <a:rPr lang="en-US" sz="2799" spc="-103">
                <a:solidFill>
                  <a:srgbClr val="000101"/>
                </a:solidFill>
                <a:latin typeface="Montserrat"/>
                <a:ea typeface="Montserrat"/>
                <a:cs typeface="Montserrat"/>
                <a:sym typeface="Montserrat"/>
              </a:rPr>
              <a:t>Võ Đình Minh Quân - 22521193</a:t>
            </a:r>
          </a:p>
        </p:txBody>
      </p:sp>
      <p:sp>
        <p:nvSpPr>
          <p:cNvPr name="TextBox 24" id="24"/>
          <p:cNvSpPr txBox="true"/>
          <p:nvPr/>
        </p:nvSpPr>
        <p:spPr>
          <a:xfrm rot="0">
            <a:off x="333018" y="9027334"/>
            <a:ext cx="5193072" cy="471805"/>
          </a:xfrm>
          <a:prstGeom prst="rect">
            <a:avLst/>
          </a:prstGeom>
        </p:spPr>
        <p:txBody>
          <a:bodyPr anchor="t" rtlCol="false" tIns="0" lIns="0" bIns="0" rIns="0">
            <a:spAutoFit/>
          </a:bodyPr>
          <a:lstStyle/>
          <a:p>
            <a:pPr algn="l">
              <a:lnSpc>
                <a:spcPts val="3919"/>
              </a:lnSpc>
            </a:pPr>
            <a:r>
              <a:rPr lang="en-US" sz="2799" spc="-103">
                <a:solidFill>
                  <a:srgbClr val="000101"/>
                </a:solidFill>
                <a:latin typeface="Montserrat"/>
                <a:ea typeface="Montserrat"/>
                <a:cs typeface="Montserrat"/>
                <a:sym typeface="Montserrat"/>
              </a:rPr>
              <a:t>GVHD: TS. Nguyễn Thanh Bình</a:t>
            </a:r>
          </a:p>
        </p:txBody>
      </p:sp>
      <p:sp>
        <p:nvSpPr>
          <p:cNvPr name="TextBox 25" id="25"/>
          <p:cNvSpPr txBox="true"/>
          <p:nvPr/>
        </p:nvSpPr>
        <p:spPr>
          <a:xfrm rot="0">
            <a:off x="1158660"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6" id="26"/>
          <p:cNvSpPr txBox="true"/>
          <p:nvPr/>
        </p:nvSpPr>
        <p:spPr>
          <a:xfrm rot="-131315">
            <a:off x="10731828" y="5913949"/>
            <a:ext cx="7808001" cy="571790"/>
          </a:xfrm>
          <a:prstGeom prst="rect">
            <a:avLst/>
          </a:prstGeom>
        </p:spPr>
        <p:txBody>
          <a:bodyPr anchor="t" rtlCol="false" tIns="0" lIns="0" bIns="0" rIns="0">
            <a:spAutoFit/>
          </a:bodyPr>
          <a:lstStyle/>
          <a:p>
            <a:pPr algn="l">
              <a:lnSpc>
                <a:spcPts val="4709"/>
              </a:lnSpc>
            </a:pPr>
            <a:r>
              <a:rPr lang="en-US" b="true" sz="3363" spc="-124">
                <a:solidFill>
                  <a:srgbClr val="000101"/>
                </a:solidFill>
                <a:latin typeface="Montserrat Semi-Bold"/>
                <a:ea typeface="Montserrat Semi-Bold"/>
                <a:cs typeface="Montserrat Semi-Bold"/>
                <a:sym typeface="Montserrat Semi-Bold"/>
              </a:rPr>
              <a:t>KHOA HỆ THỐNG THÔNG TIN</a:t>
            </a:r>
          </a:p>
        </p:txBody>
      </p:sp>
      <p:sp>
        <p:nvSpPr>
          <p:cNvPr name="TextBox 27" id="27"/>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0">
            <a:off x="509513" y="2340980"/>
            <a:ext cx="3171742" cy="6917320"/>
            <a:chOff x="0" y="0"/>
            <a:chExt cx="835356" cy="1821846"/>
          </a:xfrm>
        </p:grpSpPr>
        <p:sp>
          <p:nvSpPr>
            <p:cNvPr name="Freeform 3" id="3"/>
            <p:cNvSpPr/>
            <p:nvPr/>
          </p:nvSpPr>
          <p:spPr>
            <a:xfrm flipH="false" flipV="false" rot="0">
              <a:off x="0" y="0"/>
              <a:ext cx="835356" cy="1821846"/>
            </a:xfrm>
            <a:custGeom>
              <a:avLst/>
              <a:gdLst/>
              <a:ahLst/>
              <a:cxnLst/>
              <a:rect r="r" b="b" t="t" l="l"/>
              <a:pathLst>
                <a:path h="1821846" w="835356">
                  <a:moveTo>
                    <a:pt x="36614" y="0"/>
                  </a:moveTo>
                  <a:lnTo>
                    <a:pt x="798742" y="0"/>
                  </a:lnTo>
                  <a:cubicBezTo>
                    <a:pt x="818964" y="0"/>
                    <a:pt x="835356" y="16392"/>
                    <a:pt x="835356" y="36614"/>
                  </a:cubicBezTo>
                  <a:lnTo>
                    <a:pt x="835356" y="1785232"/>
                  </a:lnTo>
                  <a:cubicBezTo>
                    <a:pt x="835356" y="1794943"/>
                    <a:pt x="831498" y="1804255"/>
                    <a:pt x="824632" y="1811122"/>
                  </a:cubicBezTo>
                  <a:cubicBezTo>
                    <a:pt x="817766" y="1817988"/>
                    <a:pt x="808453" y="1821846"/>
                    <a:pt x="798742" y="1821846"/>
                  </a:cubicBezTo>
                  <a:lnTo>
                    <a:pt x="36614" y="1821846"/>
                  </a:lnTo>
                  <a:cubicBezTo>
                    <a:pt x="16392" y="1821846"/>
                    <a:pt x="0" y="1805453"/>
                    <a:pt x="0" y="1785232"/>
                  </a:cubicBezTo>
                  <a:lnTo>
                    <a:pt x="0" y="36614"/>
                  </a:lnTo>
                  <a:cubicBezTo>
                    <a:pt x="0" y="26903"/>
                    <a:pt x="3857" y="17590"/>
                    <a:pt x="10724" y="10724"/>
                  </a:cubicBezTo>
                  <a:cubicBezTo>
                    <a:pt x="17590" y="3857"/>
                    <a:pt x="26903" y="0"/>
                    <a:pt x="36614" y="0"/>
                  </a:cubicBezTo>
                  <a:close/>
                </a:path>
              </a:pathLst>
            </a:custGeom>
            <a:solidFill>
              <a:srgbClr val="22D3EE"/>
            </a:solidFill>
          </p:spPr>
        </p:sp>
        <p:sp>
          <p:nvSpPr>
            <p:cNvPr name="TextBox 4" id="4"/>
            <p:cNvSpPr txBox="true"/>
            <p:nvPr/>
          </p:nvSpPr>
          <p:spPr>
            <a:xfrm>
              <a:off x="0" y="-47625"/>
              <a:ext cx="835356" cy="1869471"/>
            </a:xfrm>
            <a:prstGeom prst="rect">
              <a:avLst/>
            </a:prstGeom>
          </p:spPr>
          <p:txBody>
            <a:bodyPr anchor="ctr" rtlCol="false" tIns="50800" lIns="50800" bIns="50800" rIns="50800"/>
            <a:lstStyle/>
            <a:p>
              <a:pPr algn="ctr">
                <a:lnSpc>
                  <a:spcPts val="3500"/>
                </a:lnSpc>
              </a:pPr>
            </a:p>
          </p:txBody>
        </p:sp>
      </p:grpSp>
      <p:sp>
        <p:nvSpPr>
          <p:cNvPr name="TextBox 5" id="5"/>
          <p:cNvSpPr txBox="true"/>
          <p:nvPr/>
        </p:nvSpPr>
        <p:spPr>
          <a:xfrm rot="0">
            <a:off x="639502" y="3421414"/>
            <a:ext cx="2888525" cy="21748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101"/>
                </a:solidFill>
                <a:latin typeface="Montserrat Bold"/>
                <a:ea typeface="Montserrat Bold"/>
                <a:cs typeface="Montserrat Bold"/>
                <a:sym typeface="Montserrat Bold"/>
              </a:rPr>
              <a:t>BÀI TOÁN POS THEO MÔ HÌNH SAAS </a:t>
            </a:r>
            <a:r>
              <a:rPr lang="en-US" b="true" sz="2500" spc="-92" strike="noStrike" u="none">
                <a:solidFill>
                  <a:srgbClr val="000101"/>
                </a:solidFill>
                <a:latin typeface="Montserrat Bold"/>
                <a:ea typeface="Montserrat Bold"/>
                <a:cs typeface="Montserrat Bold"/>
                <a:sym typeface="Montserrat Bold"/>
              </a:rPr>
              <a:t>TÍCH HỢP ĐẶT MÓN QUA QR</a:t>
            </a:r>
          </a:p>
          <a:p>
            <a:pPr algn="ctr">
              <a:lnSpc>
                <a:spcPts val="3500"/>
              </a:lnSpc>
              <a:spcBef>
                <a:spcPct val="0"/>
              </a:spcBef>
            </a:pPr>
          </a:p>
        </p:txBody>
      </p:sp>
      <p:sp>
        <p:nvSpPr>
          <p:cNvPr name="TextBox 6" id="6"/>
          <p:cNvSpPr txBox="true"/>
          <p:nvPr/>
        </p:nvSpPr>
        <p:spPr>
          <a:xfrm rot="0">
            <a:off x="3383898" y="1095375"/>
            <a:ext cx="11518725" cy="1053808"/>
          </a:xfrm>
          <a:prstGeom prst="rect">
            <a:avLst/>
          </a:prstGeom>
        </p:spPr>
        <p:txBody>
          <a:bodyPr anchor="t" rtlCol="false" tIns="0" lIns="0" bIns="0" rIns="0">
            <a:spAutoFit/>
          </a:bodyPr>
          <a:lstStyle/>
          <a:p>
            <a:pPr algn="ctr" marL="0" indent="0" lvl="0">
              <a:lnSpc>
                <a:spcPts val="8129"/>
              </a:lnSpc>
            </a:pPr>
            <a:r>
              <a:rPr lang="en-US" b="true" sz="7390" spc="-273">
                <a:solidFill>
                  <a:srgbClr val="000101"/>
                </a:solidFill>
                <a:latin typeface="Montserrat Ultra-Bold"/>
                <a:ea typeface="Montserrat Ultra-Bold"/>
                <a:cs typeface="Montserrat Ultra-Bold"/>
                <a:sym typeface="Montserrat Ultra-Bold"/>
              </a:rPr>
              <a:t>NỘI DUNG TRÌNH BÀY</a:t>
            </a:r>
          </a:p>
        </p:txBody>
      </p:sp>
      <p:sp>
        <p:nvSpPr>
          <p:cNvPr name="TextBox 7" id="7"/>
          <p:cNvSpPr txBox="true"/>
          <p:nvPr/>
        </p:nvSpPr>
        <p:spPr>
          <a:xfrm rot="0">
            <a:off x="947836" y="2684814"/>
            <a:ext cx="2271857" cy="784225"/>
          </a:xfrm>
          <a:prstGeom prst="rect">
            <a:avLst/>
          </a:prstGeom>
        </p:spPr>
        <p:txBody>
          <a:bodyPr anchor="t" rtlCol="false" tIns="0" lIns="0" bIns="0" rIns="0">
            <a:spAutoFit/>
          </a:bodyPr>
          <a:lstStyle/>
          <a:p>
            <a:pPr algn="ctr" marL="0" indent="0" lvl="0">
              <a:lnSpc>
                <a:spcPts val="6049"/>
              </a:lnSpc>
            </a:pPr>
            <a:r>
              <a:rPr lang="en-US" sz="5499" spc="-203">
                <a:solidFill>
                  <a:srgbClr val="000101"/>
                </a:solidFill>
                <a:latin typeface="Montserrat"/>
                <a:ea typeface="Montserrat"/>
                <a:cs typeface="Montserrat"/>
                <a:sym typeface="Montserrat"/>
              </a:rPr>
              <a:t>01</a:t>
            </a:r>
          </a:p>
        </p:txBody>
      </p:sp>
      <p:sp>
        <p:nvSpPr>
          <p:cNvPr name="TextBox 8" id="8"/>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Freeform 9" id="9"/>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10" id="10"/>
          <p:cNvSpPr/>
          <p:nvPr/>
        </p:nvSpPr>
        <p:spPr>
          <a:xfrm flipH="false" flipV="false" rot="-762504">
            <a:off x="13839736" y="9464108"/>
            <a:ext cx="2410664" cy="4845555"/>
          </a:xfrm>
          <a:custGeom>
            <a:avLst/>
            <a:gdLst/>
            <a:ahLst/>
            <a:cxnLst/>
            <a:rect r="r" b="b" t="t" l="l"/>
            <a:pathLst>
              <a:path h="4845555" w="2410664">
                <a:moveTo>
                  <a:pt x="0" y="0"/>
                </a:moveTo>
                <a:lnTo>
                  <a:pt x="2410663" y="0"/>
                </a:lnTo>
                <a:lnTo>
                  <a:pt x="2410663" y="4845555"/>
                </a:lnTo>
                <a:lnTo>
                  <a:pt x="0" y="4845555"/>
                </a:lnTo>
                <a:lnTo>
                  <a:pt x="0" y="0"/>
                </a:lnTo>
                <a:close/>
              </a:path>
            </a:pathLst>
          </a:custGeom>
          <a:blipFill>
            <a:blip r:embed="rId4"/>
            <a:stretch>
              <a:fillRect l="0" t="0" r="0" b="0"/>
            </a:stretch>
          </a:blipFill>
        </p:spPr>
      </p:sp>
      <p:sp>
        <p:nvSpPr>
          <p:cNvPr name="Freeform 11" id="11"/>
          <p:cNvSpPr/>
          <p:nvPr/>
        </p:nvSpPr>
        <p:spPr>
          <a:xfrm flipH="false" flipV="false" rot="-666000">
            <a:off x="15877977" y="9053053"/>
            <a:ext cx="2762645" cy="2739097"/>
          </a:xfrm>
          <a:custGeom>
            <a:avLst/>
            <a:gdLst/>
            <a:ahLst/>
            <a:cxnLst/>
            <a:rect r="r" b="b" t="t" l="l"/>
            <a:pathLst>
              <a:path h="2739097" w="2762645">
                <a:moveTo>
                  <a:pt x="448308" y="0"/>
                </a:moveTo>
                <a:lnTo>
                  <a:pt x="2762646" y="454055"/>
                </a:lnTo>
                <a:lnTo>
                  <a:pt x="2314338" y="2739098"/>
                </a:lnTo>
                <a:lnTo>
                  <a:pt x="0" y="2285043"/>
                </a:lnTo>
                <a:lnTo>
                  <a:pt x="448308" y="0"/>
                </a:lnTo>
                <a:close/>
              </a:path>
            </a:pathLst>
          </a:custGeom>
          <a:blipFill>
            <a:blip r:embed="rId5"/>
            <a:stretch>
              <a:fillRect l="-209" t="0" r="-209" b="0"/>
            </a:stretch>
          </a:blipFill>
        </p:spPr>
      </p:sp>
      <p:sp>
        <p:nvSpPr>
          <p:cNvPr name="TextBox 12" id="12"/>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a:t>
            </a:r>
          </a:p>
        </p:txBody>
      </p:sp>
      <p:grpSp>
        <p:nvGrpSpPr>
          <p:cNvPr name="Group 13" id="13"/>
          <p:cNvGrpSpPr/>
          <p:nvPr/>
        </p:nvGrpSpPr>
        <p:grpSpPr>
          <a:xfrm rot="0">
            <a:off x="4034242" y="2340980"/>
            <a:ext cx="3171742" cy="6917320"/>
            <a:chOff x="0" y="0"/>
            <a:chExt cx="835356" cy="1821846"/>
          </a:xfrm>
        </p:grpSpPr>
        <p:sp>
          <p:nvSpPr>
            <p:cNvPr name="Freeform 14" id="14"/>
            <p:cNvSpPr/>
            <p:nvPr/>
          </p:nvSpPr>
          <p:spPr>
            <a:xfrm flipH="false" flipV="false" rot="0">
              <a:off x="0" y="0"/>
              <a:ext cx="835356" cy="1821846"/>
            </a:xfrm>
            <a:custGeom>
              <a:avLst/>
              <a:gdLst/>
              <a:ahLst/>
              <a:cxnLst/>
              <a:rect r="r" b="b" t="t" l="l"/>
              <a:pathLst>
                <a:path h="1821846" w="835356">
                  <a:moveTo>
                    <a:pt x="36614" y="0"/>
                  </a:moveTo>
                  <a:lnTo>
                    <a:pt x="798742" y="0"/>
                  </a:lnTo>
                  <a:cubicBezTo>
                    <a:pt x="818964" y="0"/>
                    <a:pt x="835356" y="16392"/>
                    <a:pt x="835356" y="36614"/>
                  </a:cubicBezTo>
                  <a:lnTo>
                    <a:pt x="835356" y="1785232"/>
                  </a:lnTo>
                  <a:cubicBezTo>
                    <a:pt x="835356" y="1794943"/>
                    <a:pt x="831498" y="1804255"/>
                    <a:pt x="824632" y="1811122"/>
                  </a:cubicBezTo>
                  <a:cubicBezTo>
                    <a:pt x="817766" y="1817988"/>
                    <a:pt x="808453" y="1821846"/>
                    <a:pt x="798742" y="1821846"/>
                  </a:cubicBezTo>
                  <a:lnTo>
                    <a:pt x="36614" y="1821846"/>
                  </a:lnTo>
                  <a:cubicBezTo>
                    <a:pt x="16392" y="1821846"/>
                    <a:pt x="0" y="1805453"/>
                    <a:pt x="0" y="1785232"/>
                  </a:cubicBezTo>
                  <a:lnTo>
                    <a:pt x="0" y="36614"/>
                  </a:lnTo>
                  <a:cubicBezTo>
                    <a:pt x="0" y="26903"/>
                    <a:pt x="3857" y="17590"/>
                    <a:pt x="10724" y="10724"/>
                  </a:cubicBezTo>
                  <a:cubicBezTo>
                    <a:pt x="17590" y="3857"/>
                    <a:pt x="26903" y="0"/>
                    <a:pt x="36614" y="0"/>
                  </a:cubicBezTo>
                  <a:close/>
                </a:path>
              </a:pathLst>
            </a:custGeom>
            <a:solidFill>
              <a:srgbClr val="22D3EE"/>
            </a:solidFill>
          </p:spPr>
        </p:sp>
        <p:sp>
          <p:nvSpPr>
            <p:cNvPr name="TextBox 15" id="15"/>
            <p:cNvSpPr txBox="true"/>
            <p:nvPr/>
          </p:nvSpPr>
          <p:spPr>
            <a:xfrm>
              <a:off x="0" y="-47625"/>
              <a:ext cx="835356" cy="1869471"/>
            </a:xfrm>
            <a:prstGeom prst="rect">
              <a:avLst/>
            </a:prstGeom>
          </p:spPr>
          <p:txBody>
            <a:bodyPr anchor="ctr" rtlCol="false" tIns="50800" lIns="50800" bIns="50800" rIns="50800"/>
            <a:lstStyle/>
            <a:p>
              <a:pPr algn="ctr">
                <a:lnSpc>
                  <a:spcPts val="3500"/>
                </a:lnSpc>
              </a:pPr>
            </a:p>
          </p:txBody>
        </p:sp>
      </p:grpSp>
      <p:sp>
        <p:nvSpPr>
          <p:cNvPr name="TextBox 16" id="16"/>
          <p:cNvSpPr txBox="true"/>
          <p:nvPr/>
        </p:nvSpPr>
        <p:spPr>
          <a:xfrm rot="0">
            <a:off x="4164231" y="3421414"/>
            <a:ext cx="2888525" cy="12985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101"/>
                </a:solidFill>
                <a:latin typeface="Montserrat Bold"/>
                <a:ea typeface="Montserrat Bold"/>
                <a:cs typeface="Montserrat Bold"/>
                <a:sym typeface="Montserrat Bold"/>
              </a:rPr>
              <a:t>QUYẾT ĐỊNH KIẾN </a:t>
            </a:r>
            <a:r>
              <a:rPr lang="en-US" b="true" sz="2500" spc="-92" strike="noStrike" u="none">
                <a:solidFill>
                  <a:srgbClr val="000101"/>
                </a:solidFill>
                <a:latin typeface="Montserrat Bold"/>
                <a:ea typeface="Montserrat Bold"/>
                <a:cs typeface="Montserrat Bold"/>
                <a:sym typeface="Montserrat Bold"/>
              </a:rPr>
              <a:t>TRÚC MICROSERVICES</a:t>
            </a:r>
          </a:p>
        </p:txBody>
      </p:sp>
      <p:sp>
        <p:nvSpPr>
          <p:cNvPr name="TextBox 17" id="17"/>
          <p:cNvSpPr txBox="true"/>
          <p:nvPr/>
        </p:nvSpPr>
        <p:spPr>
          <a:xfrm rot="0">
            <a:off x="4472565" y="2684814"/>
            <a:ext cx="2271857" cy="784225"/>
          </a:xfrm>
          <a:prstGeom prst="rect">
            <a:avLst/>
          </a:prstGeom>
        </p:spPr>
        <p:txBody>
          <a:bodyPr anchor="t" rtlCol="false" tIns="0" lIns="0" bIns="0" rIns="0">
            <a:spAutoFit/>
          </a:bodyPr>
          <a:lstStyle/>
          <a:p>
            <a:pPr algn="ctr" marL="0" indent="0" lvl="0">
              <a:lnSpc>
                <a:spcPts val="6049"/>
              </a:lnSpc>
            </a:pPr>
            <a:r>
              <a:rPr lang="en-US" sz="5499" spc="-203">
                <a:solidFill>
                  <a:srgbClr val="000101"/>
                </a:solidFill>
                <a:latin typeface="Montserrat"/>
                <a:ea typeface="Montserrat"/>
                <a:cs typeface="Montserrat"/>
                <a:sym typeface="Montserrat"/>
              </a:rPr>
              <a:t>02</a:t>
            </a:r>
          </a:p>
        </p:txBody>
      </p:sp>
      <p:grpSp>
        <p:nvGrpSpPr>
          <p:cNvPr name="Group 18" id="18"/>
          <p:cNvGrpSpPr/>
          <p:nvPr/>
        </p:nvGrpSpPr>
        <p:grpSpPr>
          <a:xfrm rot="0">
            <a:off x="7558410" y="2340980"/>
            <a:ext cx="3171742" cy="6917320"/>
            <a:chOff x="0" y="0"/>
            <a:chExt cx="835356" cy="1821846"/>
          </a:xfrm>
        </p:grpSpPr>
        <p:sp>
          <p:nvSpPr>
            <p:cNvPr name="Freeform 19" id="19"/>
            <p:cNvSpPr/>
            <p:nvPr/>
          </p:nvSpPr>
          <p:spPr>
            <a:xfrm flipH="false" flipV="false" rot="0">
              <a:off x="0" y="0"/>
              <a:ext cx="835356" cy="1821846"/>
            </a:xfrm>
            <a:custGeom>
              <a:avLst/>
              <a:gdLst/>
              <a:ahLst/>
              <a:cxnLst/>
              <a:rect r="r" b="b" t="t" l="l"/>
              <a:pathLst>
                <a:path h="1821846" w="835356">
                  <a:moveTo>
                    <a:pt x="36614" y="0"/>
                  </a:moveTo>
                  <a:lnTo>
                    <a:pt x="798742" y="0"/>
                  </a:lnTo>
                  <a:cubicBezTo>
                    <a:pt x="818964" y="0"/>
                    <a:pt x="835356" y="16392"/>
                    <a:pt x="835356" y="36614"/>
                  </a:cubicBezTo>
                  <a:lnTo>
                    <a:pt x="835356" y="1785232"/>
                  </a:lnTo>
                  <a:cubicBezTo>
                    <a:pt x="835356" y="1794943"/>
                    <a:pt x="831498" y="1804255"/>
                    <a:pt x="824632" y="1811122"/>
                  </a:cubicBezTo>
                  <a:cubicBezTo>
                    <a:pt x="817766" y="1817988"/>
                    <a:pt x="808453" y="1821846"/>
                    <a:pt x="798742" y="1821846"/>
                  </a:cubicBezTo>
                  <a:lnTo>
                    <a:pt x="36614" y="1821846"/>
                  </a:lnTo>
                  <a:cubicBezTo>
                    <a:pt x="16392" y="1821846"/>
                    <a:pt x="0" y="1805453"/>
                    <a:pt x="0" y="1785232"/>
                  </a:cubicBezTo>
                  <a:lnTo>
                    <a:pt x="0" y="36614"/>
                  </a:lnTo>
                  <a:cubicBezTo>
                    <a:pt x="0" y="26903"/>
                    <a:pt x="3857" y="17590"/>
                    <a:pt x="10724" y="10724"/>
                  </a:cubicBezTo>
                  <a:cubicBezTo>
                    <a:pt x="17590" y="3857"/>
                    <a:pt x="26903" y="0"/>
                    <a:pt x="36614" y="0"/>
                  </a:cubicBezTo>
                  <a:close/>
                </a:path>
              </a:pathLst>
            </a:custGeom>
            <a:solidFill>
              <a:srgbClr val="22D3EE"/>
            </a:solidFill>
          </p:spPr>
        </p:sp>
        <p:sp>
          <p:nvSpPr>
            <p:cNvPr name="TextBox 20" id="20"/>
            <p:cNvSpPr txBox="true"/>
            <p:nvPr/>
          </p:nvSpPr>
          <p:spPr>
            <a:xfrm>
              <a:off x="0" y="-47625"/>
              <a:ext cx="835356" cy="1869471"/>
            </a:xfrm>
            <a:prstGeom prst="rect">
              <a:avLst/>
            </a:prstGeom>
          </p:spPr>
          <p:txBody>
            <a:bodyPr anchor="ctr" rtlCol="false" tIns="50800" lIns="50800" bIns="50800" rIns="50800"/>
            <a:lstStyle/>
            <a:p>
              <a:pPr algn="ctr">
                <a:lnSpc>
                  <a:spcPts val="3500"/>
                </a:lnSpc>
              </a:pPr>
            </a:p>
          </p:txBody>
        </p:sp>
      </p:grpSp>
      <p:sp>
        <p:nvSpPr>
          <p:cNvPr name="TextBox 21" id="21"/>
          <p:cNvSpPr txBox="true"/>
          <p:nvPr/>
        </p:nvSpPr>
        <p:spPr>
          <a:xfrm rot="0">
            <a:off x="7688398" y="3421414"/>
            <a:ext cx="2888525" cy="12985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101"/>
                </a:solidFill>
                <a:latin typeface="Montserrat Bold"/>
                <a:ea typeface="Montserrat Bold"/>
                <a:cs typeface="Montserrat Bold"/>
                <a:sym typeface="Montserrat Bold"/>
              </a:rPr>
              <a:t>CÔ LẬP TENANT VÀ</a:t>
            </a:r>
            <a:r>
              <a:rPr lang="en-US" b="true" sz="2500" spc="-92" strike="noStrike" u="none">
                <a:solidFill>
                  <a:srgbClr val="000101"/>
                </a:solidFill>
                <a:latin typeface="Montserrat Bold"/>
                <a:ea typeface="Montserrat Bold"/>
                <a:cs typeface="Montserrat Bold"/>
                <a:sym typeface="Montserrat Bold"/>
              </a:rPr>
              <a:t> KIỂM SOÁT TRUY CẬP</a:t>
            </a:r>
          </a:p>
        </p:txBody>
      </p:sp>
      <p:sp>
        <p:nvSpPr>
          <p:cNvPr name="TextBox 22" id="22"/>
          <p:cNvSpPr txBox="true"/>
          <p:nvPr/>
        </p:nvSpPr>
        <p:spPr>
          <a:xfrm rot="0">
            <a:off x="7996733" y="2684814"/>
            <a:ext cx="2271857" cy="784225"/>
          </a:xfrm>
          <a:prstGeom prst="rect">
            <a:avLst/>
          </a:prstGeom>
        </p:spPr>
        <p:txBody>
          <a:bodyPr anchor="t" rtlCol="false" tIns="0" lIns="0" bIns="0" rIns="0">
            <a:spAutoFit/>
          </a:bodyPr>
          <a:lstStyle/>
          <a:p>
            <a:pPr algn="ctr" marL="0" indent="0" lvl="0">
              <a:lnSpc>
                <a:spcPts val="6049"/>
              </a:lnSpc>
            </a:pPr>
            <a:r>
              <a:rPr lang="en-US" sz="5499" spc="-203">
                <a:solidFill>
                  <a:srgbClr val="000101"/>
                </a:solidFill>
                <a:latin typeface="Montserrat"/>
                <a:ea typeface="Montserrat"/>
                <a:cs typeface="Montserrat"/>
                <a:sym typeface="Montserrat"/>
              </a:rPr>
              <a:t>03</a:t>
            </a:r>
          </a:p>
        </p:txBody>
      </p:sp>
      <p:grpSp>
        <p:nvGrpSpPr>
          <p:cNvPr name="Group 23" id="23"/>
          <p:cNvGrpSpPr/>
          <p:nvPr/>
        </p:nvGrpSpPr>
        <p:grpSpPr>
          <a:xfrm rot="0">
            <a:off x="11082577" y="2340980"/>
            <a:ext cx="3171742" cy="6917320"/>
            <a:chOff x="0" y="0"/>
            <a:chExt cx="835356" cy="1821846"/>
          </a:xfrm>
        </p:grpSpPr>
        <p:sp>
          <p:nvSpPr>
            <p:cNvPr name="Freeform 24" id="24"/>
            <p:cNvSpPr/>
            <p:nvPr/>
          </p:nvSpPr>
          <p:spPr>
            <a:xfrm flipH="false" flipV="false" rot="0">
              <a:off x="0" y="0"/>
              <a:ext cx="835356" cy="1821846"/>
            </a:xfrm>
            <a:custGeom>
              <a:avLst/>
              <a:gdLst/>
              <a:ahLst/>
              <a:cxnLst/>
              <a:rect r="r" b="b" t="t" l="l"/>
              <a:pathLst>
                <a:path h="1821846" w="835356">
                  <a:moveTo>
                    <a:pt x="36614" y="0"/>
                  </a:moveTo>
                  <a:lnTo>
                    <a:pt x="798742" y="0"/>
                  </a:lnTo>
                  <a:cubicBezTo>
                    <a:pt x="818964" y="0"/>
                    <a:pt x="835356" y="16392"/>
                    <a:pt x="835356" y="36614"/>
                  </a:cubicBezTo>
                  <a:lnTo>
                    <a:pt x="835356" y="1785232"/>
                  </a:lnTo>
                  <a:cubicBezTo>
                    <a:pt x="835356" y="1794943"/>
                    <a:pt x="831498" y="1804255"/>
                    <a:pt x="824632" y="1811122"/>
                  </a:cubicBezTo>
                  <a:cubicBezTo>
                    <a:pt x="817766" y="1817988"/>
                    <a:pt x="808453" y="1821846"/>
                    <a:pt x="798742" y="1821846"/>
                  </a:cubicBezTo>
                  <a:lnTo>
                    <a:pt x="36614" y="1821846"/>
                  </a:lnTo>
                  <a:cubicBezTo>
                    <a:pt x="16392" y="1821846"/>
                    <a:pt x="0" y="1805453"/>
                    <a:pt x="0" y="1785232"/>
                  </a:cubicBezTo>
                  <a:lnTo>
                    <a:pt x="0" y="36614"/>
                  </a:lnTo>
                  <a:cubicBezTo>
                    <a:pt x="0" y="26903"/>
                    <a:pt x="3857" y="17590"/>
                    <a:pt x="10724" y="10724"/>
                  </a:cubicBezTo>
                  <a:cubicBezTo>
                    <a:pt x="17590" y="3857"/>
                    <a:pt x="26903" y="0"/>
                    <a:pt x="36614" y="0"/>
                  </a:cubicBezTo>
                  <a:close/>
                </a:path>
              </a:pathLst>
            </a:custGeom>
            <a:solidFill>
              <a:srgbClr val="22D3EE"/>
            </a:solidFill>
          </p:spPr>
        </p:sp>
        <p:sp>
          <p:nvSpPr>
            <p:cNvPr name="TextBox 25" id="25"/>
            <p:cNvSpPr txBox="true"/>
            <p:nvPr/>
          </p:nvSpPr>
          <p:spPr>
            <a:xfrm>
              <a:off x="0" y="-47625"/>
              <a:ext cx="835356" cy="1869471"/>
            </a:xfrm>
            <a:prstGeom prst="rect">
              <a:avLst/>
            </a:prstGeom>
          </p:spPr>
          <p:txBody>
            <a:bodyPr anchor="ctr" rtlCol="false" tIns="50800" lIns="50800" bIns="50800" rIns="50800"/>
            <a:lstStyle/>
            <a:p>
              <a:pPr algn="ctr">
                <a:lnSpc>
                  <a:spcPts val="3500"/>
                </a:lnSpc>
              </a:pPr>
            </a:p>
          </p:txBody>
        </p:sp>
      </p:grpSp>
      <p:sp>
        <p:nvSpPr>
          <p:cNvPr name="TextBox 26" id="26"/>
          <p:cNvSpPr txBox="true"/>
          <p:nvPr/>
        </p:nvSpPr>
        <p:spPr>
          <a:xfrm rot="0">
            <a:off x="11212566" y="3421414"/>
            <a:ext cx="2888525" cy="173672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101"/>
                </a:solidFill>
                <a:latin typeface="Montserrat Bold"/>
                <a:ea typeface="Montserrat Bold"/>
                <a:cs typeface="Montserrat Bold"/>
                <a:sym typeface="Montserrat Bold"/>
              </a:rPr>
              <a:t>PHỐI HỢP GIỮA </a:t>
            </a:r>
            <a:r>
              <a:rPr lang="en-US" b="true" sz="2500" spc="-92" strike="noStrike" u="none">
                <a:solidFill>
                  <a:srgbClr val="000101"/>
                </a:solidFill>
                <a:latin typeface="Montserrat Bold"/>
                <a:ea typeface="Montserrat Bold"/>
                <a:cs typeface="Montserrat Bold"/>
                <a:sym typeface="Montserrat Bold"/>
              </a:rPr>
              <a:t>CÁC SERVICE VÀ CÁC BÀI TOÁN PHÂN TÁN</a:t>
            </a:r>
          </a:p>
        </p:txBody>
      </p:sp>
      <p:sp>
        <p:nvSpPr>
          <p:cNvPr name="TextBox 27" id="27"/>
          <p:cNvSpPr txBox="true"/>
          <p:nvPr/>
        </p:nvSpPr>
        <p:spPr>
          <a:xfrm rot="0">
            <a:off x="11520900" y="2684814"/>
            <a:ext cx="2271857" cy="784225"/>
          </a:xfrm>
          <a:prstGeom prst="rect">
            <a:avLst/>
          </a:prstGeom>
        </p:spPr>
        <p:txBody>
          <a:bodyPr anchor="t" rtlCol="false" tIns="0" lIns="0" bIns="0" rIns="0">
            <a:spAutoFit/>
          </a:bodyPr>
          <a:lstStyle/>
          <a:p>
            <a:pPr algn="ctr" marL="0" indent="0" lvl="0">
              <a:lnSpc>
                <a:spcPts val="6049"/>
              </a:lnSpc>
            </a:pPr>
            <a:r>
              <a:rPr lang="en-US" sz="5499" spc="-203">
                <a:solidFill>
                  <a:srgbClr val="000101"/>
                </a:solidFill>
                <a:latin typeface="Montserrat"/>
                <a:ea typeface="Montserrat"/>
                <a:cs typeface="Montserrat"/>
                <a:sym typeface="Montserrat"/>
              </a:rPr>
              <a:t>04</a:t>
            </a:r>
          </a:p>
        </p:txBody>
      </p:sp>
      <p:grpSp>
        <p:nvGrpSpPr>
          <p:cNvPr name="Group 28" id="28"/>
          <p:cNvGrpSpPr/>
          <p:nvPr/>
        </p:nvGrpSpPr>
        <p:grpSpPr>
          <a:xfrm rot="0">
            <a:off x="14606744" y="2340980"/>
            <a:ext cx="3171742" cy="6917320"/>
            <a:chOff x="0" y="0"/>
            <a:chExt cx="835356" cy="1821846"/>
          </a:xfrm>
        </p:grpSpPr>
        <p:sp>
          <p:nvSpPr>
            <p:cNvPr name="Freeform 29" id="29"/>
            <p:cNvSpPr/>
            <p:nvPr/>
          </p:nvSpPr>
          <p:spPr>
            <a:xfrm flipH="false" flipV="false" rot="0">
              <a:off x="0" y="0"/>
              <a:ext cx="835356" cy="1821846"/>
            </a:xfrm>
            <a:custGeom>
              <a:avLst/>
              <a:gdLst/>
              <a:ahLst/>
              <a:cxnLst/>
              <a:rect r="r" b="b" t="t" l="l"/>
              <a:pathLst>
                <a:path h="1821846" w="835356">
                  <a:moveTo>
                    <a:pt x="36614" y="0"/>
                  </a:moveTo>
                  <a:lnTo>
                    <a:pt x="798742" y="0"/>
                  </a:lnTo>
                  <a:cubicBezTo>
                    <a:pt x="818964" y="0"/>
                    <a:pt x="835356" y="16392"/>
                    <a:pt x="835356" y="36614"/>
                  </a:cubicBezTo>
                  <a:lnTo>
                    <a:pt x="835356" y="1785232"/>
                  </a:lnTo>
                  <a:cubicBezTo>
                    <a:pt x="835356" y="1794943"/>
                    <a:pt x="831498" y="1804255"/>
                    <a:pt x="824632" y="1811122"/>
                  </a:cubicBezTo>
                  <a:cubicBezTo>
                    <a:pt x="817766" y="1817988"/>
                    <a:pt x="808453" y="1821846"/>
                    <a:pt x="798742" y="1821846"/>
                  </a:cubicBezTo>
                  <a:lnTo>
                    <a:pt x="36614" y="1821846"/>
                  </a:lnTo>
                  <a:cubicBezTo>
                    <a:pt x="16392" y="1821846"/>
                    <a:pt x="0" y="1805453"/>
                    <a:pt x="0" y="1785232"/>
                  </a:cubicBezTo>
                  <a:lnTo>
                    <a:pt x="0" y="36614"/>
                  </a:lnTo>
                  <a:cubicBezTo>
                    <a:pt x="0" y="26903"/>
                    <a:pt x="3857" y="17590"/>
                    <a:pt x="10724" y="10724"/>
                  </a:cubicBezTo>
                  <a:cubicBezTo>
                    <a:pt x="17590" y="3857"/>
                    <a:pt x="26903" y="0"/>
                    <a:pt x="36614" y="0"/>
                  </a:cubicBezTo>
                  <a:close/>
                </a:path>
              </a:pathLst>
            </a:custGeom>
            <a:solidFill>
              <a:srgbClr val="22D3EE"/>
            </a:solidFill>
          </p:spPr>
        </p:sp>
        <p:sp>
          <p:nvSpPr>
            <p:cNvPr name="TextBox 30" id="30"/>
            <p:cNvSpPr txBox="true"/>
            <p:nvPr/>
          </p:nvSpPr>
          <p:spPr>
            <a:xfrm>
              <a:off x="0" y="-47625"/>
              <a:ext cx="835356" cy="1869471"/>
            </a:xfrm>
            <a:prstGeom prst="rect">
              <a:avLst/>
            </a:prstGeom>
          </p:spPr>
          <p:txBody>
            <a:bodyPr anchor="ctr" rtlCol="false" tIns="50800" lIns="50800" bIns="50800" rIns="50800"/>
            <a:lstStyle/>
            <a:p>
              <a:pPr algn="ctr">
                <a:lnSpc>
                  <a:spcPts val="3500"/>
                </a:lnSpc>
              </a:pPr>
            </a:p>
          </p:txBody>
        </p:sp>
      </p:grpSp>
      <p:sp>
        <p:nvSpPr>
          <p:cNvPr name="TextBox 31" id="31"/>
          <p:cNvSpPr txBox="true"/>
          <p:nvPr/>
        </p:nvSpPr>
        <p:spPr>
          <a:xfrm rot="0">
            <a:off x="14736733" y="3421414"/>
            <a:ext cx="2888525" cy="173672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101"/>
                </a:solidFill>
                <a:latin typeface="Montserrat Bold"/>
                <a:ea typeface="Montserrat Bold"/>
                <a:cs typeface="Montserrat Bold"/>
                <a:sym typeface="Montserrat Bold"/>
              </a:rPr>
              <a:t>KẾT QUẢ KIỂM</a:t>
            </a:r>
            <a:r>
              <a:rPr lang="en-US" b="true" sz="2500" spc="-92" strike="noStrike" u="none">
                <a:solidFill>
                  <a:srgbClr val="000101"/>
                </a:solidFill>
                <a:latin typeface="Montserrat Bold"/>
                <a:ea typeface="Montserrat Bold"/>
                <a:cs typeface="Montserrat Bold"/>
                <a:sym typeface="Montserrat Bold"/>
              </a:rPr>
              <a:t> CHỨNG VÀ HƯỚNG PHÁT TRIỂN</a:t>
            </a:r>
          </a:p>
        </p:txBody>
      </p:sp>
      <p:sp>
        <p:nvSpPr>
          <p:cNvPr name="TextBox 32" id="32"/>
          <p:cNvSpPr txBox="true"/>
          <p:nvPr/>
        </p:nvSpPr>
        <p:spPr>
          <a:xfrm rot="0">
            <a:off x="15045067" y="2684814"/>
            <a:ext cx="2271857" cy="784225"/>
          </a:xfrm>
          <a:prstGeom prst="rect">
            <a:avLst/>
          </a:prstGeom>
        </p:spPr>
        <p:txBody>
          <a:bodyPr anchor="t" rtlCol="false" tIns="0" lIns="0" bIns="0" rIns="0">
            <a:spAutoFit/>
          </a:bodyPr>
          <a:lstStyle/>
          <a:p>
            <a:pPr algn="ctr" marL="0" indent="0" lvl="0">
              <a:lnSpc>
                <a:spcPts val="6049"/>
              </a:lnSpc>
            </a:pPr>
            <a:r>
              <a:rPr lang="en-US" sz="5499" spc="-203">
                <a:solidFill>
                  <a:srgbClr val="000101"/>
                </a:solidFill>
                <a:latin typeface="Montserrat"/>
                <a:ea typeface="Montserrat"/>
                <a:cs typeface="Montserrat"/>
                <a:sym typeface="Montserrat"/>
              </a:rPr>
              <a:t>05</a:t>
            </a:r>
          </a:p>
        </p:txBody>
      </p:sp>
      <p:sp>
        <p:nvSpPr>
          <p:cNvPr name="TextBox 33" id="33"/>
          <p:cNvSpPr txBox="true"/>
          <p:nvPr/>
        </p:nvSpPr>
        <p:spPr>
          <a:xfrm rot="0">
            <a:off x="795148" y="5919258"/>
            <a:ext cx="2572344" cy="2806700"/>
          </a:xfrm>
          <a:prstGeom prst="rect">
            <a:avLst/>
          </a:prstGeom>
        </p:spPr>
        <p:txBody>
          <a:bodyPr anchor="t" rtlCol="false" tIns="0" lIns="0" bIns="0" rIns="0">
            <a:spAutoFit/>
          </a:bodyPr>
          <a:lstStyle/>
          <a:p>
            <a:pPr algn="ctr">
              <a:lnSpc>
                <a:spcPts val="2800"/>
              </a:lnSpc>
            </a:pPr>
            <a:r>
              <a:rPr lang="en-US" sz="2000" spc="-74">
                <a:solidFill>
                  <a:srgbClr val="000101"/>
                </a:solidFill>
                <a:latin typeface="Montserrat"/>
                <a:ea typeface="Montserrat"/>
                <a:cs typeface="Montserrat"/>
                <a:sym typeface="Montserrat"/>
              </a:rPr>
              <a:t>Xác định thách thức k</a:t>
            </a:r>
            <a:r>
              <a:rPr lang="en-US" sz="2000" spc="-74">
                <a:solidFill>
                  <a:srgbClr val="000101"/>
                </a:solidFill>
                <a:latin typeface="Montserrat"/>
                <a:ea typeface="Montserrat"/>
                <a:cs typeface="Montserrat"/>
                <a:sym typeface="Montserrat"/>
              </a:rPr>
              <a:t>hi vận hành luồng POS đa tác nhân và ngăn ngừa rủi ro dữ liệu trên nền tảng dùng chung (SaaS) cho nhiều nhà hàng độc lập.</a:t>
            </a:r>
          </a:p>
        </p:txBody>
      </p:sp>
      <p:sp>
        <p:nvSpPr>
          <p:cNvPr name="TextBox 34" id="34"/>
          <p:cNvSpPr txBox="true"/>
          <p:nvPr/>
        </p:nvSpPr>
        <p:spPr>
          <a:xfrm rot="0">
            <a:off x="4319316" y="5558189"/>
            <a:ext cx="2572344" cy="3159125"/>
          </a:xfrm>
          <a:prstGeom prst="rect">
            <a:avLst/>
          </a:prstGeom>
        </p:spPr>
        <p:txBody>
          <a:bodyPr anchor="t" rtlCol="false" tIns="0" lIns="0" bIns="0" rIns="0">
            <a:spAutoFit/>
          </a:bodyPr>
          <a:lstStyle/>
          <a:p>
            <a:pPr algn="ctr">
              <a:lnSpc>
                <a:spcPts val="2800"/>
              </a:lnSpc>
            </a:pPr>
            <a:r>
              <a:rPr lang="en-US" sz="2000" spc="-74">
                <a:solidFill>
                  <a:srgbClr val="000101"/>
                </a:solidFill>
                <a:latin typeface="Montserrat"/>
                <a:ea typeface="Montserrat"/>
                <a:cs typeface="Montserrat"/>
                <a:sym typeface="Montserrat"/>
              </a:rPr>
              <a:t>Phân rã </a:t>
            </a:r>
            <a:r>
              <a:rPr lang="en-US" sz="2000" spc="-74">
                <a:solidFill>
                  <a:srgbClr val="000101"/>
                </a:solidFill>
                <a:latin typeface="Montserrat"/>
                <a:ea typeface="Montserrat"/>
                <a:cs typeface="Montserrat"/>
                <a:sym typeface="Montserrat"/>
              </a:rPr>
              <a:t>hệ thống thành các microservices độc lập theo ranh giới nghiệp vụ và quyền sở hữu dữ liệu, chấp nhận chi phí giao tiếp phân tán để làm rõ trách nhiệm service.</a:t>
            </a:r>
          </a:p>
        </p:txBody>
      </p:sp>
      <p:sp>
        <p:nvSpPr>
          <p:cNvPr name="TextBox 35" id="35"/>
          <p:cNvSpPr txBox="true"/>
          <p:nvPr/>
        </p:nvSpPr>
        <p:spPr>
          <a:xfrm rot="0">
            <a:off x="7844160" y="6005864"/>
            <a:ext cx="2572344" cy="2101850"/>
          </a:xfrm>
          <a:prstGeom prst="rect">
            <a:avLst/>
          </a:prstGeom>
        </p:spPr>
        <p:txBody>
          <a:bodyPr anchor="t" rtlCol="false" tIns="0" lIns="0" bIns="0" rIns="0">
            <a:spAutoFit/>
          </a:bodyPr>
          <a:lstStyle/>
          <a:p>
            <a:pPr algn="ctr">
              <a:lnSpc>
                <a:spcPts val="2800"/>
              </a:lnSpc>
            </a:pPr>
            <a:r>
              <a:rPr lang="en-US" sz="2000" spc="-74">
                <a:solidFill>
                  <a:srgbClr val="000101"/>
                </a:solidFill>
                <a:latin typeface="Montserrat"/>
                <a:ea typeface="Montserrat"/>
                <a:cs typeface="Montserrat"/>
                <a:sym typeface="Montserrat"/>
              </a:rPr>
              <a:t>Thiết l</a:t>
            </a:r>
            <a:r>
              <a:rPr lang="en-US" sz="2000" spc="-74">
                <a:solidFill>
                  <a:srgbClr val="000101"/>
                </a:solidFill>
                <a:latin typeface="Montserrat"/>
                <a:ea typeface="Montserrat"/>
                <a:cs typeface="Montserrat"/>
                <a:sym typeface="Montserrat"/>
              </a:rPr>
              <a:t>ập ranh giới cô lập dữ liệu và kiểm soát truy cập từ khâu xác thực, lan truyền ngữ cảnh đến mức database.</a:t>
            </a:r>
          </a:p>
        </p:txBody>
      </p:sp>
      <p:sp>
        <p:nvSpPr>
          <p:cNvPr name="TextBox 36" id="36"/>
          <p:cNvSpPr txBox="true"/>
          <p:nvPr/>
        </p:nvSpPr>
        <p:spPr>
          <a:xfrm rot="0">
            <a:off x="11382276" y="5761540"/>
            <a:ext cx="2572344" cy="3159125"/>
          </a:xfrm>
          <a:prstGeom prst="rect">
            <a:avLst/>
          </a:prstGeom>
        </p:spPr>
        <p:txBody>
          <a:bodyPr anchor="t" rtlCol="false" tIns="0" lIns="0" bIns="0" rIns="0">
            <a:spAutoFit/>
          </a:bodyPr>
          <a:lstStyle/>
          <a:p>
            <a:pPr algn="ctr">
              <a:lnSpc>
                <a:spcPts val="2800"/>
              </a:lnSpc>
            </a:pPr>
            <a:r>
              <a:rPr lang="en-US" sz="2000" spc="-74">
                <a:solidFill>
                  <a:srgbClr val="000101"/>
                </a:solidFill>
                <a:latin typeface="Montserrat"/>
                <a:ea typeface="Montserrat"/>
                <a:cs typeface="Montserrat"/>
                <a:sym typeface="Montserrat"/>
              </a:rPr>
              <a:t>Đảm bảo </a:t>
            </a:r>
            <a:r>
              <a:rPr lang="en-US" sz="2000" spc="-74">
                <a:solidFill>
                  <a:srgbClr val="000101"/>
                </a:solidFill>
                <a:latin typeface="Montserrat"/>
                <a:ea typeface="Montserrat"/>
                <a:cs typeface="Montserrat"/>
                <a:sym typeface="Montserrat"/>
              </a:rPr>
              <a:t>nhất quán dữ liệu phân tán qua cơ chế Saga Orchestration, Transactional Outbox, Idempotency và bản chiếu vận hành KDS trên Redis.</a:t>
            </a:r>
          </a:p>
        </p:txBody>
      </p:sp>
      <p:sp>
        <p:nvSpPr>
          <p:cNvPr name="TextBox 37" id="37"/>
          <p:cNvSpPr txBox="true"/>
          <p:nvPr/>
        </p:nvSpPr>
        <p:spPr>
          <a:xfrm rot="0">
            <a:off x="14892494" y="5974016"/>
            <a:ext cx="2572344" cy="2101850"/>
          </a:xfrm>
          <a:prstGeom prst="rect">
            <a:avLst/>
          </a:prstGeom>
        </p:spPr>
        <p:txBody>
          <a:bodyPr anchor="t" rtlCol="false" tIns="0" lIns="0" bIns="0" rIns="0">
            <a:spAutoFit/>
          </a:bodyPr>
          <a:lstStyle/>
          <a:p>
            <a:pPr algn="ctr">
              <a:lnSpc>
                <a:spcPts val="2800"/>
              </a:lnSpc>
            </a:pPr>
            <a:r>
              <a:rPr lang="en-US" sz="2000" spc="-74">
                <a:solidFill>
                  <a:srgbClr val="000101"/>
                </a:solidFill>
                <a:latin typeface="Montserrat"/>
                <a:ea typeface="Montserrat"/>
                <a:cs typeface="Montserrat"/>
                <a:sym typeface="Montserrat"/>
              </a:rPr>
              <a:t>Đối chiếu tính đúng đắn của giải p</a:t>
            </a:r>
            <a:r>
              <a:rPr lang="en-US" sz="2000" spc="-74">
                <a:solidFill>
                  <a:srgbClr val="000101"/>
                </a:solidFill>
                <a:latin typeface="Montserrat"/>
                <a:ea typeface="Montserrat"/>
                <a:cs typeface="Montserrat"/>
                <a:sym typeface="Montserrat"/>
              </a:rPr>
              <a:t>háp qua bộ bằng chứng đa lớp và xác định giới hạn kỹ thuật làm cơ sở phát triển.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4305985" y="-760489"/>
            <a:ext cx="3948810" cy="4487284"/>
          </a:xfrm>
          <a:custGeom>
            <a:avLst/>
            <a:gdLst/>
            <a:ahLst/>
            <a:cxnLst/>
            <a:rect r="r" b="b" t="t" l="l"/>
            <a:pathLst>
              <a:path h="4487284" w="3948810">
                <a:moveTo>
                  <a:pt x="3948810" y="0"/>
                </a:moveTo>
                <a:lnTo>
                  <a:pt x="0" y="0"/>
                </a:lnTo>
                <a:lnTo>
                  <a:pt x="0" y="4487283"/>
                </a:lnTo>
                <a:lnTo>
                  <a:pt x="3948810" y="4487283"/>
                </a:lnTo>
                <a:lnTo>
                  <a:pt x="39488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650978">
            <a:off x="10747665" y="1492736"/>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true" flipV="false" rot="-650978">
            <a:off x="10696678" y="1226705"/>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418743">
            <a:off x="11231568" y="3185105"/>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149135" y="2863273"/>
            <a:ext cx="10279875" cy="3567480"/>
          </a:xfrm>
          <a:prstGeom prst="rect">
            <a:avLst/>
          </a:prstGeom>
        </p:spPr>
        <p:txBody>
          <a:bodyPr anchor="t" rtlCol="false" tIns="0" lIns="0" bIns="0" rIns="0">
            <a:spAutoFit/>
          </a:bodyPr>
          <a:lstStyle/>
          <a:p>
            <a:pPr algn="l" marL="0" indent="0" lvl="0">
              <a:lnSpc>
                <a:spcPts val="7044"/>
              </a:lnSpc>
            </a:pPr>
            <a:r>
              <a:rPr lang="en-US" b="true" sz="6403" spc="-236">
                <a:solidFill>
                  <a:srgbClr val="000101"/>
                </a:solidFill>
                <a:latin typeface="Montserrat Ultra-Bold"/>
                <a:ea typeface="Montserrat Ultra-Bold"/>
                <a:cs typeface="Montserrat Ultra-Bold"/>
                <a:sym typeface="Montserrat Ultra-Bold"/>
              </a:rPr>
              <a:t>BÀ</a:t>
            </a:r>
            <a:r>
              <a:rPr lang="en-US" b="true" sz="6403" spc="-236" strike="noStrike" u="none">
                <a:solidFill>
                  <a:srgbClr val="000101"/>
                </a:solidFill>
                <a:latin typeface="Montserrat Ultra-Bold"/>
                <a:ea typeface="Montserrat Ultra-Bold"/>
                <a:cs typeface="Montserrat Ultra-Bold"/>
                <a:sym typeface="Montserrat Ultra-Bold"/>
              </a:rPr>
              <a:t>I TOÁN POS THEO MÔ HÌNH SAAS TÍCH HỢP ĐẶT MÓN QUA QR</a:t>
            </a:r>
          </a:p>
          <a:p>
            <a:pPr algn="l" marL="0" indent="0" lvl="0">
              <a:lnSpc>
                <a:spcPts val="7044"/>
              </a:lnSpc>
            </a:pPr>
          </a:p>
        </p:txBody>
      </p:sp>
      <p:sp>
        <p:nvSpPr>
          <p:cNvPr name="TextBox 7" id="7"/>
          <p:cNvSpPr txBox="true"/>
          <p:nvPr/>
        </p:nvSpPr>
        <p:spPr>
          <a:xfrm rot="0">
            <a:off x="1149135" y="6704387"/>
            <a:ext cx="9358597" cy="1298575"/>
          </a:xfrm>
          <a:prstGeom prst="rect">
            <a:avLst/>
          </a:prstGeom>
        </p:spPr>
        <p:txBody>
          <a:bodyPr anchor="t" rtlCol="false" tIns="0" lIns="0" bIns="0" rIns="0">
            <a:spAutoFit/>
          </a:bodyPr>
          <a:lstStyle/>
          <a:p>
            <a:pPr algn="just">
              <a:lnSpc>
                <a:spcPts val="3500"/>
              </a:lnSpc>
              <a:spcBef>
                <a:spcPct val="0"/>
              </a:spcBef>
            </a:pPr>
            <a:r>
              <a:rPr lang="en-US" b="true" sz="2500" spc="-92">
                <a:solidFill>
                  <a:srgbClr val="000101"/>
                </a:solidFill>
                <a:latin typeface="Montserrat Bold"/>
                <a:ea typeface="Montserrat Bold"/>
                <a:cs typeface="Montserrat Bold"/>
                <a:sym typeface="Montserrat Bold"/>
              </a:rPr>
              <a:t>Xác định thách thức khi vận hành luồng POS đa tác nhân và ngăn ngừa rủi ro dữ liệu trên nền tảng dùng chung (SaaS) cho nhiều nhà hàng độc lập.</a:t>
            </a:r>
          </a:p>
        </p:txBody>
      </p:sp>
      <p:grpSp>
        <p:nvGrpSpPr>
          <p:cNvPr name="Group 8" id="8"/>
          <p:cNvGrpSpPr/>
          <p:nvPr/>
        </p:nvGrpSpPr>
        <p:grpSpPr>
          <a:xfrm rot="-131315">
            <a:off x="3549266" y="1401684"/>
            <a:ext cx="4079435" cy="1085644"/>
            <a:chOff x="0" y="0"/>
            <a:chExt cx="1098964" cy="292463"/>
          </a:xfrm>
        </p:grpSpPr>
        <p:sp>
          <p:nvSpPr>
            <p:cNvPr name="Freeform 9" id="9"/>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1098964"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3481507" y="1304557"/>
            <a:ext cx="4079435" cy="1085644"/>
            <a:chOff x="0" y="0"/>
            <a:chExt cx="1098964" cy="292463"/>
          </a:xfrm>
        </p:grpSpPr>
        <p:sp>
          <p:nvSpPr>
            <p:cNvPr name="Freeform 12" id="12"/>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1098964" cy="330563"/>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114702">
            <a:off x="3698926" y="1435289"/>
            <a:ext cx="3642779" cy="712471"/>
          </a:xfrm>
          <a:prstGeom prst="rect">
            <a:avLst/>
          </a:prstGeom>
        </p:spPr>
        <p:txBody>
          <a:bodyPr anchor="t" rtlCol="false" tIns="0" lIns="0" bIns="0" rIns="0">
            <a:spAutoFit/>
          </a:bodyPr>
          <a:lstStyle/>
          <a:p>
            <a:pPr algn="ctr" marL="0" indent="0" lvl="0">
              <a:lnSpc>
                <a:spcPts val="5879"/>
              </a:lnSpc>
              <a:spcBef>
                <a:spcPct val="0"/>
              </a:spcBef>
            </a:pPr>
            <a:r>
              <a:rPr lang="en-US" b="true" sz="4199" spc="-155">
                <a:solidFill>
                  <a:srgbClr val="000101"/>
                </a:solidFill>
                <a:latin typeface="Montserrat Bold"/>
                <a:ea typeface="Montserrat Bold"/>
                <a:cs typeface="Montserrat Bold"/>
                <a:sym typeface="Montserrat Bold"/>
              </a:rPr>
              <a:t>PHẦN 1</a:t>
            </a:r>
          </a:p>
        </p:txBody>
      </p:sp>
      <p:sp>
        <p:nvSpPr>
          <p:cNvPr name="Freeform 15" id="15"/>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sp>
        <p:nvSpPr>
          <p:cNvPr name="Freeform 16" id="16"/>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2"/>
            <a:stretch>
              <a:fillRect l="-209" t="0" r="-209" b="0"/>
            </a:stretch>
          </a:blipFill>
        </p:spPr>
      </p:sp>
      <p:sp>
        <p:nvSpPr>
          <p:cNvPr name="Freeform 17" id="17"/>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13"/>
            <a:stretch>
              <a:fillRect l="0" t="0" r="0" b="0"/>
            </a:stretch>
          </a:blipFill>
        </p:spPr>
      </p:sp>
      <p:sp>
        <p:nvSpPr>
          <p:cNvPr name="TextBox 18" id="18"/>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9" id="19"/>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05825"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5717923" y="8639580"/>
            <a:ext cx="2762645" cy="2739097"/>
          </a:xfrm>
          <a:custGeom>
            <a:avLst/>
            <a:gdLst/>
            <a:ahLst/>
            <a:cxnLst/>
            <a:rect r="r" b="b" t="t" l="l"/>
            <a:pathLst>
              <a:path h="2739097" w="2762645">
                <a:moveTo>
                  <a:pt x="448308" y="0"/>
                </a:moveTo>
                <a:lnTo>
                  <a:pt x="2762646" y="454055"/>
                </a:lnTo>
                <a:lnTo>
                  <a:pt x="2314338" y="2739097"/>
                </a:lnTo>
                <a:lnTo>
                  <a:pt x="0" y="2285042"/>
                </a:lnTo>
                <a:lnTo>
                  <a:pt x="448308" y="0"/>
                </a:lnTo>
                <a:close/>
              </a:path>
            </a:pathLst>
          </a:custGeom>
          <a:blipFill>
            <a:blip r:embed="rId4"/>
            <a:stretch>
              <a:fillRect l="-209" t="0" r="-209" b="0"/>
            </a:stretch>
          </a:blipFill>
        </p:spPr>
      </p:sp>
      <p:sp>
        <p:nvSpPr>
          <p:cNvPr name="Freeform 4" id="4"/>
          <p:cNvSpPr/>
          <p:nvPr/>
        </p:nvSpPr>
        <p:spPr>
          <a:xfrm flipH="false" flipV="false" rot="-762504">
            <a:off x="13943327" y="9783168"/>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5"/>
            <a:stretch>
              <a:fillRect l="0" t="0" r="0" b="0"/>
            </a:stretch>
          </a:blipFill>
        </p:spPr>
      </p:sp>
      <p:grpSp>
        <p:nvGrpSpPr>
          <p:cNvPr name="Group 5" id="5"/>
          <p:cNvGrpSpPr/>
          <p:nvPr/>
        </p:nvGrpSpPr>
        <p:grpSpPr>
          <a:xfrm rot="0">
            <a:off x="6655616" y="4163103"/>
            <a:ext cx="5136432" cy="1877587"/>
            <a:chOff x="0" y="0"/>
            <a:chExt cx="1352805" cy="494509"/>
          </a:xfrm>
        </p:grpSpPr>
        <p:sp>
          <p:nvSpPr>
            <p:cNvPr name="Freeform 6" id="6"/>
            <p:cNvSpPr/>
            <p:nvPr/>
          </p:nvSpPr>
          <p:spPr>
            <a:xfrm flipH="false" flipV="false" rot="0">
              <a:off x="0" y="0"/>
              <a:ext cx="1352805" cy="494509"/>
            </a:xfrm>
            <a:custGeom>
              <a:avLst/>
              <a:gdLst/>
              <a:ahLst/>
              <a:cxnLst/>
              <a:rect r="r" b="b" t="t" l="l"/>
              <a:pathLst>
                <a:path h="494509" w="1352805">
                  <a:moveTo>
                    <a:pt x="25623" y="0"/>
                  </a:moveTo>
                  <a:lnTo>
                    <a:pt x="1327182" y="0"/>
                  </a:lnTo>
                  <a:cubicBezTo>
                    <a:pt x="1341333" y="0"/>
                    <a:pt x="1352805" y="11472"/>
                    <a:pt x="1352805" y="25623"/>
                  </a:cubicBezTo>
                  <a:lnTo>
                    <a:pt x="1352805" y="468885"/>
                  </a:lnTo>
                  <a:cubicBezTo>
                    <a:pt x="1352805" y="475681"/>
                    <a:pt x="1350106" y="482198"/>
                    <a:pt x="1345300" y="487004"/>
                  </a:cubicBezTo>
                  <a:cubicBezTo>
                    <a:pt x="1340495" y="491809"/>
                    <a:pt x="1333978" y="494509"/>
                    <a:pt x="1327182" y="494509"/>
                  </a:cubicBezTo>
                  <a:lnTo>
                    <a:pt x="25623" y="494509"/>
                  </a:lnTo>
                  <a:cubicBezTo>
                    <a:pt x="18828" y="494509"/>
                    <a:pt x="12310" y="491809"/>
                    <a:pt x="7505" y="487004"/>
                  </a:cubicBezTo>
                  <a:cubicBezTo>
                    <a:pt x="2700" y="482198"/>
                    <a:pt x="0" y="475681"/>
                    <a:pt x="0" y="468885"/>
                  </a:cubicBezTo>
                  <a:lnTo>
                    <a:pt x="0" y="25623"/>
                  </a:lnTo>
                  <a:cubicBezTo>
                    <a:pt x="0" y="18828"/>
                    <a:pt x="2700" y="12310"/>
                    <a:pt x="7505" y="7505"/>
                  </a:cubicBezTo>
                  <a:cubicBezTo>
                    <a:pt x="12310" y="2700"/>
                    <a:pt x="18828" y="0"/>
                    <a:pt x="25623" y="0"/>
                  </a:cubicBezTo>
                  <a:close/>
                </a:path>
              </a:pathLst>
            </a:custGeom>
            <a:solidFill>
              <a:srgbClr val="22D3EE"/>
            </a:solidFill>
          </p:spPr>
        </p:sp>
        <p:sp>
          <p:nvSpPr>
            <p:cNvPr name="TextBox 7" id="7"/>
            <p:cNvSpPr txBox="true"/>
            <p:nvPr/>
          </p:nvSpPr>
          <p:spPr>
            <a:xfrm>
              <a:off x="0" y="-47625"/>
              <a:ext cx="1352805" cy="542134"/>
            </a:xfrm>
            <a:prstGeom prst="rect">
              <a:avLst/>
            </a:prstGeom>
          </p:spPr>
          <p:txBody>
            <a:bodyPr anchor="ctr" rtlCol="false" tIns="50800" lIns="50800" bIns="50800" rIns="50800"/>
            <a:lstStyle/>
            <a:p>
              <a:pPr algn="ctr">
                <a:lnSpc>
                  <a:spcPts val="3500"/>
                </a:lnSpc>
              </a:pPr>
            </a:p>
          </p:txBody>
        </p:sp>
      </p:grpSp>
      <p:sp>
        <p:nvSpPr>
          <p:cNvPr name="Freeform 8" id="8"/>
          <p:cNvSpPr/>
          <p:nvPr/>
        </p:nvSpPr>
        <p:spPr>
          <a:xfrm flipH="false" flipV="false" rot="0">
            <a:off x="8465707" y="3084976"/>
            <a:ext cx="1308153" cy="1308153"/>
          </a:xfrm>
          <a:custGeom>
            <a:avLst/>
            <a:gdLst/>
            <a:ahLst/>
            <a:cxnLst/>
            <a:rect r="r" b="b" t="t" l="l"/>
            <a:pathLst>
              <a:path h="1308153" w="1308153">
                <a:moveTo>
                  <a:pt x="0" y="0"/>
                </a:moveTo>
                <a:lnTo>
                  <a:pt x="1308154" y="0"/>
                </a:lnTo>
                <a:lnTo>
                  <a:pt x="1308154" y="1308153"/>
                </a:lnTo>
                <a:lnTo>
                  <a:pt x="0" y="13081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898810" y="2079868"/>
            <a:ext cx="3284738" cy="1950313"/>
          </a:xfrm>
          <a:custGeom>
            <a:avLst/>
            <a:gdLst/>
            <a:ahLst/>
            <a:cxnLst/>
            <a:rect r="r" b="b" t="t" l="l"/>
            <a:pathLst>
              <a:path h="1950313" w="3284738">
                <a:moveTo>
                  <a:pt x="0" y="0"/>
                </a:moveTo>
                <a:lnTo>
                  <a:pt x="3284737" y="0"/>
                </a:lnTo>
                <a:lnTo>
                  <a:pt x="3284737" y="1950313"/>
                </a:lnTo>
                <a:lnTo>
                  <a:pt x="0" y="1950313"/>
                </a:lnTo>
                <a:lnTo>
                  <a:pt x="0" y="0"/>
                </a:lnTo>
                <a:close/>
              </a:path>
            </a:pathLst>
          </a:custGeom>
          <a:blipFill>
            <a:blip r:embed="rId8"/>
            <a:stretch>
              <a:fillRect l="0" t="0" r="0" b="0"/>
            </a:stretch>
          </a:blipFill>
        </p:spPr>
      </p:sp>
      <p:sp>
        <p:nvSpPr>
          <p:cNvPr name="Freeform 10" id="10"/>
          <p:cNvSpPr/>
          <p:nvPr/>
        </p:nvSpPr>
        <p:spPr>
          <a:xfrm flipH="false" flipV="false" rot="0">
            <a:off x="1969292" y="5552693"/>
            <a:ext cx="3312864" cy="2319560"/>
          </a:xfrm>
          <a:custGeom>
            <a:avLst/>
            <a:gdLst/>
            <a:ahLst/>
            <a:cxnLst/>
            <a:rect r="r" b="b" t="t" l="l"/>
            <a:pathLst>
              <a:path h="2319560" w="3312864">
                <a:moveTo>
                  <a:pt x="0" y="0"/>
                </a:moveTo>
                <a:lnTo>
                  <a:pt x="3312864" y="0"/>
                </a:lnTo>
                <a:lnTo>
                  <a:pt x="3312864" y="2319560"/>
                </a:lnTo>
                <a:lnTo>
                  <a:pt x="0" y="2319560"/>
                </a:lnTo>
                <a:lnTo>
                  <a:pt x="0" y="0"/>
                </a:lnTo>
                <a:close/>
              </a:path>
            </a:pathLst>
          </a:custGeom>
          <a:blipFill>
            <a:blip r:embed="rId9"/>
            <a:stretch>
              <a:fillRect l="0" t="0" r="0" b="0"/>
            </a:stretch>
          </a:blipFill>
        </p:spPr>
      </p:sp>
      <p:sp>
        <p:nvSpPr>
          <p:cNvPr name="Freeform 11" id="11"/>
          <p:cNvSpPr/>
          <p:nvPr/>
        </p:nvSpPr>
        <p:spPr>
          <a:xfrm flipH="false" flipV="false" rot="0">
            <a:off x="12926827" y="5531756"/>
            <a:ext cx="3377968" cy="2251979"/>
          </a:xfrm>
          <a:custGeom>
            <a:avLst/>
            <a:gdLst/>
            <a:ahLst/>
            <a:cxnLst/>
            <a:rect r="r" b="b" t="t" l="l"/>
            <a:pathLst>
              <a:path h="2251979" w="3377968">
                <a:moveTo>
                  <a:pt x="0" y="0"/>
                </a:moveTo>
                <a:lnTo>
                  <a:pt x="3377968" y="0"/>
                </a:lnTo>
                <a:lnTo>
                  <a:pt x="3377968" y="2251979"/>
                </a:lnTo>
                <a:lnTo>
                  <a:pt x="0" y="2251979"/>
                </a:lnTo>
                <a:lnTo>
                  <a:pt x="0" y="0"/>
                </a:lnTo>
                <a:close/>
              </a:path>
            </a:pathLst>
          </a:custGeom>
          <a:blipFill>
            <a:blip r:embed="rId10"/>
            <a:stretch>
              <a:fillRect l="0" t="0" r="0" b="0"/>
            </a:stretch>
          </a:blipFill>
        </p:spPr>
      </p:sp>
      <p:sp>
        <p:nvSpPr>
          <p:cNvPr name="Freeform 12" id="12"/>
          <p:cNvSpPr/>
          <p:nvPr/>
        </p:nvSpPr>
        <p:spPr>
          <a:xfrm flipH="false" flipV="false" rot="0">
            <a:off x="13320580" y="1519381"/>
            <a:ext cx="2829144" cy="1926624"/>
          </a:xfrm>
          <a:custGeom>
            <a:avLst/>
            <a:gdLst/>
            <a:ahLst/>
            <a:cxnLst/>
            <a:rect r="r" b="b" t="t" l="l"/>
            <a:pathLst>
              <a:path h="1926624" w="2829144">
                <a:moveTo>
                  <a:pt x="0" y="0"/>
                </a:moveTo>
                <a:lnTo>
                  <a:pt x="2829144" y="0"/>
                </a:lnTo>
                <a:lnTo>
                  <a:pt x="2829144" y="1926623"/>
                </a:lnTo>
                <a:lnTo>
                  <a:pt x="0" y="1926623"/>
                </a:lnTo>
                <a:lnTo>
                  <a:pt x="0" y="0"/>
                </a:lnTo>
                <a:close/>
              </a:path>
            </a:pathLst>
          </a:custGeom>
          <a:blipFill>
            <a:blip r:embed="rId11"/>
            <a:stretch>
              <a:fillRect l="0" t="0" r="0" b="0"/>
            </a:stretch>
          </a:blipFill>
        </p:spPr>
      </p:sp>
      <p:sp>
        <p:nvSpPr>
          <p:cNvPr name="TextBox 13" id="13"/>
          <p:cNvSpPr txBox="true"/>
          <p:nvPr/>
        </p:nvSpPr>
        <p:spPr>
          <a:xfrm rot="0">
            <a:off x="1019175" y="1265381"/>
            <a:ext cx="14900842"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ĐIỂM</a:t>
            </a:r>
            <a:r>
              <a:rPr lang="en-US" b="true" sz="3999" spc="-147" strike="noStrike" u="none">
                <a:solidFill>
                  <a:srgbClr val="000101"/>
                </a:solidFill>
                <a:latin typeface="Montserrat Ultra-Bold"/>
                <a:ea typeface="Montserrat Ultra-Bold"/>
                <a:cs typeface="Montserrat Ultra-Bold"/>
                <a:sym typeface="Montserrat Ultra-Bold"/>
              </a:rPr>
              <a:t> KHÁC BIỆT CỦA QRTABLE</a:t>
            </a:r>
          </a:p>
        </p:txBody>
      </p:sp>
      <p:sp>
        <p:nvSpPr>
          <p:cNvPr name="TextBox 14" id="14"/>
          <p:cNvSpPr txBox="true"/>
          <p:nvPr/>
        </p:nvSpPr>
        <p:spPr>
          <a:xfrm rot="0">
            <a:off x="1139610"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5" id="15"/>
          <p:cNvSpPr txBox="true"/>
          <p:nvPr/>
        </p:nvSpPr>
        <p:spPr>
          <a:xfrm rot="0">
            <a:off x="6938454" y="4402935"/>
            <a:ext cx="4548679" cy="1397000"/>
          </a:xfrm>
          <a:prstGeom prst="rect">
            <a:avLst/>
          </a:prstGeom>
        </p:spPr>
        <p:txBody>
          <a:bodyPr anchor="t" rtlCol="false" tIns="0" lIns="0" bIns="0" rIns="0">
            <a:spAutoFit/>
          </a:bodyPr>
          <a:lstStyle/>
          <a:p>
            <a:pPr algn="just">
              <a:lnSpc>
                <a:spcPts val="2800"/>
              </a:lnSpc>
            </a:pPr>
            <a:r>
              <a:rPr lang="en-US" b="true" sz="2000" spc="-74">
                <a:solidFill>
                  <a:srgbClr val="000101"/>
                </a:solidFill>
                <a:latin typeface="Montserrat Bold"/>
                <a:ea typeface="Montserrat Bold"/>
                <a:cs typeface="Montserrat Bold"/>
                <a:sym typeface="Montserrat Bold"/>
              </a:rPr>
              <a:t>M</a:t>
            </a:r>
            <a:r>
              <a:rPr lang="en-US" b="true" sz="2000" spc="-74">
                <a:solidFill>
                  <a:srgbClr val="000101"/>
                </a:solidFill>
                <a:latin typeface="Montserrat Bold"/>
                <a:ea typeface="Montserrat Bold"/>
                <a:cs typeface="Montserrat Bold"/>
                <a:sym typeface="Montserrat Bold"/>
              </a:rPr>
              <a:t>ột giao diện POS có thể quen thuộc; độ khó nằm ở việc nhiều nhà hàng và nhiều tác nhân cùng tham gia một luồng trạng thái.</a:t>
            </a:r>
          </a:p>
        </p:txBody>
      </p:sp>
      <p:sp>
        <p:nvSpPr>
          <p:cNvPr name="TextBox 16" id="16"/>
          <p:cNvSpPr txBox="true"/>
          <p:nvPr/>
        </p:nvSpPr>
        <p:spPr>
          <a:xfrm rot="0">
            <a:off x="1971535" y="4250943"/>
            <a:ext cx="3139286" cy="1044575"/>
          </a:xfrm>
          <a:prstGeom prst="rect">
            <a:avLst/>
          </a:prstGeom>
        </p:spPr>
        <p:txBody>
          <a:bodyPr anchor="t" rtlCol="false" tIns="0" lIns="0" bIns="0" rIns="0">
            <a:spAutoFit/>
          </a:bodyPr>
          <a:lstStyle/>
          <a:p>
            <a:pPr algn="just">
              <a:lnSpc>
                <a:spcPts val="2800"/>
              </a:lnSpc>
            </a:pPr>
            <a:r>
              <a:rPr lang="en-US" b="true" sz="2000" spc="-74">
                <a:solidFill>
                  <a:srgbClr val="000101"/>
                </a:solidFill>
                <a:latin typeface="Montserrat Bold"/>
                <a:ea typeface="Montserrat Bold"/>
                <a:cs typeface="Montserrat Bold"/>
                <a:sym typeface="Montserrat Bold"/>
              </a:rPr>
              <a:t>Một</a:t>
            </a:r>
            <a:r>
              <a:rPr lang="en-US" b="true" sz="2000" spc="-74">
                <a:solidFill>
                  <a:srgbClr val="000101"/>
                </a:solidFill>
                <a:latin typeface="Montserrat Bold"/>
                <a:ea typeface="Montserrat Bold"/>
                <a:cs typeface="Montserrat Bold"/>
                <a:sym typeface="Montserrat Bold"/>
              </a:rPr>
              <a:t> nền tảng phục vụ nhiều nhà hàng.</a:t>
            </a:r>
          </a:p>
          <a:p>
            <a:pPr algn="just">
              <a:lnSpc>
                <a:spcPts val="2800"/>
              </a:lnSpc>
            </a:pPr>
          </a:p>
        </p:txBody>
      </p:sp>
      <p:sp>
        <p:nvSpPr>
          <p:cNvPr name="TextBox 17" id="17"/>
          <p:cNvSpPr txBox="true"/>
          <p:nvPr/>
        </p:nvSpPr>
        <p:spPr>
          <a:xfrm rot="0">
            <a:off x="2142870" y="8042037"/>
            <a:ext cx="3139286" cy="692150"/>
          </a:xfrm>
          <a:prstGeom prst="rect">
            <a:avLst/>
          </a:prstGeom>
        </p:spPr>
        <p:txBody>
          <a:bodyPr anchor="t" rtlCol="false" tIns="0" lIns="0" bIns="0" rIns="0">
            <a:spAutoFit/>
          </a:bodyPr>
          <a:lstStyle/>
          <a:p>
            <a:pPr algn="just">
              <a:lnSpc>
                <a:spcPts val="2800"/>
              </a:lnSpc>
            </a:pPr>
            <a:r>
              <a:rPr lang="en-US" b="true" sz="2000" spc="-74">
                <a:solidFill>
                  <a:srgbClr val="000101"/>
                </a:solidFill>
                <a:latin typeface="Montserrat Bold"/>
                <a:ea typeface="Montserrat Bold"/>
                <a:cs typeface="Montserrat Bold"/>
                <a:sym typeface="Montserrat Bold"/>
              </a:rPr>
              <a:t>Nhiều khác</a:t>
            </a:r>
            <a:r>
              <a:rPr lang="en-US" b="true" sz="2000" spc="-74">
                <a:solidFill>
                  <a:srgbClr val="000101"/>
                </a:solidFill>
                <a:latin typeface="Montserrat Bold"/>
                <a:ea typeface="Montserrat Bold"/>
                <a:cs typeface="Montserrat Bold"/>
                <a:sym typeface="Montserrat Bold"/>
              </a:rPr>
              <a:t>h cùng gọi món tại một bàn</a:t>
            </a:r>
          </a:p>
        </p:txBody>
      </p:sp>
      <p:sp>
        <p:nvSpPr>
          <p:cNvPr name="TextBox 18" id="18"/>
          <p:cNvSpPr txBox="true"/>
          <p:nvPr/>
        </p:nvSpPr>
        <p:spPr>
          <a:xfrm rot="0">
            <a:off x="13046168" y="7964710"/>
            <a:ext cx="3139286" cy="1397000"/>
          </a:xfrm>
          <a:prstGeom prst="rect">
            <a:avLst/>
          </a:prstGeom>
        </p:spPr>
        <p:txBody>
          <a:bodyPr anchor="t" rtlCol="false" tIns="0" lIns="0" bIns="0" rIns="0">
            <a:spAutoFit/>
          </a:bodyPr>
          <a:lstStyle/>
          <a:p>
            <a:pPr algn="just">
              <a:lnSpc>
                <a:spcPts val="2800"/>
              </a:lnSpc>
            </a:pPr>
            <a:r>
              <a:rPr lang="en-US" b="true" sz="2000" spc="-74">
                <a:solidFill>
                  <a:srgbClr val="000101"/>
                </a:solidFill>
                <a:latin typeface="Montserrat Bold"/>
                <a:ea typeface="Montserrat Bold"/>
                <a:cs typeface="Montserrat Bold"/>
                <a:sym typeface="Montserrat Bold"/>
              </a:rPr>
              <a:t>Giỏ mó</a:t>
            </a:r>
            <a:r>
              <a:rPr lang="en-US" b="true" sz="2000" spc="-74">
                <a:solidFill>
                  <a:srgbClr val="000101"/>
                </a:solidFill>
                <a:latin typeface="Montserrat Bold"/>
                <a:ea typeface="Montserrat Bold"/>
                <a:cs typeface="Montserrat Bold"/>
                <a:sym typeface="Montserrat Bold"/>
              </a:rPr>
              <a:t>n, đơn hàng, bếp và thanh toán có các mốc bàn giao rõ ràng.</a:t>
            </a:r>
          </a:p>
          <a:p>
            <a:pPr algn="just">
              <a:lnSpc>
                <a:spcPts val="2800"/>
              </a:lnSpc>
            </a:pPr>
          </a:p>
        </p:txBody>
      </p:sp>
      <p:sp>
        <p:nvSpPr>
          <p:cNvPr name="TextBox 19" id="19"/>
          <p:cNvSpPr txBox="true"/>
          <p:nvPr/>
        </p:nvSpPr>
        <p:spPr>
          <a:xfrm rot="0">
            <a:off x="13165509" y="3746500"/>
            <a:ext cx="3139286" cy="1397000"/>
          </a:xfrm>
          <a:prstGeom prst="rect">
            <a:avLst/>
          </a:prstGeom>
        </p:spPr>
        <p:txBody>
          <a:bodyPr anchor="t" rtlCol="false" tIns="0" lIns="0" bIns="0" rIns="0">
            <a:spAutoFit/>
          </a:bodyPr>
          <a:lstStyle/>
          <a:p>
            <a:pPr algn="just">
              <a:lnSpc>
                <a:spcPts val="2800"/>
              </a:lnSpc>
            </a:pPr>
            <a:r>
              <a:rPr lang="en-US" b="true" sz="2000" spc="-74">
                <a:solidFill>
                  <a:srgbClr val="000101"/>
                </a:solidFill>
                <a:latin typeface="Montserrat Bold"/>
                <a:ea typeface="Montserrat Bold"/>
                <a:cs typeface="Montserrat Bold"/>
                <a:sym typeface="Montserrat Bold"/>
              </a:rPr>
              <a:t>Yêu cầu gửi lại hoặc</a:t>
            </a:r>
            <a:r>
              <a:rPr lang="en-US" b="true" sz="2000" spc="-74">
                <a:solidFill>
                  <a:srgbClr val="000101"/>
                </a:solidFill>
                <a:latin typeface="Montserrat Bold"/>
                <a:ea typeface="Montserrat Bold"/>
                <a:cs typeface="Montserrat Bold"/>
                <a:sym typeface="Montserrat Bold"/>
              </a:rPr>
              <a:t> lỗi giữa chừng không được tạo kết quả sai.</a:t>
            </a:r>
          </a:p>
          <a:p>
            <a:pPr algn="just">
              <a:lnSpc>
                <a:spcPts val="2800"/>
              </a:lnSpc>
            </a:pPr>
          </a:p>
        </p:txBody>
      </p:sp>
      <p:sp>
        <p:nvSpPr>
          <p:cNvPr name="AutoShape 20" id="20"/>
          <p:cNvSpPr/>
          <p:nvPr/>
        </p:nvSpPr>
        <p:spPr>
          <a:xfrm>
            <a:off x="5183547" y="3055024"/>
            <a:ext cx="1472069" cy="1288479"/>
          </a:xfrm>
          <a:prstGeom prst="line">
            <a:avLst/>
          </a:prstGeom>
          <a:ln cap="flat" w="38100">
            <a:solidFill>
              <a:srgbClr val="000000"/>
            </a:solidFill>
            <a:prstDash val="solid"/>
            <a:headEnd type="none" len="sm" w="sm"/>
            <a:tailEnd type="triangle" len="med" w="lg"/>
          </a:ln>
        </p:spPr>
      </p:sp>
      <p:sp>
        <p:nvSpPr>
          <p:cNvPr name="AutoShape 21" id="21"/>
          <p:cNvSpPr/>
          <p:nvPr/>
        </p:nvSpPr>
        <p:spPr>
          <a:xfrm flipV="true">
            <a:off x="5282156" y="5882451"/>
            <a:ext cx="1373501" cy="830022"/>
          </a:xfrm>
          <a:prstGeom prst="line">
            <a:avLst/>
          </a:prstGeom>
          <a:ln cap="flat" w="38100">
            <a:solidFill>
              <a:srgbClr val="000000"/>
            </a:solidFill>
            <a:prstDash val="solid"/>
            <a:headEnd type="none" len="sm" w="sm"/>
            <a:tailEnd type="triangle" len="med" w="lg"/>
          </a:ln>
        </p:spPr>
      </p:sp>
      <p:sp>
        <p:nvSpPr>
          <p:cNvPr name="AutoShape 22" id="22"/>
          <p:cNvSpPr/>
          <p:nvPr/>
        </p:nvSpPr>
        <p:spPr>
          <a:xfrm flipH="true">
            <a:off x="11778491" y="2482692"/>
            <a:ext cx="1542089" cy="1777373"/>
          </a:xfrm>
          <a:prstGeom prst="line">
            <a:avLst/>
          </a:prstGeom>
          <a:ln cap="flat" w="38100">
            <a:solidFill>
              <a:srgbClr val="000000"/>
            </a:solidFill>
            <a:prstDash val="solid"/>
            <a:headEnd type="none" len="sm" w="sm"/>
            <a:tailEnd type="triangle" len="med" w="lg"/>
          </a:ln>
        </p:spPr>
      </p:sp>
      <p:sp>
        <p:nvSpPr>
          <p:cNvPr name="AutoShape 23" id="23"/>
          <p:cNvSpPr/>
          <p:nvPr/>
        </p:nvSpPr>
        <p:spPr>
          <a:xfrm flipH="true" flipV="true">
            <a:off x="11716064" y="6016028"/>
            <a:ext cx="1210763" cy="641717"/>
          </a:xfrm>
          <a:prstGeom prst="line">
            <a:avLst/>
          </a:prstGeom>
          <a:ln cap="flat" w="38100">
            <a:solidFill>
              <a:srgbClr val="000000"/>
            </a:solidFill>
            <a:prstDash val="solid"/>
            <a:headEnd type="none" len="sm" w="sm"/>
            <a:tailEnd type="triangle" len="med" w="lg"/>
          </a:ln>
        </p:spPr>
      </p:sp>
      <p:grpSp>
        <p:nvGrpSpPr>
          <p:cNvPr name="Group 24" id="24"/>
          <p:cNvGrpSpPr/>
          <p:nvPr/>
        </p:nvGrpSpPr>
        <p:grpSpPr>
          <a:xfrm rot="-131315">
            <a:off x="1020231" y="9695400"/>
            <a:ext cx="5913770" cy="346177"/>
            <a:chOff x="0" y="0"/>
            <a:chExt cx="4996169" cy="292463"/>
          </a:xfrm>
        </p:grpSpPr>
        <p:sp>
          <p:nvSpPr>
            <p:cNvPr name="Freeform 25" id="25"/>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000101"/>
            </a:solidFill>
            <a:ln w="47625" cap="sq">
              <a:solidFill>
                <a:srgbClr val="000000"/>
              </a:solidFill>
              <a:prstDash val="solid"/>
              <a:miter/>
            </a:ln>
          </p:spPr>
        </p:sp>
        <p:sp>
          <p:nvSpPr>
            <p:cNvPr name="TextBox 26" id="26"/>
            <p:cNvSpPr txBox="true"/>
            <p:nvPr/>
          </p:nvSpPr>
          <p:spPr>
            <a:xfrm>
              <a:off x="0" y="-38100"/>
              <a:ext cx="499616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27" id="27"/>
          <p:cNvGrpSpPr/>
          <p:nvPr/>
        </p:nvGrpSpPr>
        <p:grpSpPr>
          <a:xfrm rot="-131315">
            <a:off x="922776" y="9664429"/>
            <a:ext cx="5913770" cy="346177"/>
            <a:chOff x="0" y="0"/>
            <a:chExt cx="4996169" cy="292463"/>
          </a:xfrm>
        </p:grpSpPr>
        <p:sp>
          <p:nvSpPr>
            <p:cNvPr name="Freeform 28" id="28"/>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FFFFFF"/>
            </a:solidFill>
            <a:ln w="47625" cap="sq">
              <a:solidFill>
                <a:srgbClr val="000000"/>
              </a:solidFill>
              <a:prstDash val="solid"/>
              <a:miter/>
            </a:ln>
          </p:spPr>
        </p:sp>
        <p:sp>
          <p:nvSpPr>
            <p:cNvPr name="TextBox 29" id="29"/>
            <p:cNvSpPr txBox="true"/>
            <p:nvPr/>
          </p:nvSpPr>
          <p:spPr>
            <a:xfrm>
              <a:off x="0" y="-38100"/>
              <a:ext cx="4996169" cy="330563"/>
            </a:xfrm>
            <a:prstGeom prst="rect">
              <a:avLst/>
            </a:prstGeom>
          </p:spPr>
          <p:txBody>
            <a:bodyPr anchor="ctr" rtlCol="false" tIns="50800" lIns="50800" bIns="50800" rIns="50800"/>
            <a:lstStyle/>
            <a:p>
              <a:pPr algn="ctr">
                <a:lnSpc>
                  <a:spcPts val="2800"/>
                </a:lnSpc>
              </a:pPr>
            </a:p>
          </p:txBody>
        </p:sp>
      </p:grpSp>
      <p:sp>
        <p:nvSpPr>
          <p:cNvPr name="TextBox 30" id="30"/>
          <p:cNvSpPr txBox="true"/>
          <p:nvPr/>
        </p:nvSpPr>
        <p:spPr>
          <a:xfrm rot="-114702">
            <a:off x="1021844" y="9707507"/>
            <a:ext cx="5714680"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BÀI TOÁN POS THEO MÔ HÌNH SAAS TÍCH HỢP ĐẶT MÓN QUA QR</a:t>
            </a:r>
          </a:p>
        </p:txBody>
      </p:sp>
      <p:sp>
        <p:nvSpPr>
          <p:cNvPr name="TextBox 31" id="31"/>
          <p:cNvSpPr txBox="true"/>
          <p:nvPr/>
        </p:nvSpPr>
        <p:spPr>
          <a:xfrm rot="0">
            <a:off x="323493" y="9669403"/>
            <a:ext cx="1682265"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0">
            <a:off x="836394" y="2735406"/>
            <a:ext cx="2483079" cy="4943066"/>
            <a:chOff x="0" y="0"/>
            <a:chExt cx="791950" cy="1576536"/>
          </a:xfrm>
        </p:grpSpPr>
        <p:sp>
          <p:nvSpPr>
            <p:cNvPr name="Freeform 3" id="3"/>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4" id="4"/>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5" id="5"/>
          <p:cNvSpPr/>
          <p:nvPr/>
        </p:nvSpPr>
        <p:spPr>
          <a:xfrm flipH="true">
            <a:off x="1041057" y="5192517"/>
            <a:ext cx="2058887" cy="0"/>
          </a:xfrm>
          <a:prstGeom prst="line">
            <a:avLst/>
          </a:prstGeom>
          <a:ln cap="flat" w="19050">
            <a:solidFill>
              <a:srgbClr val="000000"/>
            </a:solidFill>
            <a:prstDash val="solid"/>
            <a:headEnd type="none" len="sm" w="sm"/>
            <a:tailEnd type="none" len="sm" w="sm"/>
          </a:ln>
        </p:spPr>
      </p:sp>
      <p:sp>
        <p:nvSpPr>
          <p:cNvPr name="Freeform 6" id="6"/>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7" id="7"/>
          <p:cNvSpPr/>
          <p:nvPr/>
        </p:nvSpPr>
        <p:spPr>
          <a:xfrm flipH="false" flipV="false" rot="0">
            <a:off x="1197236" y="3477604"/>
            <a:ext cx="1746529" cy="1388491"/>
          </a:xfrm>
          <a:custGeom>
            <a:avLst/>
            <a:gdLst/>
            <a:ahLst/>
            <a:cxnLst/>
            <a:rect r="r" b="b" t="t" l="l"/>
            <a:pathLst>
              <a:path h="1388491" w="1746529">
                <a:moveTo>
                  <a:pt x="0" y="0"/>
                </a:moveTo>
                <a:lnTo>
                  <a:pt x="1746530" y="0"/>
                </a:lnTo>
                <a:lnTo>
                  <a:pt x="1746530" y="1388491"/>
                </a:lnTo>
                <a:lnTo>
                  <a:pt x="0" y="1388491"/>
                </a:lnTo>
                <a:lnTo>
                  <a:pt x="0" y="0"/>
                </a:lnTo>
                <a:close/>
              </a:path>
            </a:pathLst>
          </a:custGeom>
          <a:blipFill>
            <a:blip r:embed="rId4"/>
            <a:stretch>
              <a:fillRect l="0" t="0" r="0" b="0"/>
            </a:stretch>
          </a:blipFill>
        </p:spPr>
      </p:sp>
      <p:grpSp>
        <p:nvGrpSpPr>
          <p:cNvPr name="Group 8" id="8"/>
          <p:cNvGrpSpPr/>
          <p:nvPr/>
        </p:nvGrpSpPr>
        <p:grpSpPr>
          <a:xfrm rot="0">
            <a:off x="3664611" y="2735406"/>
            <a:ext cx="2483079" cy="4943066"/>
            <a:chOff x="0" y="0"/>
            <a:chExt cx="791950" cy="1576536"/>
          </a:xfrm>
        </p:grpSpPr>
        <p:sp>
          <p:nvSpPr>
            <p:cNvPr name="Freeform 9" id="9"/>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10" id="10"/>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11" id="11"/>
          <p:cNvSpPr/>
          <p:nvPr/>
        </p:nvSpPr>
        <p:spPr>
          <a:xfrm flipH="true">
            <a:off x="3869274" y="5192517"/>
            <a:ext cx="2058887" cy="0"/>
          </a:xfrm>
          <a:prstGeom prst="line">
            <a:avLst/>
          </a:prstGeom>
          <a:ln cap="flat" w="19050">
            <a:solidFill>
              <a:srgbClr val="000000"/>
            </a:solidFill>
            <a:prstDash val="solid"/>
            <a:headEnd type="none" len="sm" w="sm"/>
            <a:tailEnd type="none" len="sm" w="sm"/>
          </a:ln>
        </p:spPr>
      </p:sp>
      <p:grpSp>
        <p:nvGrpSpPr>
          <p:cNvPr name="Group 12" id="12"/>
          <p:cNvGrpSpPr/>
          <p:nvPr/>
        </p:nvGrpSpPr>
        <p:grpSpPr>
          <a:xfrm rot="0">
            <a:off x="6490590" y="2735406"/>
            <a:ext cx="2483079" cy="4943066"/>
            <a:chOff x="0" y="0"/>
            <a:chExt cx="791950" cy="1576536"/>
          </a:xfrm>
        </p:grpSpPr>
        <p:sp>
          <p:nvSpPr>
            <p:cNvPr name="Freeform 13" id="13"/>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14" id="14"/>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15" id="15"/>
          <p:cNvSpPr/>
          <p:nvPr/>
        </p:nvSpPr>
        <p:spPr>
          <a:xfrm flipH="true">
            <a:off x="6695253" y="5192517"/>
            <a:ext cx="2058887" cy="0"/>
          </a:xfrm>
          <a:prstGeom prst="line">
            <a:avLst/>
          </a:prstGeom>
          <a:ln cap="flat" w="19050">
            <a:solidFill>
              <a:srgbClr val="000000"/>
            </a:solidFill>
            <a:prstDash val="solid"/>
            <a:headEnd type="none" len="sm" w="sm"/>
            <a:tailEnd type="none" len="sm" w="sm"/>
          </a:ln>
        </p:spPr>
      </p:sp>
      <p:grpSp>
        <p:nvGrpSpPr>
          <p:cNvPr name="Group 16" id="16"/>
          <p:cNvGrpSpPr/>
          <p:nvPr/>
        </p:nvGrpSpPr>
        <p:grpSpPr>
          <a:xfrm rot="0">
            <a:off x="9316569" y="2735406"/>
            <a:ext cx="2483079" cy="4943066"/>
            <a:chOff x="0" y="0"/>
            <a:chExt cx="791950" cy="1576536"/>
          </a:xfrm>
        </p:grpSpPr>
        <p:sp>
          <p:nvSpPr>
            <p:cNvPr name="Freeform 17" id="17"/>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18" id="18"/>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19" id="19"/>
          <p:cNvSpPr/>
          <p:nvPr/>
        </p:nvSpPr>
        <p:spPr>
          <a:xfrm flipH="true">
            <a:off x="9521232" y="5192517"/>
            <a:ext cx="2058887" cy="0"/>
          </a:xfrm>
          <a:prstGeom prst="line">
            <a:avLst/>
          </a:prstGeom>
          <a:ln cap="flat" w="19050">
            <a:solidFill>
              <a:srgbClr val="000000"/>
            </a:solidFill>
            <a:prstDash val="solid"/>
            <a:headEnd type="none" len="sm" w="sm"/>
            <a:tailEnd type="none" len="sm" w="sm"/>
          </a:ln>
        </p:spPr>
      </p:sp>
      <p:grpSp>
        <p:nvGrpSpPr>
          <p:cNvPr name="Group 20" id="20"/>
          <p:cNvGrpSpPr/>
          <p:nvPr/>
        </p:nvGrpSpPr>
        <p:grpSpPr>
          <a:xfrm rot="0">
            <a:off x="12142548" y="2735406"/>
            <a:ext cx="2483079" cy="4943066"/>
            <a:chOff x="0" y="0"/>
            <a:chExt cx="791950" cy="1576536"/>
          </a:xfrm>
        </p:grpSpPr>
        <p:sp>
          <p:nvSpPr>
            <p:cNvPr name="Freeform 21" id="21"/>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22" id="22"/>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23" id="23"/>
          <p:cNvSpPr/>
          <p:nvPr/>
        </p:nvSpPr>
        <p:spPr>
          <a:xfrm flipH="true">
            <a:off x="12347211" y="5192517"/>
            <a:ext cx="2058887" cy="0"/>
          </a:xfrm>
          <a:prstGeom prst="line">
            <a:avLst/>
          </a:prstGeom>
          <a:ln cap="flat" w="19050">
            <a:solidFill>
              <a:srgbClr val="000000"/>
            </a:solidFill>
            <a:prstDash val="solid"/>
            <a:headEnd type="none" len="sm" w="sm"/>
            <a:tailEnd type="none" len="sm" w="sm"/>
          </a:ln>
        </p:spPr>
      </p:sp>
      <p:grpSp>
        <p:nvGrpSpPr>
          <p:cNvPr name="Group 24" id="24"/>
          <p:cNvGrpSpPr/>
          <p:nvPr/>
        </p:nvGrpSpPr>
        <p:grpSpPr>
          <a:xfrm rot="0">
            <a:off x="14968527" y="2735406"/>
            <a:ext cx="2483079" cy="4943066"/>
            <a:chOff x="0" y="0"/>
            <a:chExt cx="791950" cy="1576536"/>
          </a:xfrm>
        </p:grpSpPr>
        <p:sp>
          <p:nvSpPr>
            <p:cNvPr name="Freeform 25" id="25"/>
            <p:cNvSpPr/>
            <p:nvPr/>
          </p:nvSpPr>
          <p:spPr>
            <a:xfrm flipH="false" flipV="false" rot="0">
              <a:off x="0" y="0"/>
              <a:ext cx="791950" cy="1576536"/>
            </a:xfrm>
            <a:custGeom>
              <a:avLst/>
              <a:gdLst/>
              <a:ahLst/>
              <a:cxnLst/>
              <a:rect r="r" b="b" t="t" l="l"/>
              <a:pathLst>
                <a:path h="1576536" w="791950">
                  <a:moveTo>
                    <a:pt x="53004" y="0"/>
                  </a:moveTo>
                  <a:lnTo>
                    <a:pt x="738946" y="0"/>
                  </a:lnTo>
                  <a:cubicBezTo>
                    <a:pt x="753004" y="0"/>
                    <a:pt x="766486" y="5584"/>
                    <a:pt x="776426" y="15524"/>
                  </a:cubicBezTo>
                  <a:cubicBezTo>
                    <a:pt x="786366" y="25465"/>
                    <a:pt x="791950" y="38946"/>
                    <a:pt x="791950" y="53004"/>
                  </a:cubicBezTo>
                  <a:lnTo>
                    <a:pt x="791950" y="1523532"/>
                  </a:lnTo>
                  <a:cubicBezTo>
                    <a:pt x="791950" y="1552805"/>
                    <a:pt x="768220" y="1576536"/>
                    <a:pt x="738946" y="1576536"/>
                  </a:cubicBezTo>
                  <a:lnTo>
                    <a:pt x="53004" y="1576536"/>
                  </a:lnTo>
                  <a:cubicBezTo>
                    <a:pt x="38946" y="1576536"/>
                    <a:pt x="25465" y="1570951"/>
                    <a:pt x="15524" y="1561011"/>
                  </a:cubicBezTo>
                  <a:cubicBezTo>
                    <a:pt x="5584" y="1551071"/>
                    <a:pt x="0" y="1537589"/>
                    <a:pt x="0" y="1523532"/>
                  </a:cubicBezTo>
                  <a:lnTo>
                    <a:pt x="0" y="53004"/>
                  </a:lnTo>
                  <a:cubicBezTo>
                    <a:pt x="0" y="23731"/>
                    <a:pt x="23731" y="0"/>
                    <a:pt x="53004" y="0"/>
                  </a:cubicBezTo>
                  <a:close/>
                </a:path>
              </a:pathLst>
            </a:custGeom>
            <a:solidFill>
              <a:srgbClr val="22D3EE"/>
            </a:solidFill>
          </p:spPr>
        </p:sp>
        <p:sp>
          <p:nvSpPr>
            <p:cNvPr name="TextBox 26" id="26"/>
            <p:cNvSpPr txBox="true"/>
            <p:nvPr/>
          </p:nvSpPr>
          <p:spPr>
            <a:xfrm>
              <a:off x="0" y="-47625"/>
              <a:ext cx="791950" cy="1624161"/>
            </a:xfrm>
            <a:prstGeom prst="rect">
              <a:avLst/>
            </a:prstGeom>
          </p:spPr>
          <p:txBody>
            <a:bodyPr anchor="ctr" rtlCol="false" tIns="50800" lIns="50800" bIns="50800" rIns="50800"/>
            <a:lstStyle/>
            <a:p>
              <a:pPr algn="ctr">
                <a:lnSpc>
                  <a:spcPts val="3500"/>
                </a:lnSpc>
              </a:pPr>
            </a:p>
          </p:txBody>
        </p:sp>
      </p:grpSp>
      <p:sp>
        <p:nvSpPr>
          <p:cNvPr name="AutoShape 27" id="27"/>
          <p:cNvSpPr/>
          <p:nvPr/>
        </p:nvSpPr>
        <p:spPr>
          <a:xfrm flipH="true">
            <a:off x="15173190" y="5192517"/>
            <a:ext cx="2058887" cy="0"/>
          </a:xfrm>
          <a:prstGeom prst="line">
            <a:avLst/>
          </a:prstGeom>
          <a:ln cap="flat" w="19050">
            <a:solidFill>
              <a:srgbClr val="000000"/>
            </a:solidFill>
            <a:prstDash val="solid"/>
            <a:headEnd type="none" len="sm" w="sm"/>
            <a:tailEnd type="none" len="sm" w="sm"/>
          </a:ln>
        </p:spPr>
      </p:sp>
      <p:sp>
        <p:nvSpPr>
          <p:cNvPr name="Freeform 28" id="28"/>
          <p:cNvSpPr/>
          <p:nvPr/>
        </p:nvSpPr>
        <p:spPr>
          <a:xfrm flipH="false" flipV="false" rot="0">
            <a:off x="4175220" y="3477604"/>
            <a:ext cx="1446996" cy="1543463"/>
          </a:xfrm>
          <a:custGeom>
            <a:avLst/>
            <a:gdLst/>
            <a:ahLst/>
            <a:cxnLst/>
            <a:rect r="r" b="b" t="t" l="l"/>
            <a:pathLst>
              <a:path h="1543463" w="1446996">
                <a:moveTo>
                  <a:pt x="0" y="0"/>
                </a:moveTo>
                <a:lnTo>
                  <a:pt x="1446996" y="0"/>
                </a:lnTo>
                <a:lnTo>
                  <a:pt x="1446996" y="1543463"/>
                </a:lnTo>
                <a:lnTo>
                  <a:pt x="0" y="1543463"/>
                </a:lnTo>
                <a:lnTo>
                  <a:pt x="0" y="0"/>
                </a:lnTo>
                <a:close/>
              </a:path>
            </a:pathLst>
          </a:custGeom>
          <a:blipFill>
            <a:blip r:embed="rId5"/>
            <a:stretch>
              <a:fillRect l="0" t="0" r="0" b="0"/>
            </a:stretch>
          </a:blipFill>
        </p:spPr>
      </p:sp>
      <p:sp>
        <p:nvSpPr>
          <p:cNvPr name="Freeform 29" id="29"/>
          <p:cNvSpPr/>
          <p:nvPr/>
        </p:nvSpPr>
        <p:spPr>
          <a:xfrm flipH="false" flipV="false" rot="0">
            <a:off x="6796636" y="3477604"/>
            <a:ext cx="1932020" cy="1449852"/>
          </a:xfrm>
          <a:custGeom>
            <a:avLst/>
            <a:gdLst/>
            <a:ahLst/>
            <a:cxnLst/>
            <a:rect r="r" b="b" t="t" l="l"/>
            <a:pathLst>
              <a:path h="1449852" w="1932020">
                <a:moveTo>
                  <a:pt x="0" y="0"/>
                </a:moveTo>
                <a:lnTo>
                  <a:pt x="1932020" y="0"/>
                </a:lnTo>
                <a:lnTo>
                  <a:pt x="1932020" y="1449853"/>
                </a:lnTo>
                <a:lnTo>
                  <a:pt x="0" y="1449853"/>
                </a:lnTo>
                <a:lnTo>
                  <a:pt x="0" y="0"/>
                </a:lnTo>
                <a:close/>
              </a:path>
            </a:pathLst>
          </a:custGeom>
          <a:blipFill>
            <a:blip r:embed="rId6"/>
            <a:stretch>
              <a:fillRect l="0" t="0" r="0" b="0"/>
            </a:stretch>
          </a:blipFill>
        </p:spPr>
      </p:sp>
      <p:sp>
        <p:nvSpPr>
          <p:cNvPr name="Freeform 30" id="30"/>
          <p:cNvSpPr/>
          <p:nvPr/>
        </p:nvSpPr>
        <p:spPr>
          <a:xfrm flipH="false" flipV="false" rot="0">
            <a:off x="9628686" y="3534784"/>
            <a:ext cx="1855824" cy="1392672"/>
          </a:xfrm>
          <a:custGeom>
            <a:avLst/>
            <a:gdLst/>
            <a:ahLst/>
            <a:cxnLst/>
            <a:rect r="r" b="b" t="t" l="l"/>
            <a:pathLst>
              <a:path h="1392672" w="1855824">
                <a:moveTo>
                  <a:pt x="0" y="0"/>
                </a:moveTo>
                <a:lnTo>
                  <a:pt x="1855825" y="0"/>
                </a:lnTo>
                <a:lnTo>
                  <a:pt x="1855825" y="1392673"/>
                </a:lnTo>
                <a:lnTo>
                  <a:pt x="0" y="1392673"/>
                </a:lnTo>
                <a:lnTo>
                  <a:pt x="0" y="0"/>
                </a:lnTo>
                <a:close/>
              </a:path>
            </a:pathLst>
          </a:custGeom>
          <a:blipFill>
            <a:blip r:embed="rId7"/>
            <a:stretch>
              <a:fillRect l="0" t="0" r="0" b="0"/>
            </a:stretch>
          </a:blipFill>
        </p:spPr>
      </p:sp>
      <p:sp>
        <p:nvSpPr>
          <p:cNvPr name="Freeform 31" id="31"/>
          <p:cNvSpPr/>
          <p:nvPr/>
        </p:nvSpPr>
        <p:spPr>
          <a:xfrm flipH="false" flipV="false" rot="0">
            <a:off x="12306741" y="3302835"/>
            <a:ext cx="2154693" cy="1616953"/>
          </a:xfrm>
          <a:custGeom>
            <a:avLst/>
            <a:gdLst/>
            <a:ahLst/>
            <a:cxnLst/>
            <a:rect r="r" b="b" t="t" l="l"/>
            <a:pathLst>
              <a:path h="1616953" w="2154693">
                <a:moveTo>
                  <a:pt x="0" y="0"/>
                </a:moveTo>
                <a:lnTo>
                  <a:pt x="2154693" y="0"/>
                </a:lnTo>
                <a:lnTo>
                  <a:pt x="2154693" y="1616954"/>
                </a:lnTo>
                <a:lnTo>
                  <a:pt x="0" y="1616954"/>
                </a:lnTo>
                <a:lnTo>
                  <a:pt x="0" y="0"/>
                </a:lnTo>
                <a:close/>
              </a:path>
            </a:pathLst>
          </a:custGeom>
          <a:blipFill>
            <a:blip r:embed="rId8"/>
            <a:stretch>
              <a:fillRect l="0" t="0" r="0" b="0"/>
            </a:stretch>
          </a:blipFill>
        </p:spPr>
      </p:sp>
      <p:sp>
        <p:nvSpPr>
          <p:cNvPr name="Freeform 32" id="32"/>
          <p:cNvSpPr/>
          <p:nvPr/>
        </p:nvSpPr>
        <p:spPr>
          <a:xfrm flipH="false" flipV="false" rot="0">
            <a:off x="15173903" y="3368827"/>
            <a:ext cx="1946708" cy="1460874"/>
          </a:xfrm>
          <a:custGeom>
            <a:avLst/>
            <a:gdLst/>
            <a:ahLst/>
            <a:cxnLst/>
            <a:rect r="r" b="b" t="t" l="l"/>
            <a:pathLst>
              <a:path h="1460874" w="1946708">
                <a:moveTo>
                  <a:pt x="0" y="0"/>
                </a:moveTo>
                <a:lnTo>
                  <a:pt x="1946707" y="0"/>
                </a:lnTo>
                <a:lnTo>
                  <a:pt x="1946707" y="1460874"/>
                </a:lnTo>
                <a:lnTo>
                  <a:pt x="0" y="1460874"/>
                </a:lnTo>
                <a:lnTo>
                  <a:pt x="0" y="0"/>
                </a:lnTo>
                <a:close/>
              </a:path>
            </a:pathLst>
          </a:custGeom>
          <a:blipFill>
            <a:blip r:embed="rId9"/>
            <a:stretch>
              <a:fillRect l="0" t="0" r="0" b="0"/>
            </a:stretch>
          </a:blipFill>
        </p:spPr>
      </p:sp>
      <p:sp>
        <p:nvSpPr>
          <p:cNvPr name="TextBox 33" id="33"/>
          <p:cNvSpPr txBox="true"/>
          <p:nvPr/>
        </p:nvSpPr>
        <p:spPr>
          <a:xfrm rot="0">
            <a:off x="1041770" y="5324296"/>
            <a:ext cx="2072328" cy="179574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QR</a:t>
            </a:r>
            <a:r>
              <a:rPr lang="en-US" sz="2051" spc="-75">
                <a:solidFill>
                  <a:srgbClr val="000101"/>
                </a:solidFill>
                <a:latin typeface="Montserrat"/>
                <a:ea typeface="Montserrat"/>
                <a:cs typeface="Montserrat"/>
                <a:sym typeface="Montserrat"/>
              </a:rPr>
              <a:t> hợp lệ mở hoặc nối tiếp phiên phục vụ theo nhà hàng/bàn.</a:t>
            </a:r>
          </a:p>
        </p:txBody>
      </p:sp>
      <p:sp>
        <p:nvSpPr>
          <p:cNvPr name="TextBox 34" id="34"/>
          <p:cNvSpPr txBox="true"/>
          <p:nvPr/>
        </p:nvSpPr>
        <p:spPr>
          <a:xfrm rot="0">
            <a:off x="1151708" y="2716356"/>
            <a:ext cx="1837587" cy="315468"/>
          </a:xfrm>
          <a:prstGeom prst="rect">
            <a:avLst/>
          </a:prstGeom>
        </p:spPr>
        <p:txBody>
          <a:bodyPr anchor="t" rtlCol="false" tIns="0" lIns="0" bIns="0" rIns="0">
            <a:spAutoFit/>
          </a:bodyPr>
          <a:lstStyle/>
          <a:p>
            <a:pPr algn="l"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01 -QR SESSION</a:t>
            </a:r>
          </a:p>
        </p:txBody>
      </p:sp>
      <p:sp>
        <p:nvSpPr>
          <p:cNvPr name="TextBox 35" id="35"/>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LUỒNG</a:t>
            </a:r>
            <a:r>
              <a:rPr lang="en-US" b="true" sz="3999" spc="-147" strike="noStrike" u="none">
                <a:solidFill>
                  <a:srgbClr val="000101"/>
                </a:solidFill>
                <a:latin typeface="Montserrat Ultra-Bold"/>
                <a:ea typeface="Montserrat Ultra-Bold"/>
                <a:cs typeface="Montserrat Ultra-Bold"/>
                <a:sym typeface="Montserrat Ultra-Bold"/>
              </a:rPr>
              <a:t> </a:t>
            </a:r>
            <a:r>
              <a:rPr lang="en-US" b="true" sz="3999" spc="-147" strike="noStrike" u="none">
                <a:solidFill>
                  <a:srgbClr val="000101"/>
                </a:solidFill>
                <a:latin typeface="Montserrat Ultra-Bold"/>
                <a:ea typeface="Montserrat Ultra-Bold"/>
                <a:cs typeface="Montserrat Ultra-Bold"/>
                <a:sym typeface="Montserrat Ultra-Bold"/>
              </a:rPr>
              <a:t>NGH</a:t>
            </a:r>
            <a:r>
              <a:rPr lang="en-US" b="true" sz="3999" spc="-147" strike="noStrike" u="none">
                <a:solidFill>
                  <a:srgbClr val="000101"/>
                </a:solidFill>
                <a:latin typeface="Montserrat Ultra-Bold"/>
                <a:ea typeface="Montserrat Ultra-Bold"/>
                <a:cs typeface="Montserrat Ultra-Bold"/>
                <a:sym typeface="Montserrat Ultra-Bold"/>
              </a:rPr>
              <a:t>IỆP VỤ LUỒNG T</a:t>
            </a:r>
            <a:r>
              <a:rPr lang="en-US" b="true" sz="3999" spc="-147" strike="noStrike" u="none">
                <a:solidFill>
                  <a:srgbClr val="000101"/>
                </a:solidFill>
                <a:latin typeface="Montserrat Ultra-Bold"/>
                <a:ea typeface="Montserrat Ultra-Bold"/>
                <a:cs typeface="Montserrat Ultra-Bold"/>
                <a:sym typeface="Montserrat Ultra-Bold"/>
              </a:rPr>
              <a:t>Ừ</a:t>
            </a:r>
            <a:r>
              <a:rPr lang="en-US" b="true" sz="3999" spc="-147" strike="noStrike" u="none">
                <a:solidFill>
                  <a:srgbClr val="000101"/>
                </a:solidFill>
                <a:latin typeface="Montserrat Ultra-Bold"/>
                <a:ea typeface="Montserrat Ultra-Bold"/>
                <a:cs typeface="Montserrat Ultra-Bold"/>
                <a:sym typeface="Montserrat Ultra-Bold"/>
              </a:rPr>
              <a:t> </a:t>
            </a:r>
            <a:r>
              <a:rPr lang="en-US" b="true" sz="3999" spc="-147" strike="noStrike" u="none">
                <a:solidFill>
                  <a:srgbClr val="000101"/>
                </a:solidFill>
                <a:latin typeface="Montserrat Ultra-Bold"/>
                <a:ea typeface="Montserrat Ultra-Bold"/>
                <a:cs typeface="Montserrat Ultra-Bold"/>
                <a:sym typeface="Montserrat Ultra-Bold"/>
              </a:rPr>
              <a:t>QUÉT</a:t>
            </a:r>
            <a:r>
              <a:rPr lang="en-US" b="true" sz="3999" spc="-147" strike="noStrike" u="none">
                <a:solidFill>
                  <a:srgbClr val="000101"/>
                </a:solidFill>
                <a:latin typeface="Montserrat Ultra-Bold"/>
                <a:ea typeface="Montserrat Ultra-Bold"/>
                <a:cs typeface="Montserrat Ultra-Bold"/>
                <a:sym typeface="Montserrat Ultra-Bold"/>
              </a:rPr>
              <a:t> QR ĐẾN THANH TOÁN</a:t>
            </a:r>
          </a:p>
        </p:txBody>
      </p:sp>
      <p:sp>
        <p:nvSpPr>
          <p:cNvPr name="TextBox 36" id="36"/>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37" id="37"/>
          <p:cNvSpPr txBox="true"/>
          <p:nvPr/>
        </p:nvSpPr>
        <p:spPr>
          <a:xfrm rot="0">
            <a:off x="3869986" y="5324296"/>
            <a:ext cx="2072328" cy="179574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K</a:t>
            </a:r>
            <a:r>
              <a:rPr lang="en-US" sz="2051" spc="-75">
                <a:solidFill>
                  <a:srgbClr val="000101"/>
                </a:solidFill>
                <a:latin typeface="Montserrat"/>
                <a:ea typeface="Montserrat"/>
                <a:cs typeface="Montserrat"/>
                <a:sym typeface="Montserrat"/>
              </a:rPr>
              <a:t>hách tại bàn cùng xem thực đơn và thao tác giỏ món dùng chung.</a:t>
            </a:r>
          </a:p>
        </p:txBody>
      </p:sp>
      <p:sp>
        <p:nvSpPr>
          <p:cNvPr name="TextBox 38" id="38"/>
          <p:cNvSpPr txBox="true"/>
          <p:nvPr/>
        </p:nvSpPr>
        <p:spPr>
          <a:xfrm rot="0">
            <a:off x="3894758" y="2724164"/>
            <a:ext cx="2047556" cy="311851"/>
          </a:xfrm>
          <a:prstGeom prst="rect">
            <a:avLst/>
          </a:prstGeom>
        </p:spPr>
        <p:txBody>
          <a:bodyPr anchor="t" rtlCol="false" tIns="0" lIns="0" bIns="0" rIns="0">
            <a:spAutoFit/>
          </a:bodyPr>
          <a:lstStyle/>
          <a:p>
            <a:pPr algn="l" marL="0" indent="0" lvl="1">
              <a:lnSpc>
                <a:spcPts val="2557"/>
              </a:lnSpc>
              <a:spcBef>
                <a:spcPct val="0"/>
              </a:spcBef>
            </a:pPr>
            <a:r>
              <a:rPr lang="en-US" b="true" sz="1826" spc="-67">
                <a:solidFill>
                  <a:srgbClr val="000101"/>
                </a:solidFill>
                <a:latin typeface="Montserrat Bold"/>
                <a:ea typeface="Montserrat Bold"/>
                <a:cs typeface="Montserrat Bold"/>
                <a:sym typeface="Montserrat Bold"/>
              </a:rPr>
              <a:t>2 - SHARED CART</a:t>
            </a:r>
          </a:p>
        </p:txBody>
      </p:sp>
      <p:sp>
        <p:nvSpPr>
          <p:cNvPr name="TextBox 39" id="39"/>
          <p:cNvSpPr txBox="true"/>
          <p:nvPr/>
        </p:nvSpPr>
        <p:spPr>
          <a:xfrm rot="0">
            <a:off x="6695965" y="5324296"/>
            <a:ext cx="2072328" cy="143379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Gửi</a:t>
            </a:r>
            <a:r>
              <a:rPr lang="en-US" sz="2051" spc="-75">
                <a:solidFill>
                  <a:srgbClr val="000101"/>
                </a:solidFill>
                <a:latin typeface="Montserrat"/>
                <a:ea typeface="Montserrat"/>
                <a:cs typeface="Montserrat"/>
                <a:sym typeface="Montserrat"/>
              </a:rPr>
              <a:t> đơn tạo đơn chờ xác nhận và hóa đơn đang mở.</a:t>
            </a:r>
          </a:p>
        </p:txBody>
      </p:sp>
      <p:sp>
        <p:nvSpPr>
          <p:cNvPr name="TextBox 40" id="40"/>
          <p:cNvSpPr txBox="true"/>
          <p:nvPr/>
        </p:nvSpPr>
        <p:spPr>
          <a:xfrm rot="0">
            <a:off x="9521944" y="5324296"/>
            <a:ext cx="2072328" cy="179574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N</a:t>
            </a:r>
            <a:r>
              <a:rPr lang="en-US" sz="2051" spc="-75">
                <a:solidFill>
                  <a:srgbClr val="000101"/>
                </a:solidFill>
                <a:latin typeface="Montserrat"/>
                <a:ea typeface="Montserrat"/>
                <a:cs typeface="Montserrat"/>
                <a:sym typeface="Montserrat"/>
              </a:rPr>
              <a:t>hân viên xác nhận đơn và kiểm tra khả năng phục vụ/tồn kho.</a:t>
            </a:r>
          </a:p>
        </p:txBody>
      </p:sp>
      <p:sp>
        <p:nvSpPr>
          <p:cNvPr name="TextBox 41" id="41"/>
          <p:cNvSpPr txBox="true"/>
          <p:nvPr/>
        </p:nvSpPr>
        <p:spPr>
          <a:xfrm rot="0">
            <a:off x="12347923" y="5324296"/>
            <a:ext cx="2072328" cy="179574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Bếp/bar</a:t>
            </a:r>
            <a:r>
              <a:rPr lang="en-US" sz="2051" spc="-75">
                <a:solidFill>
                  <a:srgbClr val="000101"/>
                </a:solidFill>
                <a:latin typeface="Montserrat"/>
                <a:ea typeface="Montserrat"/>
                <a:cs typeface="Montserrat"/>
                <a:sym typeface="Montserrat"/>
              </a:rPr>
              <a:t> nhận phiếu sau xác nhận và cập nhật tiến độ món.</a:t>
            </a:r>
          </a:p>
        </p:txBody>
      </p:sp>
      <p:sp>
        <p:nvSpPr>
          <p:cNvPr name="TextBox 42" id="42"/>
          <p:cNvSpPr txBox="true"/>
          <p:nvPr/>
        </p:nvSpPr>
        <p:spPr>
          <a:xfrm rot="0">
            <a:off x="15173903" y="5324296"/>
            <a:ext cx="2072328" cy="2157690"/>
          </a:xfrm>
          <a:prstGeom prst="rect">
            <a:avLst/>
          </a:prstGeom>
        </p:spPr>
        <p:txBody>
          <a:bodyPr anchor="t" rtlCol="false" tIns="0" lIns="0" bIns="0" rIns="0">
            <a:spAutoFit/>
          </a:bodyPr>
          <a:lstStyle/>
          <a:p>
            <a:pPr algn="l">
              <a:lnSpc>
                <a:spcPts val="2872"/>
              </a:lnSpc>
            </a:pPr>
            <a:r>
              <a:rPr lang="en-US" sz="2051" spc="-75">
                <a:solidFill>
                  <a:srgbClr val="000101"/>
                </a:solidFill>
                <a:latin typeface="Montserrat"/>
                <a:ea typeface="Montserrat"/>
                <a:cs typeface="Montserrat"/>
                <a:sym typeface="Montserrat"/>
              </a:rPr>
              <a:t>Thanh toán cash/VietQR</a:t>
            </a:r>
            <a:r>
              <a:rPr lang="en-US" sz="2051" spc="-75">
                <a:solidFill>
                  <a:srgbClr val="000101"/>
                </a:solidFill>
                <a:latin typeface="Montserrat"/>
                <a:ea typeface="Montserrat"/>
                <a:cs typeface="Montserrat"/>
                <a:sym typeface="Montserrat"/>
              </a:rPr>
              <a:t> kết thúc hóa đơn, đóng phiên và chuyển bàn sang dọn.</a:t>
            </a:r>
          </a:p>
        </p:txBody>
      </p:sp>
      <p:sp>
        <p:nvSpPr>
          <p:cNvPr name="TextBox 43" id="43"/>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5</a:t>
            </a:r>
          </a:p>
        </p:txBody>
      </p:sp>
      <p:sp>
        <p:nvSpPr>
          <p:cNvPr name="TextBox 44" id="44"/>
          <p:cNvSpPr txBox="true"/>
          <p:nvPr/>
        </p:nvSpPr>
        <p:spPr>
          <a:xfrm rot="0">
            <a:off x="6843853" y="2716356"/>
            <a:ext cx="1837587"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03 - SUBMIT ORDER</a:t>
            </a:r>
          </a:p>
        </p:txBody>
      </p:sp>
      <p:sp>
        <p:nvSpPr>
          <p:cNvPr name="TextBox 45" id="45"/>
          <p:cNvSpPr txBox="true"/>
          <p:nvPr/>
        </p:nvSpPr>
        <p:spPr>
          <a:xfrm rot="0">
            <a:off x="9628686" y="2697306"/>
            <a:ext cx="1837587"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04 - STAFF CONFIRM</a:t>
            </a:r>
          </a:p>
        </p:txBody>
      </p:sp>
      <p:sp>
        <p:nvSpPr>
          <p:cNvPr name="TextBox 46" id="46"/>
          <p:cNvSpPr txBox="true"/>
          <p:nvPr/>
        </p:nvSpPr>
        <p:spPr>
          <a:xfrm rot="0">
            <a:off x="12437823" y="2724164"/>
            <a:ext cx="1837587" cy="31546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05 - KDS TICKET</a:t>
            </a:r>
          </a:p>
        </p:txBody>
      </p:sp>
      <p:sp>
        <p:nvSpPr>
          <p:cNvPr name="TextBox 47" id="47"/>
          <p:cNvSpPr txBox="true"/>
          <p:nvPr/>
        </p:nvSpPr>
        <p:spPr>
          <a:xfrm rot="0">
            <a:off x="15291273" y="2739597"/>
            <a:ext cx="1837587" cy="31546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06 - PAYMENT</a:t>
            </a:r>
          </a:p>
        </p:txBody>
      </p:sp>
      <p:sp>
        <p:nvSpPr>
          <p:cNvPr name="AutoShape 48" id="48"/>
          <p:cNvSpPr/>
          <p:nvPr/>
        </p:nvSpPr>
        <p:spPr>
          <a:xfrm>
            <a:off x="6147690" y="4866095"/>
            <a:ext cx="267453" cy="0"/>
          </a:xfrm>
          <a:prstGeom prst="line">
            <a:avLst/>
          </a:prstGeom>
          <a:ln cap="flat" w="38100">
            <a:solidFill>
              <a:srgbClr val="000000"/>
            </a:solidFill>
            <a:prstDash val="solid"/>
            <a:headEnd type="none" len="sm" w="sm"/>
            <a:tailEnd type="triangle" len="med" w="lg"/>
          </a:ln>
        </p:spPr>
      </p:sp>
      <p:sp>
        <p:nvSpPr>
          <p:cNvPr name="AutoShape 49" id="49"/>
          <p:cNvSpPr/>
          <p:nvPr/>
        </p:nvSpPr>
        <p:spPr>
          <a:xfrm flipV="true">
            <a:off x="3336599" y="4829701"/>
            <a:ext cx="310886" cy="0"/>
          </a:xfrm>
          <a:prstGeom prst="line">
            <a:avLst/>
          </a:prstGeom>
          <a:ln cap="flat" w="38100">
            <a:solidFill>
              <a:srgbClr val="000000"/>
            </a:solidFill>
            <a:prstDash val="solid"/>
            <a:headEnd type="none" len="sm" w="sm"/>
            <a:tailEnd type="triangle" len="med" w="lg"/>
          </a:ln>
        </p:spPr>
      </p:sp>
      <p:sp>
        <p:nvSpPr>
          <p:cNvPr name="AutoShape 50" id="50"/>
          <p:cNvSpPr/>
          <p:nvPr/>
        </p:nvSpPr>
        <p:spPr>
          <a:xfrm flipV="true">
            <a:off x="8973669" y="4810651"/>
            <a:ext cx="310886" cy="0"/>
          </a:xfrm>
          <a:prstGeom prst="line">
            <a:avLst/>
          </a:prstGeom>
          <a:ln cap="flat" w="38100">
            <a:solidFill>
              <a:srgbClr val="000000"/>
            </a:solidFill>
            <a:prstDash val="solid"/>
            <a:headEnd type="none" len="sm" w="sm"/>
            <a:tailEnd type="triangle" len="med" w="lg"/>
          </a:ln>
        </p:spPr>
      </p:sp>
      <p:sp>
        <p:nvSpPr>
          <p:cNvPr name="AutoShape 51" id="51"/>
          <p:cNvSpPr/>
          <p:nvPr/>
        </p:nvSpPr>
        <p:spPr>
          <a:xfrm flipV="true">
            <a:off x="11831661" y="4791601"/>
            <a:ext cx="310886" cy="0"/>
          </a:xfrm>
          <a:prstGeom prst="line">
            <a:avLst/>
          </a:prstGeom>
          <a:ln cap="flat" w="38100">
            <a:solidFill>
              <a:srgbClr val="000000"/>
            </a:solidFill>
            <a:prstDash val="solid"/>
            <a:headEnd type="none" len="sm" w="sm"/>
            <a:tailEnd type="triangle" len="med" w="lg"/>
          </a:ln>
        </p:spPr>
      </p:sp>
      <p:sp>
        <p:nvSpPr>
          <p:cNvPr name="AutoShape 52" id="52"/>
          <p:cNvSpPr/>
          <p:nvPr/>
        </p:nvSpPr>
        <p:spPr>
          <a:xfrm flipV="true">
            <a:off x="14640461" y="4705360"/>
            <a:ext cx="310886" cy="0"/>
          </a:xfrm>
          <a:prstGeom prst="line">
            <a:avLst/>
          </a:prstGeom>
          <a:ln cap="flat" w="38100">
            <a:solidFill>
              <a:srgbClr val="000000"/>
            </a:solidFill>
            <a:prstDash val="solid"/>
            <a:headEnd type="none" len="sm" w="sm"/>
            <a:tailEnd type="triangle" len="med" w="lg"/>
          </a:ln>
        </p:spPr>
      </p:sp>
      <p:sp>
        <p:nvSpPr>
          <p:cNvPr name="Freeform 53" id="53"/>
          <p:cNvSpPr/>
          <p:nvPr/>
        </p:nvSpPr>
        <p:spPr>
          <a:xfrm flipH="false" flipV="false" rot="-666000">
            <a:off x="15727448" y="8639580"/>
            <a:ext cx="2762645" cy="2739097"/>
          </a:xfrm>
          <a:custGeom>
            <a:avLst/>
            <a:gdLst/>
            <a:ahLst/>
            <a:cxnLst/>
            <a:rect r="r" b="b" t="t" l="l"/>
            <a:pathLst>
              <a:path h="2739097" w="2762645">
                <a:moveTo>
                  <a:pt x="448308" y="0"/>
                </a:moveTo>
                <a:lnTo>
                  <a:pt x="2762646" y="454055"/>
                </a:lnTo>
                <a:lnTo>
                  <a:pt x="2314338" y="2739097"/>
                </a:lnTo>
                <a:lnTo>
                  <a:pt x="0" y="2285042"/>
                </a:lnTo>
                <a:lnTo>
                  <a:pt x="448308" y="0"/>
                </a:lnTo>
                <a:close/>
              </a:path>
            </a:pathLst>
          </a:custGeom>
          <a:blipFill>
            <a:blip r:embed="rId10"/>
            <a:stretch>
              <a:fillRect l="-209" t="0" r="-209" b="0"/>
            </a:stretch>
          </a:blipFill>
        </p:spPr>
      </p:sp>
      <p:sp>
        <p:nvSpPr>
          <p:cNvPr name="Freeform 54" id="54"/>
          <p:cNvSpPr/>
          <p:nvPr/>
        </p:nvSpPr>
        <p:spPr>
          <a:xfrm flipH="false" flipV="false" rot="-762504">
            <a:off x="13763195" y="9050634"/>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grpSp>
        <p:nvGrpSpPr>
          <p:cNvPr name="Group 55" id="55"/>
          <p:cNvGrpSpPr/>
          <p:nvPr/>
        </p:nvGrpSpPr>
        <p:grpSpPr>
          <a:xfrm rot="-131315">
            <a:off x="1029756" y="9695400"/>
            <a:ext cx="5913770" cy="346177"/>
            <a:chOff x="0" y="0"/>
            <a:chExt cx="4996169" cy="292463"/>
          </a:xfrm>
        </p:grpSpPr>
        <p:sp>
          <p:nvSpPr>
            <p:cNvPr name="Freeform 56" id="56"/>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000101"/>
            </a:solidFill>
            <a:ln w="47625" cap="sq">
              <a:solidFill>
                <a:srgbClr val="000000"/>
              </a:solidFill>
              <a:prstDash val="solid"/>
              <a:miter/>
            </a:ln>
          </p:spPr>
        </p:sp>
        <p:sp>
          <p:nvSpPr>
            <p:cNvPr name="TextBox 57" id="57"/>
            <p:cNvSpPr txBox="true"/>
            <p:nvPr/>
          </p:nvSpPr>
          <p:spPr>
            <a:xfrm>
              <a:off x="0" y="-38100"/>
              <a:ext cx="499616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58" id="58"/>
          <p:cNvGrpSpPr/>
          <p:nvPr/>
        </p:nvGrpSpPr>
        <p:grpSpPr>
          <a:xfrm rot="-131315">
            <a:off x="932301" y="9664429"/>
            <a:ext cx="5913770" cy="346177"/>
            <a:chOff x="0" y="0"/>
            <a:chExt cx="4996169" cy="292463"/>
          </a:xfrm>
        </p:grpSpPr>
        <p:sp>
          <p:nvSpPr>
            <p:cNvPr name="Freeform 59" id="59"/>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FFFFFF"/>
            </a:solidFill>
            <a:ln w="47625" cap="sq">
              <a:solidFill>
                <a:srgbClr val="000000"/>
              </a:solidFill>
              <a:prstDash val="solid"/>
              <a:miter/>
            </a:ln>
          </p:spPr>
        </p:sp>
        <p:sp>
          <p:nvSpPr>
            <p:cNvPr name="TextBox 60" id="60"/>
            <p:cNvSpPr txBox="true"/>
            <p:nvPr/>
          </p:nvSpPr>
          <p:spPr>
            <a:xfrm>
              <a:off x="0" y="-38100"/>
              <a:ext cx="4996169" cy="330563"/>
            </a:xfrm>
            <a:prstGeom prst="rect">
              <a:avLst/>
            </a:prstGeom>
          </p:spPr>
          <p:txBody>
            <a:bodyPr anchor="ctr" rtlCol="false" tIns="50800" lIns="50800" bIns="50800" rIns="50800"/>
            <a:lstStyle/>
            <a:p>
              <a:pPr algn="ctr">
                <a:lnSpc>
                  <a:spcPts val="2800"/>
                </a:lnSpc>
              </a:pPr>
            </a:p>
          </p:txBody>
        </p:sp>
      </p:grpSp>
      <p:sp>
        <p:nvSpPr>
          <p:cNvPr name="TextBox 61" id="61"/>
          <p:cNvSpPr txBox="true"/>
          <p:nvPr/>
        </p:nvSpPr>
        <p:spPr>
          <a:xfrm rot="-114702">
            <a:off x="1031369" y="9707507"/>
            <a:ext cx="5714680"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BÀI TOÁN POS THEO MÔ HÌNH SAAS TÍCH HỢP ĐẶT MÓN QUA QR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7"/>
            <a:stretch>
              <a:fillRect l="0" t="0" r="0" b="0"/>
            </a:stretch>
          </a:blipFill>
        </p:spPr>
      </p:sp>
      <p:grpSp>
        <p:nvGrpSpPr>
          <p:cNvPr name="Group 5" id="5"/>
          <p:cNvGrpSpPr/>
          <p:nvPr/>
        </p:nvGrpSpPr>
        <p:grpSpPr>
          <a:xfrm rot="0">
            <a:off x="1964870" y="2791841"/>
            <a:ext cx="3954616" cy="4796284"/>
            <a:chOff x="0" y="0"/>
            <a:chExt cx="1303473" cy="1580894"/>
          </a:xfrm>
        </p:grpSpPr>
        <p:sp>
          <p:nvSpPr>
            <p:cNvPr name="Freeform 6" id="6"/>
            <p:cNvSpPr/>
            <p:nvPr/>
          </p:nvSpPr>
          <p:spPr>
            <a:xfrm flipH="false" flipV="false" rot="0">
              <a:off x="0" y="0"/>
              <a:ext cx="1303473" cy="1580894"/>
            </a:xfrm>
            <a:custGeom>
              <a:avLst/>
              <a:gdLst/>
              <a:ahLst/>
              <a:cxnLst/>
              <a:rect r="r" b="b" t="t" l="l"/>
              <a:pathLst>
                <a:path h="1580894" w="1303473">
                  <a:moveTo>
                    <a:pt x="19577" y="0"/>
                  </a:moveTo>
                  <a:lnTo>
                    <a:pt x="1283896" y="0"/>
                  </a:lnTo>
                  <a:cubicBezTo>
                    <a:pt x="1294708" y="0"/>
                    <a:pt x="1303473" y="8765"/>
                    <a:pt x="1303473" y="19577"/>
                  </a:cubicBezTo>
                  <a:lnTo>
                    <a:pt x="1303473" y="1561317"/>
                  </a:lnTo>
                  <a:cubicBezTo>
                    <a:pt x="1303473" y="1572129"/>
                    <a:pt x="1294708" y="1580894"/>
                    <a:pt x="1283896" y="1580894"/>
                  </a:cubicBezTo>
                  <a:lnTo>
                    <a:pt x="19577" y="1580894"/>
                  </a:lnTo>
                  <a:cubicBezTo>
                    <a:pt x="14385" y="1580894"/>
                    <a:pt x="9405" y="1578831"/>
                    <a:pt x="5734" y="1575160"/>
                  </a:cubicBezTo>
                  <a:cubicBezTo>
                    <a:pt x="2063" y="1571488"/>
                    <a:pt x="0" y="1566509"/>
                    <a:pt x="0" y="1561317"/>
                  </a:cubicBezTo>
                  <a:lnTo>
                    <a:pt x="0" y="19577"/>
                  </a:lnTo>
                  <a:cubicBezTo>
                    <a:pt x="0" y="8765"/>
                    <a:pt x="8765" y="0"/>
                    <a:pt x="19577" y="0"/>
                  </a:cubicBezTo>
                  <a:close/>
                </a:path>
              </a:pathLst>
            </a:custGeom>
            <a:solidFill>
              <a:srgbClr val="FCFFFF"/>
            </a:solidFill>
          </p:spPr>
        </p:sp>
        <p:sp>
          <p:nvSpPr>
            <p:cNvPr name="TextBox 7" id="7"/>
            <p:cNvSpPr txBox="true"/>
            <p:nvPr/>
          </p:nvSpPr>
          <p:spPr>
            <a:xfrm>
              <a:off x="0" y="-47625"/>
              <a:ext cx="1303473" cy="1628519"/>
            </a:xfrm>
            <a:prstGeom prst="rect">
              <a:avLst/>
            </a:prstGeom>
          </p:spPr>
          <p:txBody>
            <a:bodyPr anchor="ctr" rtlCol="false" tIns="50800" lIns="50800" bIns="50800" rIns="50800"/>
            <a:lstStyle/>
            <a:p>
              <a:pPr algn="ctr">
                <a:lnSpc>
                  <a:spcPts val="3500"/>
                </a:lnSpc>
              </a:pPr>
            </a:p>
          </p:txBody>
        </p:sp>
      </p:grpSp>
      <p:sp>
        <p:nvSpPr>
          <p:cNvPr name="AutoShape 8" id="8"/>
          <p:cNvSpPr/>
          <p:nvPr/>
        </p:nvSpPr>
        <p:spPr>
          <a:xfrm flipH="true" flipV="true">
            <a:off x="3899639" y="3052350"/>
            <a:ext cx="0" cy="1401064"/>
          </a:xfrm>
          <a:prstGeom prst="line">
            <a:avLst/>
          </a:prstGeom>
          <a:ln cap="flat" w="19050">
            <a:solidFill>
              <a:srgbClr val="000000"/>
            </a:solidFill>
            <a:prstDash val="solid"/>
            <a:headEnd type="none" len="sm" w="sm"/>
            <a:tailEnd type="none" len="sm" w="sm"/>
          </a:ln>
        </p:spPr>
      </p:sp>
      <p:sp>
        <p:nvSpPr>
          <p:cNvPr name="Freeform 9" id="9"/>
          <p:cNvSpPr/>
          <p:nvPr/>
        </p:nvSpPr>
        <p:spPr>
          <a:xfrm flipH="false" flipV="false" rot="0">
            <a:off x="2211173" y="3416980"/>
            <a:ext cx="1009542" cy="671804"/>
          </a:xfrm>
          <a:custGeom>
            <a:avLst/>
            <a:gdLst/>
            <a:ahLst/>
            <a:cxnLst/>
            <a:rect r="r" b="b" t="t" l="l"/>
            <a:pathLst>
              <a:path h="671804" w="1009542">
                <a:moveTo>
                  <a:pt x="0" y="0"/>
                </a:moveTo>
                <a:lnTo>
                  <a:pt x="1009542" y="0"/>
                </a:lnTo>
                <a:lnTo>
                  <a:pt x="1009542" y="671804"/>
                </a:lnTo>
                <a:lnTo>
                  <a:pt x="0" y="6718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33018" y="9669403"/>
            <a:ext cx="1682265"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6</a:t>
            </a:r>
          </a:p>
        </p:txBody>
      </p:sp>
      <p:sp>
        <p:nvSpPr>
          <p:cNvPr name="TextBox 11" id="11"/>
          <p:cNvSpPr txBox="true"/>
          <p:nvPr/>
        </p:nvSpPr>
        <p:spPr>
          <a:xfrm rot="0">
            <a:off x="1028700" y="1265381"/>
            <a:ext cx="14900842"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MỤC TIÊU VÀ PHẠM VI KHÓA</a:t>
            </a:r>
            <a:r>
              <a:rPr lang="en-US" b="true" sz="3999" spc="-147" strike="noStrike" u="none">
                <a:solidFill>
                  <a:srgbClr val="000101"/>
                </a:solidFill>
                <a:latin typeface="Montserrat Ultra-Bold"/>
                <a:ea typeface="Montserrat Ultra-Bold"/>
                <a:cs typeface="Montserrat Ultra-Bold"/>
                <a:sym typeface="Montserrat Ultra-Bold"/>
              </a:rPr>
              <a:t> LUẬN</a:t>
            </a:r>
          </a:p>
          <a:p>
            <a:pPr algn="l" marL="0" indent="0" lvl="0">
              <a:lnSpc>
                <a:spcPts val="4399"/>
              </a:lnSpc>
            </a:pPr>
          </a:p>
        </p:txBody>
      </p:sp>
      <p:sp>
        <p:nvSpPr>
          <p:cNvPr name="TextBox 12" id="12"/>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3" id="13"/>
          <p:cNvSpPr txBox="true"/>
          <p:nvPr/>
        </p:nvSpPr>
        <p:spPr>
          <a:xfrm rot="0">
            <a:off x="2177464" y="4757348"/>
            <a:ext cx="3463399" cy="2092385"/>
          </a:xfrm>
          <a:prstGeom prst="rect">
            <a:avLst/>
          </a:prstGeom>
        </p:spPr>
        <p:txBody>
          <a:bodyPr anchor="t" rtlCol="false" tIns="0" lIns="0" bIns="0" rIns="0">
            <a:spAutoFit/>
          </a:bodyPr>
          <a:lstStyle/>
          <a:p>
            <a:pPr algn="l">
              <a:lnSpc>
                <a:spcPts val="2796"/>
              </a:lnSpc>
              <a:spcBef>
                <a:spcPct val="0"/>
              </a:spcBef>
            </a:pPr>
            <a:r>
              <a:rPr lang="en-US" b="true" sz="1997" spc="-73">
                <a:solidFill>
                  <a:srgbClr val="000101"/>
                </a:solidFill>
                <a:latin typeface="Montserrat Bold"/>
                <a:ea typeface="Montserrat Bold"/>
                <a:cs typeface="Montserrat Bold"/>
                <a:sym typeface="Montserrat Bold"/>
              </a:rPr>
              <a:t>NGH</a:t>
            </a:r>
            <a:r>
              <a:rPr lang="en-US" b="true" sz="1997" spc="-73" strike="noStrike" u="none">
                <a:solidFill>
                  <a:srgbClr val="000101"/>
                </a:solidFill>
                <a:latin typeface="Montserrat Bold"/>
                <a:ea typeface="Montserrat Bold"/>
                <a:cs typeface="Montserrat Bold"/>
                <a:sym typeface="Montserrat Bold"/>
              </a:rPr>
              <a:t>IÊN CỨU: </a:t>
            </a:r>
          </a:p>
          <a:p>
            <a:pPr algn="l" marL="431290" indent="-215645" lvl="1">
              <a:lnSpc>
                <a:spcPts val="2796"/>
              </a:lnSpc>
              <a:buFont typeface="Arial"/>
              <a:buChar char="•"/>
            </a:pPr>
            <a:r>
              <a:rPr lang="en-US" b="true" sz="1997" spc="-73" strike="noStrike" u="none">
                <a:solidFill>
                  <a:srgbClr val="000101"/>
                </a:solidFill>
                <a:latin typeface="Montserrat Bold"/>
                <a:ea typeface="Montserrat Bold"/>
                <a:cs typeface="Montserrat Bold"/>
                <a:sym typeface="Montserrat Bold"/>
              </a:rPr>
              <a:t>Quy trình POS F&amp;B và mô hình dùng chung cho nhiều nhà hàng</a:t>
            </a:r>
          </a:p>
          <a:p>
            <a:pPr algn="l" marL="431290" indent="-215645" lvl="1">
              <a:lnSpc>
                <a:spcPts val="2796"/>
              </a:lnSpc>
              <a:buFont typeface="Arial"/>
              <a:buChar char="•"/>
            </a:pPr>
            <a:r>
              <a:rPr lang="en-US" b="true" sz="1997" spc="-73" strike="noStrike" u="none">
                <a:solidFill>
                  <a:srgbClr val="000101"/>
                </a:solidFill>
                <a:latin typeface="Montserrat Bold"/>
                <a:ea typeface="Montserrat Bold"/>
                <a:cs typeface="Montserrat Bold"/>
                <a:sym typeface="Montserrat Bold"/>
              </a:rPr>
              <a:t>Ranh giới trách nhiệm và các rủi ro trạng thái</a:t>
            </a:r>
          </a:p>
        </p:txBody>
      </p:sp>
      <p:sp>
        <p:nvSpPr>
          <p:cNvPr name="TextBox 14" id="14"/>
          <p:cNvSpPr txBox="true"/>
          <p:nvPr/>
        </p:nvSpPr>
        <p:spPr>
          <a:xfrm rot="0">
            <a:off x="4747364" y="3459449"/>
            <a:ext cx="514957" cy="555625"/>
          </a:xfrm>
          <a:prstGeom prst="rect">
            <a:avLst/>
          </a:prstGeom>
        </p:spPr>
        <p:txBody>
          <a:bodyPr anchor="t" rtlCol="false" tIns="0" lIns="0" bIns="0" rIns="0">
            <a:spAutoFit/>
          </a:bodyPr>
          <a:lstStyle/>
          <a:p>
            <a:pPr algn="l" marL="0" indent="0" lvl="0">
              <a:lnSpc>
                <a:spcPts val="4399"/>
              </a:lnSpc>
            </a:pPr>
            <a:r>
              <a:rPr lang="en-US" sz="3999" spc="-147">
                <a:solidFill>
                  <a:srgbClr val="000101"/>
                </a:solidFill>
                <a:latin typeface="Montserrat"/>
                <a:ea typeface="Montserrat"/>
                <a:cs typeface="Montserrat"/>
                <a:sym typeface="Montserrat"/>
              </a:rPr>
              <a:t>01</a:t>
            </a:r>
          </a:p>
        </p:txBody>
      </p:sp>
      <p:sp>
        <p:nvSpPr>
          <p:cNvPr name="Freeform 15" id="15"/>
          <p:cNvSpPr/>
          <p:nvPr/>
        </p:nvSpPr>
        <p:spPr>
          <a:xfrm flipH="false" flipV="false" rot="-666000">
            <a:off x="15727448" y="8639580"/>
            <a:ext cx="2762645" cy="2739097"/>
          </a:xfrm>
          <a:custGeom>
            <a:avLst/>
            <a:gdLst/>
            <a:ahLst/>
            <a:cxnLst/>
            <a:rect r="r" b="b" t="t" l="l"/>
            <a:pathLst>
              <a:path h="2739097" w="2762645">
                <a:moveTo>
                  <a:pt x="448308" y="0"/>
                </a:moveTo>
                <a:lnTo>
                  <a:pt x="2762646" y="454055"/>
                </a:lnTo>
                <a:lnTo>
                  <a:pt x="2314338" y="2739097"/>
                </a:lnTo>
                <a:lnTo>
                  <a:pt x="0" y="2285042"/>
                </a:lnTo>
                <a:lnTo>
                  <a:pt x="448308" y="0"/>
                </a:lnTo>
                <a:close/>
              </a:path>
            </a:pathLst>
          </a:custGeom>
          <a:blipFill>
            <a:blip r:embed="rId10"/>
            <a:stretch>
              <a:fillRect l="-209" t="0" r="-209" b="0"/>
            </a:stretch>
          </a:blipFill>
        </p:spPr>
      </p:sp>
      <p:sp>
        <p:nvSpPr>
          <p:cNvPr name="Freeform 16" id="16"/>
          <p:cNvSpPr/>
          <p:nvPr/>
        </p:nvSpPr>
        <p:spPr>
          <a:xfrm flipH="false" flipV="false" rot="-762504">
            <a:off x="13991610" y="8750653"/>
            <a:ext cx="2410664" cy="4845555"/>
          </a:xfrm>
          <a:custGeom>
            <a:avLst/>
            <a:gdLst/>
            <a:ahLst/>
            <a:cxnLst/>
            <a:rect r="r" b="b" t="t" l="l"/>
            <a:pathLst>
              <a:path h="4845555" w="2410664">
                <a:moveTo>
                  <a:pt x="0" y="0"/>
                </a:moveTo>
                <a:lnTo>
                  <a:pt x="2410663" y="0"/>
                </a:lnTo>
                <a:lnTo>
                  <a:pt x="2410663" y="4845555"/>
                </a:lnTo>
                <a:lnTo>
                  <a:pt x="0" y="4845555"/>
                </a:lnTo>
                <a:lnTo>
                  <a:pt x="0" y="0"/>
                </a:lnTo>
                <a:close/>
              </a:path>
            </a:pathLst>
          </a:custGeom>
          <a:blipFill>
            <a:blip r:embed="rId11"/>
            <a:stretch>
              <a:fillRect l="0" t="0" r="0" b="0"/>
            </a:stretch>
          </a:blipFill>
        </p:spPr>
      </p:sp>
      <p:grpSp>
        <p:nvGrpSpPr>
          <p:cNvPr name="Group 17" id="17"/>
          <p:cNvGrpSpPr/>
          <p:nvPr/>
        </p:nvGrpSpPr>
        <p:grpSpPr>
          <a:xfrm rot="0">
            <a:off x="7166124" y="2817982"/>
            <a:ext cx="3954616" cy="4770143"/>
            <a:chOff x="0" y="0"/>
            <a:chExt cx="1303473" cy="1572277"/>
          </a:xfrm>
        </p:grpSpPr>
        <p:sp>
          <p:nvSpPr>
            <p:cNvPr name="Freeform 18" id="18"/>
            <p:cNvSpPr/>
            <p:nvPr/>
          </p:nvSpPr>
          <p:spPr>
            <a:xfrm flipH="false" flipV="false" rot="0">
              <a:off x="0" y="0"/>
              <a:ext cx="1303473" cy="1572277"/>
            </a:xfrm>
            <a:custGeom>
              <a:avLst/>
              <a:gdLst/>
              <a:ahLst/>
              <a:cxnLst/>
              <a:rect r="r" b="b" t="t" l="l"/>
              <a:pathLst>
                <a:path h="1572277" w="1303473">
                  <a:moveTo>
                    <a:pt x="19577" y="0"/>
                  </a:moveTo>
                  <a:lnTo>
                    <a:pt x="1283896" y="0"/>
                  </a:lnTo>
                  <a:cubicBezTo>
                    <a:pt x="1294708" y="0"/>
                    <a:pt x="1303473" y="8765"/>
                    <a:pt x="1303473" y="19577"/>
                  </a:cubicBezTo>
                  <a:lnTo>
                    <a:pt x="1303473" y="1552700"/>
                  </a:lnTo>
                  <a:cubicBezTo>
                    <a:pt x="1303473" y="1563512"/>
                    <a:pt x="1294708" y="1572277"/>
                    <a:pt x="1283896" y="1572277"/>
                  </a:cubicBezTo>
                  <a:lnTo>
                    <a:pt x="19577" y="1572277"/>
                  </a:lnTo>
                  <a:cubicBezTo>
                    <a:pt x="8765" y="1572277"/>
                    <a:pt x="0" y="1563512"/>
                    <a:pt x="0" y="1552700"/>
                  </a:cubicBezTo>
                  <a:lnTo>
                    <a:pt x="0" y="19577"/>
                  </a:lnTo>
                  <a:cubicBezTo>
                    <a:pt x="0" y="8765"/>
                    <a:pt x="8765" y="0"/>
                    <a:pt x="19577" y="0"/>
                  </a:cubicBezTo>
                  <a:close/>
                </a:path>
              </a:pathLst>
            </a:custGeom>
            <a:solidFill>
              <a:srgbClr val="FCFFFF"/>
            </a:solidFill>
          </p:spPr>
        </p:sp>
        <p:sp>
          <p:nvSpPr>
            <p:cNvPr name="TextBox 19" id="19"/>
            <p:cNvSpPr txBox="true"/>
            <p:nvPr/>
          </p:nvSpPr>
          <p:spPr>
            <a:xfrm>
              <a:off x="0" y="-47625"/>
              <a:ext cx="1303473" cy="1619902"/>
            </a:xfrm>
            <a:prstGeom prst="rect">
              <a:avLst/>
            </a:prstGeom>
          </p:spPr>
          <p:txBody>
            <a:bodyPr anchor="ctr" rtlCol="false" tIns="50800" lIns="50800" bIns="50800" rIns="50800"/>
            <a:lstStyle/>
            <a:p>
              <a:pPr algn="ctr">
                <a:lnSpc>
                  <a:spcPts val="3500"/>
                </a:lnSpc>
              </a:pPr>
            </a:p>
          </p:txBody>
        </p:sp>
      </p:grpSp>
      <p:sp>
        <p:nvSpPr>
          <p:cNvPr name="TextBox 20" id="20"/>
          <p:cNvSpPr txBox="true"/>
          <p:nvPr/>
        </p:nvSpPr>
        <p:spPr>
          <a:xfrm rot="0">
            <a:off x="7355055" y="4694551"/>
            <a:ext cx="3576754" cy="2092385"/>
          </a:xfrm>
          <a:prstGeom prst="rect">
            <a:avLst/>
          </a:prstGeom>
        </p:spPr>
        <p:txBody>
          <a:bodyPr anchor="t" rtlCol="false" tIns="0" lIns="0" bIns="0" rIns="0">
            <a:spAutoFit/>
          </a:bodyPr>
          <a:lstStyle/>
          <a:p>
            <a:pPr algn="l">
              <a:lnSpc>
                <a:spcPts val="2796"/>
              </a:lnSpc>
            </a:pPr>
            <a:r>
              <a:rPr lang="en-US" b="true" sz="1997" spc="-73">
                <a:solidFill>
                  <a:srgbClr val="000101"/>
                </a:solidFill>
                <a:latin typeface="Montserrat Bold"/>
                <a:ea typeface="Montserrat Bold"/>
                <a:cs typeface="Montserrat Bold"/>
                <a:sym typeface="Montserrat Bold"/>
              </a:rPr>
              <a:t>XÂY DỰNG: </a:t>
            </a:r>
          </a:p>
          <a:p>
            <a:pPr algn="l" marL="431290" indent="-215645" lvl="1">
              <a:lnSpc>
                <a:spcPts val="2796"/>
              </a:lnSpc>
              <a:buFont typeface="Arial"/>
              <a:buChar char="•"/>
            </a:pPr>
            <a:r>
              <a:rPr lang="en-US" b="true" sz="1997" spc="-73">
                <a:solidFill>
                  <a:srgbClr val="000101"/>
                </a:solidFill>
                <a:latin typeface="Montserrat Bold"/>
                <a:ea typeface="Montserrat Bold"/>
                <a:cs typeface="Montserrat Bold"/>
                <a:sym typeface="Montserrat Bold"/>
              </a:rPr>
              <a:t>PHIÊN QR, GIỎ MÓN, ĐƠN HÀNG, KDS VÀ THANH TOÁN</a:t>
            </a:r>
          </a:p>
          <a:p>
            <a:pPr algn="l" marL="431290" indent="-215645" lvl="1">
              <a:lnSpc>
                <a:spcPts val="2796"/>
              </a:lnSpc>
              <a:buFont typeface="Arial"/>
              <a:buChar char="•"/>
            </a:pPr>
            <a:r>
              <a:rPr lang="en-US" b="true" sz="1997" spc="-73">
                <a:solidFill>
                  <a:srgbClr val="000101"/>
                </a:solidFill>
                <a:latin typeface="Montserrat Bold"/>
                <a:ea typeface="Montserrat Bold"/>
                <a:cs typeface="Montserrat Bold"/>
                <a:sym typeface="Montserrat Bold"/>
              </a:rPr>
              <a:t>Một luồng phục vụ xuyên suốt từ QR đến thanh toán</a:t>
            </a:r>
          </a:p>
        </p:txBody>
      </p:sp>
      <p:sp>
        <p:nvSpPr>
          <p:cNvPr name="Freeform 21" id="21"/>
          <p:cNvSpPr/>
          <p:nvPr/>
        </p:nvSpPr>
        <p:spPr>
          <a:xfrm flipH="false" flipV="false" rot="0">
            <a:off x="7583335" y="3305997"/>
            <a:ext cx="963870" cy="893770"/>
          </a:xfrm>
          <a:custGeom>
            <a:avLst/>
            <a:gdLst/>
            <a:ahLst/>
            <a:cxnLst/>
            <a:rect r="r" b="b" t="t" l="l"/>
            <a:pathLst>
              <a:path h="893770" w="963870">
                <a:moveTo>
                  <a:pt x="0" y="0"/>
                </a:moveTo>
                <a:lnTo>
                  <a:pt x="963870" y="0"/>
                </a:lnTo>
                <a:lnTo>
                  <a:pt x="963870" y="893770"/>
                </a:lnTo>
                <a:lnTo>
                  <a:pt x="0" y="8937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AutoShape 22" id="22"/>
          <p:cNvSpPr/>
          <p:nvPr/>
        </p:nvSpPr>
        <p:spPr>
          <a:xfrm flipH="true" flipV="true">
            <a:off x="9100893" y="3078492"/>
            <a:ext cx="0" cy="1401064"/>
          </a:xfrm>
          <a:prstGeom prst="line">
            <a:avLst/>
          </a:prstGeom>
          <a:ln cap="flat" w="19050">
            <a:solidFill>
              <a:srgbClr val="000000"/>
            </a:solidFill>
            <a:prstDash val="solid"/>
            <a:headEnd type="none" len="sm" w="sm"/>
            <a:tailEnd type="none" len="sm" w="sm"/>
          </a:ln>
        </p:spPr>
      </p:sp>
      <p:sp>
        <p:nvSpPr>
          <p:cNvPr name="TextBox 23" id="23"/>
          <p:cNvSpPr txBox="true"/>
          <p:nvPr/>
        </p:nvSpPr>
        <p:spPr>
          <a:xfrm rot="0">
            <a:off x="9948618" y="3485590"/>
            <a:ext cx="812516" cy="555625"/>
          </a:xfrm>
          <a:prstGeom prst="rect">
            <a:avLst/>
          </a:prstGeom>
        </p:spPr>
        <p:txBody>
          <a:bodyPr anchor="t" rtlCol="false" tIns="0" lIns="0" bIns="0" rIns="0">
            <a:spAutoFit/>
          </a:bodyPr>
          <a:lstStyle/>
          <a:p>
            <a:pPr algn="l" marL="0" indent="0" lvl="0">
              <a:lnSpc>
                <a:spcPts val="4399"/>
              </a:lnSpc>
            </a:pPr>
            <a:r>
              <a:rPr lang="en-US" sz="3999" spc="-147">
                <a:solidFill>
                  <a:srgbClr val="000101"/>
                </a:solidFill>
                <a:latin typeface="Montserrat"/>
                <a:ea typeface="Montserrat"/>
                <a:cs typeface="Montserrat"/>
                <a:sym typeface="Montserrat"/>
              </a:rPr>
              <a:t>02</a:t>
            </a:r>
          </a:p>
        </p:txBody>
      </p:sp>
      <p:grpSp>
        <p:nvGrpSpPr>
          <p:cNvPr name="Group 24" id="24"/>
          <p:cNvGrpSpPr/>
          <p:nvPr/>
        </p:nvGrpSpPr>
        <p:grpSpPr>
          <a:xfrm rot="0">
            <a:off x="12368515" y="2817982"/>
            <a:ext cx="3954616" cy="4770143"/>
            <a:chOff x="0" y="0"/>
            <a:chExt cx="1303473" cy="1572277"/>
          </a:xfrm>
        </p:grpSpPr>
        <p:sp>
          <p:nvSpPr>
            <p:cNvPr name="Freeform 25" id="25"/>
            <p:cNvSpPr/>
            <p:nvPr/>
          </p:nvSpPr>
          <p:spPr>
            <a:xfrm flipH="false" flipV="false" rot="0">
              <a:off x="0" y="0"/>
              <a:ext cx="1303473" cy="1572277"/>
            </a:xfrm>
            <a:custGeom>
              <a:avLst/>
              <a:gdLst/>
              <a:ahLst/>
              <a:cxnLst/>
              <a:rect r="r" b="b" t="t" l="l"/>
              <a:pathLst>
                <a:path h="1572277" w="1303473">
                  <a:moveTo>
                    <a:pt x="19577" y="0"/>
                  </a:moveTo>
                  <a:lnTo>
                    <a:pt x="1283896" y="0"/>
                  </a:lnTo>
                  <a:cubicBezTo>
                    <a:pt x="1294708" y="0"/>
                    <a:pt x="1303473" y="8765"/>
                    <a:pt x="1303473" y="19577"/>
                  </a:cubicBezTo>
                  <a:lnTo>
                    <a:pt x="1303473" y="1552700"/>
                  </a:lnTo>
                  <a:cubicBezTo>
                    <a:pt x="1303473" y="1563512"/>
                    <a:pt x="1294708" y="1572277"/>
                    <a:pt x="1283896" y="1572277"/>
                  </a:cubicBezTo>
                  <a:lnTo>
                    <a:pt x="19577" y="1572277"/>
                  </a:lnTo>
                  <a:cubicBezTo>
                    <a:pt x="8765" y="1572277"/>
                    <a:pt x="0" y="1563512"/>
                    <a:pt x="0" y="1552700"/>
                  </a:cubicBezTo>
                  <a:lnTo>
                    <a:pt x="0" y="19577"/>
                  </a:lnTo>
                  <a:cubicBezTo>
                    <a:pt x="0" y="8765"/>
                    <a:pt x="8765" y="0"/>
                    <a:pt x="19577" y="0"/>
                  </a:cubicBezTo>
                  <a:close/>
                </a:path>
              </a:pathLst>
            </a:custGeom>
            <a:solidFill>
              <a:srgbClr val="FCFFFF"/>
            </a:solidFill>
          </p:spPr>
        </p:sp>
        <p:sp>
          <p:nvSpPr>
            <p:cNvPr name="TextBox 26" id="26"/>
            <p:cNvSpPr txBox="true"/>
            <p:nvPr/>
          </p:nvSpPr>
          <p:spPr>
            <a:xfrm>
              <a:off x="0" y="-47625"/>
              <a:ext cx="1303473" cy="1619902"/>
            </a:xfrm>
            <a:prstGeom prst="rect">
              <a:avLst/>
            </a:prstGeom>
          </p:spPr>
          <p:txBody>
            <a:bodyPr anchor="ctr" rtlCol="false" tIns="50800" lIns="50800" bIns="50800" rIns="50800"/>
            <a:lstStyle/>
            <a:p>
              <a:pPr algn="ctr">
                <a:lnSpc>
                  <a:spcPts val="3500"/>
                </a:lnSpc>
              </a:pPr>
            </a:p>
          </p:txBody>
        </p:sp>
      </p:grpSp>
      <p:sp>
        <p:nvSpPr>
          <p:cNvPr name="Freeform 27" id="27"/>
          <p:cNvSpPr/>
          <p:nvPr/>
        </p:nvSpPr>
        <p:spPr>
          <a:xfrm flipH="false" flipV="false" rot="0">
            <a:off x="12932671" y="3383219"/>
            <a:ext cx="910827" cy="896722"/>
          </a:xfrm>
          <a:custGeom>
            <a:avLst/>
            <a:gdLst/>
            <a:ahLst/>
            <a:cxnLst/>
            <a:rect r="r" b="b" t="t" l="l"/>
            <a:pathLst>
              <a:path h="896722" w="910827">
                <a:moveTo>
                  <a:pt x="0" y="0"/>
                </a:moveTo>
                <a:lnTo>
                  <a:pt x="910827" y="0"/>
                </a:lnTo>
                <a:lnTo>
                  <a:pt x="910827" y="896722"/>
                </a:lnTo>
                <a:lnTo>
                  <a:pt x="0" y="8967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28" id="28"/>
          <p:cNvSpPr/>
          <p:nvPr/>
        </p:nvSpPr>
        <p:spPr>
          <a:xfrm flipH="true" flipV="true">
            <a:off x="14303284" y="3078492"/>
            <a:ext cx="0" cy="1401064"/>
          </a:xfrm>
          <a:prstGeom prst="line">
            <a:avLst/>
          </a:prstGeom>
          <a:ln cap="flat" w="19050">
            <a:solidFill>
              <a:srgbClr val="000000"/>
            </a:solidFill>
            <a:prstDash val="solid"/>
            <a:headEnd type="none" len="sm" w="sm"/>
            <a:tailEnd type="none" len="sm" w="sm"/>
          </a:ln>
        </p:spPr>
      </p:sp>
      <p:sp>
        <p:nvSpPr>
          <p:cNvPr name="TextBox 29" id="29"/>
          <p:cNvSpPr txBox="true"/>
          <p:nvPr/>
        </p:nvSpPr>
        <p:spPr>
          <a:xfrm rot="0">
            <a:off x="12581109" y="4783489"/>
            <a:ext cx="3463399" cy="2444810"/>
          </a:xfrm>
          <a:prstGeom prst="rect">
            <a:avLst/>
          </a:prstGeom>
        </p:spPr>
        <p:txBody>
          <a:bodyPr anchor="t" rtlCol="false" tIns="0" lIns="0" bIns="0" rIns="0">
            <a:spAutoFit/>
          </a:bodyPr>
          <a:lstStyle/>
          <a:p>
            <a:pPr algn="l">
              <a:lnSpc>
                <a:spcPts val="2796"/>
              </a:lnSpc>
              <a:spcBef>
                <a:spcPct val="0"/>
              </a:spcBef>
            </a:pPr>
            <a:r>
              <a:rPr lang="en-US" b="true" sz="1997" spc="-73">
                <a:solidFill>
                  <a:srgbClr val="000101"/>
                </a:solidFill>
                <a:latin typeface="Montserrat Bold"/>
                <a:ea typeface="Montserrat Bold"/>
                <a:cs typeface="Montserrat Bold"/>
                <a:sym typeface="Montserrat Bold"/>
              </a:rPr>
              <a:t>K</a:t>
            </a:r>
            <a:r>
              <a:rPr lang="en-US" b="true" sz="1997" spc="-73" strike="noStrike" u="none">
                <a:solidFill>
                  <a:srgbClr val="000101"/>
                </a:solidFill>
                <a:latin typeface="Montserrat Bold"/>
                <a:ea typeface="Montserrat Bold"/>
                <a:cs typeface="Montserrat Bold"/>
                <a:sym typeface="Montserrat Bold"/>
              </a:rPr>
              <a:t>IỂM CHỨNG: </a:t>
            </a:r>
          </a:p>
          <a:p>
            <a:pPr algn="l" marL="431290" indent="-215645" lvl="1">
              <a:lnSpc>
                <a:spcPts val="2796"/>
              </a:lnSpc>
              <a:buFont typeface="Arial"/>
              <a:buChar char="•"/>
            </a:pPr>
            <a:r>
              <a:rPr lang="en-US" b="true" sz="1997" spc="-73" strike="noStrike" u="none">
                <a:solidFill>
                  <a:srgbClr val="000101"/>
                </a:solidFill>
                <a:latin typeface="Montserrat Bold"/>
                <a:ea typeface="Montserrat Bold"/>
                <a:cs typeface="Montserrat Bold"/>
                <a:sym typeface="Montserrat Bold"/>
              </a:rPr>
              <a:t>HÀ</a:t>
            </a:r>
            <a:r>
              <a:rPr lang="en-US" b="true" sz="1997" spc="-73" strike="noStrike" u="none">
                <a:solidFill>
                  <a:srgbClr val="000101"/>
                </a:solidFill>
                <a:latin typeface="Montserrat Bold"/>
                <a:ea typeface="Montserrat Bold"/>
                <a:cs typeface="Montserrat Bold"/>
                <a:sym typeface="Montserrat Bold"/>
              </a:rPr>
              <a:t>nh vi, thiết kế, kiểm thử và trạng thái hệ thống</a:t>
            </a:r>
          </a:p>
          <a:p>
            <a:pPr algn="l" marL="431290" indent="-215645" lvl="1">
              <a:lnSpc>
                <a:spcPts val="2796"/>
              </a:lnSpc>
              <a:buFont typeface="Arial"/>
              <a:buChar char="•"/>
            </a:pPr>
            <a:r>
              <a:rPr lang="en-US" b="true" sz="1997" spc="-73" strike="noStrike" u="none">
                <a:solidFill>
                  <a:srgbClr val="000101"/>
                </a:solidFill>
                <a:latin typeface="Montserrat Bold"/>
                <a:ea typeface="Montserrat Bold"/>
                <a:cs typeface="Montserrat Bold"/>
                <a:sym typeface="Montserrat Bold"/>
              </a:rPr>
              <a:t>Mức kết luận tương ứng với từng loại bằng chứng</a:t>
            </a:r>
          </a:p>
        </p:txBody>
      </p:sp>
      <p:sp>
        <p:nvSpPr>
          <p:cNvPr name="TextBox 30" id="30"/>
          <p:cNvSpPr txBox="true"/>
          <p:nvPr/>
        </p:nvSpPr>
        <p:spPr>
          <a:xfrm rot="0">
            <a:off x="15151009" y="3485590"/>
            <a:ext cx="798346" cy="555625"/>
          </a:xfrm>
          <a:prstGeom prst="rect">
            <a:avLst/>
          </a:prstGeom>
        </p:spPr>
        <p:txBody>
          <a:bodyPr anchor="t" rtlCol="false" tIns="0" lIns="0" bIns="0" rIns="0">
            <a:spAutoFit/>
          </a:bodyPr>
          <a:lstStyle/>
          <a:p>
            <a:pPr algn="l" marL="0" indent="0" lvl="0">
              <a:lnSpc>
                <a:spcPts val="4399"/>
              </a:lnSpc>
            </a:pPr>
            <a:r>
              <a:rPr lang="en-US" sz="3999" spc="-147">
                <a:solidFill>
                  <a:srgbClr val="000101"/>
                </a:solidFill>
                <a:latin typeface="Montserrat"/>
                <a:ea typeface="Montserrat"/>
                <a:cs typeface="Montserrat"/>
                <a:sym typeface="Montserrat"/>
              </a:rPr>
              <a:t>03</a:t>
            </a:r>
          </a:p>
        </p:txBody>
      </p:sp>
      <p:grpSp>
        <p:nvGrpSpPr>
          <p:cNvPr name="Group 31" id="31"/>
          <p:cNvGrpSpPr/>
          <p:nvPr/>
        </p:nvGrpSpPr>
        <p:grpSpPr>
          <a:xfrm rot="-131315">
            <a:off x="1029756" y="9695400"/>
            <a:ext cx="5913770" cy="346177"/>
            <a:chOff x="0" y="0"/>
            <a:chExt cx="4996169" cy="292463"/>
          </a:xfrm>
        </p:grpSpPr>
        <p:sp>
          <p:nvSpPr>
            <p:cNvPr name="Freeform 32" id="32"/>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000101"/>
            </a:solidFill>
            <a:ln w="47625" cap="sq">
              <a:solidFill>
                <a:srgbClr val="000000"/>
              </a:solidFill>
              <a:prstDash val="solid"/>
              <a:miter/>
            </a:ln>
          </p:spPr>
        </p:sp>
        <p:sp>
          <p:nvSpPr>
            <p:cNvPr name="TextBox 33" id="33"/>
            <p:cNvSpPr txBox="true"/>
            <p:nvPr/>
          </p:nvSpPr>
          <p:spPr>
            <a:xfrm>
              <a:off x="0" y="-38100"/>
              <a:ext cx="499616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34" id="34"/>
          <p:cNvGrpSpPr/>
          <p:nvPr/>
        </p:nvGrpSpPr>
        <p:grpSpPr>
          <a:xfrm rot="-131315">
            <a:off x="932301" y="9664429"/>
            <a:ext cx="5913770" cy="346177"/>
            <a:chOff x="0" y="0"/>
            <a:chExt cx="4996169" cy="292463"/>
          </a:xfrm>
        </p:grpSpPr>
        <p:sp>
          <p:nvSpPr>
            <p:cNvPr name="Freeform 35" id="35"/>
            <p:cNvSpPr/>
            <p:nvPr/>
          </p:nvSpPr>
          <p:spPr>
            <a:xfrm flipH="false" flipV="false" rot="0">
              <a:off x="0" y="0"/>
              <a:ext cx="4996169" cy="292463"/>
            </a:xfrm>
            <a:custGeom>
              <a:avLst/>
              <a:gdLst/>
              <a:ahLst/>
              <a:cxnLst/>
              <a:rect r="r" b="b" t="t" l="l"/>
              <a:pathLst>
                <a:path h="292463" w="4996169">
                  <a:moveTo>
                    <a:pt x="18328" y="0"/>
                  </a:moveTo>
                  <a:lnTo>
                    <a:pt x="4977841" y="0"/>
                  </a:lnTo>
                  <a:cubicBezTo>
                    <a:pt x="4982702" y="0"/>
                    <a:pt x="4987363" y="1931"/>
                    <a:pt x="4990800" y="5368"/>
                  </a:cubicBezTo>
                  <a:cubicBezTo>
                    <a:pt x="4994238" y="8805"/>
                    <a:pt x="4996169" y="13467"/>
                    <a:pt x="4996169" y="18328"/>
                  </a:cubicBezTo>
                  <a:lnTo>
                    <a:pt x="4996169" y="274135"/>
                  </a:lnTo>
                  <a:cubicBezTo>
                    <a:pt x="4996169" y="284257"/>
                    <a:pt x="4987963" y="292463"/>
                    <a:pt x="4977841" y="292463"/>
                  </a:cubicBezTo>
                  <a:lnTo>
                    <a:pt x="18328" y="292463"/>
                  </a:lnTo>
                  <a:cubicBezTo>
                    <a:pt x="8206" y="292463"/>
                    <a:pt x="0" y="284257"/>
                    <a:pt x="0" y="274135"/>
                  </a:cubicBezTo>
                  <a:lnTo>
                    <a:pt x="0" y="18328"/>
                  </a:lnTo>
                  <a:cubicBezTo>
                    <a:pt x="0" y="8206"/>
                    <a:pt x="8206" y="0"/>
                    <a:pt x="18328" y="0"/>
                  </a:cubicBezTo>
                  <a:close/>
                </a:path>
              </a:pathLst>
            </a:custGeom>
            <a:solidFill>
              <a:srgbClr val="FFFFFF"/>
            </a:solidFill>
            <a:ln w="47625" cap="sq">
              <a:solidFill>
                <a:srgbClr val="000000"/>
              </a:solidFill>
              <a:prstDash val="solid"/>
              <a:miter/>
            </a:ln>
          </p:spPr>
        </p:sp>
        <p:sp>
          <p:nvSpPr>
            <p:cNvPr name="TextBox 36" id="36"/>
            <p:cNvSpPr txBox="true"/>
            <p:nvPr/>
          </p:nvSpPr>
          <p:spPr>
            <a:xfrm>
              <a:off x="0" y="-38100"/>
              <a:ext cx="4996169" cy="330563"/>
            </a:xfrm>
            <a:prstGeom prst="rect">
              <a:avLst/>
            </a:prstGeom>
          </p:spPr>
          <p:txBody>
            <a:bodyPr anchor="ctr" rtlCol="false" tIns="50800" lIns="50800" bIns="50800" rIns="50800"/>
            <a:lstStyle/>
            <a:p>
              <a:pPr algn="ctr">
                <a:lnSpc>
                  <a:spcPts val="2800"/>
                </a:lnSpc>
              </a:pPr>
            </a:p>
          </p:txBody>
        </p:sp>
      </p:grpSp>
      <p:sp>
        <p:nvSpPr>
          <p:cNvPr name="TextBox 37" id="37"/>
          <p:cNvSpPr txBox="true"/>
          <p:nvPr/>
        </p:nvSpPr>
        <p:spPr>
          <a:xfrm rot="-114702">
            <a:off x="1031369" y="9707507"/>
            <a:ext cx="5714680"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BÀI TOÁN POS THEO MÔ HÌNH SAAS TÍCH HỢP ĐẶT MÓN QUA QR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4305985" y="-760489"/>
            <a:ext cx="3948810" cy="4487284"/>
          </a:xfrm>
          <a:custGeom>
            <a:avLst/>
            <a:gdLst/>
            <a:ahLst/>
            <a:cxnLst/>
            <a:rect r="r" b="b" t="t" l="l"/>
            <a:pathLst>
              <a:path h="4487284" w="3948810">
                <a:moveTo>
                  <a:pt x="3948810" y="0"/>
                </a:moveTo>
                <a:lnTo>
                  <a:pt x="0" y="0"/>
                </a:lnTo>
                <a:lnTo>
                  <a:pt x="0" y="4487283"/>
                </a:lnTo>
                <a:lnTo>
                  <a:pt x="3948810" y="4487283"/>
                </a:lnTo>
                <a:lnTo>
                  <a:pt x="39488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650978">
            <a:off x="10747665" y="1492736"/>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true" flipV="false" rot="-650978">
            <a:off x="10696678" y="1226705"/>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418743">
            <a:off x="11231568" y="3185105"/>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149135" y="3012502"/>
            <a:ext cx="10279875" cy="1795830"/>
          </a:xfrm>
          <a:prstGeom prst="rect">
            <a:avLst/>
          </a:prstGeom>
        </p:spPr>
        <p:txBody>
          <a:bodyPr anchor="t" rtlCol="false" tIns="0" lIns="0" bIns="0" rIns="0">
            <a:spAutoFit/>
          </a:bodyPr>
          <a:lstStyle/>
          <a:p>
            <a:pPr algn="l" marL="0" indent="0" lvl="0">
              <a:lnSpc>
                <a:spcPts val="7044"/>
              </a:lnSpc>
            </a:pPr>
            <a:r>
              <a:rPr lang="en-US" b="true" sz="6403" spc="-236">
                <a:solidFill>
                  <a:srgbClr val="000101"/>
                </a:solidFill>
                <a:latin typeface="Montserrat Ultra-Bold"/>
                <a:ea typeface="Montserrat Ultra-Bold"/>
                <a:cs typeface="Montserrat Ultra-Bold"/>
                <a:sym typeface="Montserrat Ultra-Bold"/>
              </a:rPr>
              <a:t>Q</a:t>
            </a:r>
            <a:r>
              <a:rPr lang="en-US" b="true" sz="6403" spc="-236" strike="noStrike" u="none">
                <a:solidFill>
                  <a:srgbClr val="000101"/>
                </a:solidFill>
                <a:latin typeface="Montserrat Ultra-Bold"/>
                <a:ea typeface="Montserrat Ultra-Bold"/>
                <a:cs typeface="Montserrat Ultra-Bold"/>
                <a:sym typeface="Montserrat Ultra-Bold"/>
              </a:rPr>
              <a:t>UYẾT ĐỊNH KI</a:t>
            </a:r>
            <a:r>
              <a:rPr lang="en-US" b="true" sz="6403" spc="-236" strike="noStrike" u="none">
                <a:solidFill>
                  <a:srgbClr val="000101"/>
                </a:solidFill>
                <a:latin typeface="Montserrat Ultra-Bold"/>
                <a:ea typeface="Montserrat Ultra-Bold"/>
                <a:cs typeface="Montserrat Ultra-Bold"/>
                <a:sym typeface="Montserrat Ultra-Bold"/>
              </a:rPr>
              <a:t>ẾN</a:t>
            </a:r>
            <a:r>
              <a:rPr lang="en-US" b="true" sz="6403" spc="-236" strike="noStrike" u="none">
                <a:solidFill>
                  <a:srgbClr val="000101"/>
                </a:solidFill>
                <a:latin typeface="Montserrat Ultra-Bold"/>
                <a:ea typeface="Montserrat Ultra-Bold"/>
                <a:cs typeface="Montserrat Ultra-Bold"/>
                <a:sym typeface="Montserrat Ultra-Bold"/>
              </a:rPr>
              <a:t> TR</a:t>
            </a:r>
            <a:r>
              <a:rPr lang="en-US" b="true" sz="6403" spc="-236" strike="noStrike" u="none">
                <a:solidFill>
                  <a:srgbClr val="000101"/>
                </a:solidFill>
                <a:latin typeface="Montserrat Ultra-Bold"/>
                <a:ea typeface="Montserrat Ultra-Bold"/>
                <a:cs typeface="Montserrat Ultra-Bold"/>
                <a:sym typeface="Montserrat Ultra-Bold"/>
              </a:rPr>
              <a:t>ÚC</a:t>
            </a:r>
            <a:r>
              <a:rPr lang="en-US" b="true" sz="6403" spc="-236" strike="noStrike" u="none">
                <a:solidFill>
                  <a:srgbClr val="000101"/>
                </a:solidFill>
                <a:latin typeface="Montserrat Ultra-Bold"/>
                <a:ea typeface="Montserrat Ultra-Bold"/>
                <a:cs typeface="Montserrat Ultra-Bold"/>
                <a:sym typeface="Montserrat Ultra-Bold"/>
              </a:rPr>
              <a:t> MICROSE</a:t>
            </a:r>
            <a:r>
              <a:rPr lang="en-US" b="true" sz="6403" spc="-236" strike="noStrike" u="none">
                <a:solidFill>
                  <a:srgbClr val="000101"/>
                </a:solidFill>
                <a:latin typeface="Montserrat Ultra-Bold"/>
                <a:ea typeface="Montserrat Ultra-Bold"/>
                <a:cs typeface="Montserrat Ultra-Bold"/>
                <a:sym typeface="Montserrat Ultra-Bold"/>
              </a:rPr>
              <a:t>RVI</a:t>
            </a:r>
            <a:r>
              <a:rPr lang="en-US" b="true" sz="6403" spc="-236" strike="noStrike" u="none">
                <a:solidFill>
                  <a:srgbClr val="000101"/>
                </a:solidFill>
                <a:latin typeface="Montserrat Ultra-Bold"/>
                <a:ea typeface="Montserrat Ultra-Bold"/>
                <a:cs typeface="Montserrat Ultra-Bold"/>
                <a:sym typeface="Montserrat Ultra-Bold"/>
              </a:rPr>
              <a:t>C</a:t>
            </a:r>
            <a:r>
              <a:rPr lang="en-US" b="true" sz="6403" spc="-236" strike="noStrike" u="none">
                <a:solidFill>
                  <a:srgbClr val="000101"/>
                </a:solidFill>
                <a:latin typeface="Montserrat Ultra-Bold"/>
                <a:ea typeface="Montserrat Ultra-Bold"/>
                <a:cs typeface="Montserrat Ultra-Bold"/>
                <a:sym typeface="Montserrat Ultra-Bold"/>
              </a:rPr>
              <a:t>E</a:t>
            </a:r>
            <a:r>
              <a:rPr lang="en-US" b="true" sz="6403" spc="-236" strike="noStrike" u="none">
                <a:solidFill>
                  <a:srgbClr val="000101"/>
                </a:solidFill>
                <a:latin typeface="Montserrat Ultra-Bold"/>
                <a:ea typeface="Montserrat Ultra-Bold"/>
                <a:cs typeface="Montserrat Ultra-Bold"/>
                <a:sym typeface="Montserrat Ultra-Bold"/>
              </a:rPr>
              <a:t>S</a:t>
            </a:r>
          </a:p>
        </p:txBody>
      </p:sp>
      <p:grpSp>
        <p:nvGrpSpPr>
          <p:cNvPr name="Group 7" id="7"/>
          <p:cNvGrpSpPr/>
          <p:nvPr/>
        </p:nvGrpSpPr>
        <p:grpSpPr>
          <a:xfrm rot="-131315">
            <a:off x="3549266" y="1401684"/>
            <a:ext cx="4079435" cy="1085644"/>
            <a:chOff x="0" y="0"/>
            <a:chExt cx="1098964" cy="292463"/>
          </a:xfrm>
        </p:grpSpPr>
        <p:sp>
          <p:nvSpPr>
            <p:cNvPr name="Freeform 8" id="8"/>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000101"/>
            </a:solidFill>
            <a:ln w="47625" cap="sq">
              <a:solidFill>
                <a:srgbClr val="000000"/>
              </a:solidFill>
              <a:prstDash val="solid"/>
              <a:miter/>
            </a:ln>
          </p:spPr>
        </p:sp>
        <p:sp>
          <p:nvSpPr>
            <p:cNvPr name="TextBox 9" id="9"/>
            <p:cNvSpPr txBox="true"/>
            <p:nvPr/>
          </p:nvSpPr>
          <p:spPr>
            <a:xfrm>
              <a:off x="0" y="-38100"/>
              <a:ext cx="1098964"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0" id="10"/>
          <p:cNvGrpSpPr/>
          <p:nvPr/>
        </p:nvGrpSpPr>
        <p:grpSpPr>
          <a:xfrm rot="-131315">
            <a:off x="3481507" y="1304557"/>
            <a:ext cx="4079435" cy="1085644"/>
            <a:chOff x="0" y="0"/>
            <a:chExt cx="1098964" cy="292463"/>
          </a:xfrm>
        </p:grpSpPr>
        <p:sp>
          <p:nvSpPr>
            <p:cNvPr name="Freeform 11" id="11"/>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FFFFFF"/>
            </a:solidFill>
            <a:ln w="47625" cap="sq">
              <a:solidFill>
                <a:srgbClr val="000000"/>
              </a:solidFill>
              <a:prstDash val="solid"/>
              <a:miter/>
            </a:ln>
          </p:spPr>
        </p:sp>
        <p:sp>
          <p:nvSpPr>
            <p:cNvPr name="TextBox 12" id="12"/>
            <p:cNvSpPr txBox="true"/>
            <p:nvPr/>
          </p:nvSpPr>
          <p:spPr>
            <a:xfrm>
              <a:off x="0" y="-38100"/>
              <a:ext cx="1098964" cy="330563"/>
            </a:xfrm>
            <a:prstGeom prst="rect">
              <a:avLst/>
            </a:prstGeom>
          </p:spPr>
          <p:txBody>
            <a:bodyPr anchor="ctr" rtlCol="false" tIns="50800" lIns="50800" bIns="50800" rIns="50800"/>
            <a:lstStyle/>
            <a:p>
              <a:pPr algn="ctr">
                <a:lnSpc>
                  <a:spcPts val="2800"/>
                </a:lnSpc>
              </a:pPr>
            </a:p>
          </p:txBody>
        </p:sp>
      </p:grpSp>
      <p:sp>
        <p:nvSpPr>
          <p:cNvPr name="TextBox 13" id="13"/>
          <p:cNvSpPr txBox="true"/>
          <p:nvPr/>
        </p:nvSpPr>
        <p:spPr>
          <a:xfrm rot="-114702">
            <a:off x="3698926" y="1435289"/>
            <a:ext cx="3642779" cy="712471"/>
          </a:xfrm>
          <a:prstGeom prst="rect">
            <a:avLst/>
          </a:prstGeom>
        </p:spPr>
        <p:txBody>
          <a:bodyPr anchor="t" rtlCol="false" tIns="0" lIns="0" bIns="0" rIns="0">
            <a:spAutoFit/>
          </a:bodyPr>
          <a:lstStyle/>
          <a:p>
            <a:pPr algn="ctr" marL="0" indent="0" lvl="0">
              <a:lnSpc>
                <a:spcPts val="5879"/>
              </a:lnSpc>
              <a:spcBef>
                <a:spcPct val="0"/>
              </a:spcBef>
            </a:pPr>
            <a:r>
              <a:rPr lang="en-US" b="true" sz="4199" spc="-155">
                <a:solidFill>
                  <a:srgbClr val="000101"/>
                </a:solidFill>
                <a:latin typeface="Montserrat Bold"/>
                <a:ea typeface="Montserrat Bold"/>
                <a:cs typeface="Montserrat Bold"/>
                <a:sym typeface="Montserrat Bold"/>
              </a:rPr>
              <a:t>PHẦN 2</a:t>
            </a:r>
          </a:p>
        </p:txBody>
      </p:sp>
      <p:sp>
        <p:nvSpPr>
          <p:cNvPr name="Freeform 14" id="14"/>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sp>
        <p:nvSpPr>
          <p:cNvPr name="Freeform 15" id="15"/>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2"/>
            <a:stretch>
              <a:fillRect l="-209" t="0" r="-209" b="0"/>
            </a:stretch>
          </a:blipFill>
        </p:spPr>
      </p:sp>
      <p:sp>
        <p:nvSpPr>
          <p:cNvPr name="Freeform 16" id="16"/>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13"/>
            <a:stretch>
              <a:fillRect l="0" t="0" r="0" b="0"/>
            </a:stretch>
          </a:blipFill>
        </p:spPr>
      </p:sp>
      <p:sp>
        <p:nvSpPr>
          <p:cNvPr name="TextBox 17" id="17"/>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8" id="18"/>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7</a:t>
            </a:r>
          </a:p>
        </p:txBody>
      </p:sp>
      <p:sp>
        <p:nvSpPr>
          <p:cNvPr name="TextBox 19" id="19"/>
          <p:cNvSpPr txBox="true"/>
          <p:nvPr/>
        </p:nvSpPr>
        <p:spPr>
          <a:xfrm rot="0">
            <a:off x="1149135" y="6704387"/>
            <a:ext cx="9358597" cy="1298575"/>
          </a:xfrm>
          <a:prstGeom prst="rect">
            <a:avLst/>
          </a:prstGeom>
        </p:spPr>
        <p:txBody>
          <a:bodyPr anchor="t" rtlCol="false" tIns="0" lIns="0" bIns="0" rIns="0">
            <a:spAutoFit/>
          </a:bodyPr>
          <a:lstStyle/>
          <a:p>
            <a:pPr algn="just">
              <a:lnSpc>
                <a:spcPts val="3500"/>
              </a:lnSpc>
              <a:spcBef>
                <a:spcPct val="0"/>
              </a:spcBef>
            </a:pPr>
            <a:r>
              <a:rPr lang="en-US" b="true" sz="2500" spc="-92">
                <a:solidFill>
                  <a:srgbClr val="000101"/>
                </a:solidFill>
                <a:latin typeface="Montserrat Bold"/>
                <a:ea typeface="Montserrat Bold"/>
                <a:cs typeface="Montserrat Bold"/>
                <a:sym typeface="Montserrat Bold"/>
              </a:rPr>
              <a:t>Phân rã hệ thống thành các microservices độc lập theo ranh giới nghiệp vụ và quyền sở hữu dữ liệu, chấp nhận chi phí giao tiếp phân tán để làm rõ trách nhiệm service.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grpSp>
        <p:nvGrpSpPr>
          <p:cNvPr name="Group 3" id="3"/>
          <p:cNvGrpSpPr/>
          <p:nvPr/>
        </p:nvGrpSpPr>
        <p:grpSpPr>
          <a:xfrm rot="-131315">
            <a:off x="1008096" y="9695400"/>
            <a:ext cx="4566539" cy="346177"/>
            <a:chOff x="0" y="0"/>
            <a:chExt cx="3857979" cy="292463"/>
          </a:xfrm>
        </p:grpSpPr>
        <p:sp>
          <p:nvSpPr>
            <p:cNvPr name="Freeform 4" id="4"/>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5" id="5"/>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6" id="6"/>
          <p:cNvGrpSpPr/>
          <p:nvPr/>
        </p:nvGrpSpPr>
        <p:grpSpPr>
          <a:xfrm rot="-131315">
            <a:off x="932793" y="9664429"/>
            <a:ext cx="4566539" cy="346177"/>
            <a:chOff x="0" y="0"/>
            <a:chExt cx="3857979" cy="292463"/>
          </a:xfrm>
        </p:grpSpPr>
        <p:sp>
          <p:nvSpPr>
            <p:cNvPr name="Freeform 7" id="7"/>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8" id="8"/>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666000">
            <a:off x="15727448" y="8639580"/>
            <a:ext cx="2762645" cy="2739097"/>
          </a:xfrm>
          <a:custGeom>
            <a:avLst/>
            <a:gdLst/>
            <a:ahLst/>
            <a:cxnLst/>
            <a:rect r="r" b="b" t="t" l="l"/>
            <a:pathLst>
              <a:path h="2739097" w="2762645">
                <a:moveTo>
                  <a:pt x="448308" y="0"/>
                </a:moveTo>
                <a:lnTo>
                  <a:pt x="2762646" y="454055"/>
                </a:lnTo>
                <a:lnTo>
                  <a:pt x="2314338" y="2739097"/>
                </a:lnTo>
                <a:lnTo>
                  <a:pt x="0" y="2285042"/>
                </a:lnTo>
                <a:lnTo>
                  <a:pt x="448308" y="0"/>
                </a:lnTo>
                <a:close/>
              </a:path>
            </a:pathLst>
          </a:custGeom>
          <a:blipFill>
            <a:blip r:embed="rId4"/>
            <a:stretch>
              <a:fillRect l="-209" t="0" r="-209" b="0"/>
            </a:stretch>
          </a:blipFill>
        </p:spPr>
      </p:sp>
      <p:graphicFrame>
        <p:nvGraphicFramePr>
          <p:cNvPr name="Table 10" id="10"/>
          <p:cNvGraphicFramePr>
            <a:graphicFrameLocks noGrp="true"/>
          </p:cNvGraphicFramePr>
          <p:nvPr/>
        </p:nvGraphicFramePr>
        <p:xfrm>
          <a:off x="1003151" y="2474337"/>
          <a:ext cx="10076710" cy="6096841"/>
        </p:xfrm>
        <a:graphic>
          <a:graphicData uri="http://schemas.openxmlformats.org/drawingml/2006/table">
            <a:tbl>
              <a:tblPr/>
              <a:tblGrid>
                <a:gridCol w="4392385"/>
                <a:gridCol w="5684325"/>
              </a:tblGrid>
              <a:tr h="1006414">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Động lực (Đặc thù bài toán POS SaaS)</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Đánh đổi (Thách thức phân tán tương ứng)</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1006414">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Nhiều miền nghiệp vụ với quy tắc khác nhau</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Phải chia ranh giới và giao tiếp liên dịch vụ</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1003">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Nhiều nhà hàng dùng chung nền tảng (SaaS)</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Phải cô lập tenant triệt để xuyên suốt đường đi dữ liệu</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1003">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Nhiều nhóm tác nhân (Khách, POS, Bếp, Admin)</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Dễ chồng chéo quyền hạn và nhầm lẫn ngữ cảnh</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1003">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Nhiều màn hình cần đồng bộ realtime (KDS, POS, PWA)</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Phải đồng bộ trạng thái 1 cách nhất quán giữa nhiều dịch vụ độc lập</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1003">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Đặc thù SaaS đòi hỏi khả năng scale độc lập từng miền</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Chấp nhận độ trễ hội tụ dữ liệu (Eventual Consistency)</a:t>
                      </a:r>
                      <a:endParaRPr lang="en-US" sz="1100"/>
                    </a:p>
                  </a:txBody>
                  <a:tcPr marL="104775" marR="104775" marT="104775" marB="1047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1" id="11"/>
          <p:cNvSpPr/>
          <p:nvPr/>
        </p:nvSpPr>
        <p:spPr>
          <a:xfrm flipH="false" flipV="false" rot="-762504">
            <a:off x="13951561" y="8875050"/>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5"/>
            <a:stretch>
              <a:fillRect l="0" t="0" r="0" b="0"/>
            </a:stretch>
          </a:blipFill>
        </p:spPr>
      </p:sp>
      <p:sp>
        <p:nvSpPr>
          <p:cNvPr name="TextBox 12" id="12"/>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LỰA </a:t>
            </a:r>
            <a:r>
              <a:rPr lang="en-US" b="true" sz="3999" spc="-147" strike="noStrike" u="none">
                <a:solidFill>
                  <a:srgbClr val="000101"/>
                </a:solidFill>
                <a:latin typeface="Montserrat Ultra-Bold"/>
                <a:ea typeface="Montserrat Ultra-Bold"/>
                <a:cs typeface="Montserrat Ultra-Bold"/>
                <a:sym typeface="Montserrat Ultra-Bold"/>
              </a:rPr>
              <a:t>CHỌN KIẾN TRÚC MICROSERVICES</a:t>
            </a:r>
          </a:p>
          <a:p>
            <a:pPr algn="l" marL="0" indent="0" lvl="0">
              <a:lnSpc>
                <a:spcPts val="4399"/>
              </a:lnSpc>
            </a:pPr>
          </a:p>
        </p:txBody>
      </p:sp>
      <p:sp>
        <p:nvSpPr>
          <p:cNvPr name="TextBox 13" id="13"/>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4" id="14"/>
          <p:cNvSpPr txBox="true"/>
          <p:nvPr/>
        </p:nvSpPr>
        <p:spPr>
          <a:xfrm rot="-114702">
            <a:off x="1035839" y="9705017"/>
            <a:ext cx="4359492"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QUYẾT ĐỊNH KIẾN TRÚC MICROSERVICES</a:t>
            </a:r>
          </a:p>
        </p:txBody>
      </p:sp>
      <p:sp>
        <p:nvSpPr>
          <p:cNvPr name="TextBox 15" id="15"/>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8</a:t>
            </a:r>
          </a:p>
        </p:txBody>
      </p:sp>
      <p:sp>
        <p:nvSpPr>
          <p:cNvPr name="Freeform 16" id="16"/>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11295540" y="2334565"/>
            <a:ext cx="5963760" cy="6236612"/>
          </a:xfrm>
          <a:custGeom>
            <a:avLst/>
            <a:gdLst/>
            <a:ahLst/>
            <a:cxnLst/>
            <a:rect r="r" b="b" t="t" l="l"/>
            <a:pathLst>
              <a:path h="6236612" w="5963760">
                <a:moveTo>
                  <a:pt x="0" y="0"/>
                </a:moveTo>
                <a:lnTo>
                  <a:pt x="5963760" y="0"/>
                </a:lnTo>
                <a:lnTo>
                  <a:pt x="5963760" y="6236612"/>
                </a:lnTo>
                <a:lnTo>
                  <a:pt x="0" y="6236612"/>
                </a:lnTo>
                <a:lnTo>
                  <a:pt x="0" y="0"/>
                </a:lnTo>
                <a:close/>
              </a:path>
            </a:pathLst>
          </a:custGeom>
          <a:blipFill>
            <a:blip r:embed="rId10"/>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grpSp>
        <p:nvGrpSpPr>
          <p:cNvPr name="Group 3" id="3"/>
          <p:cNvGrpSpPr/>
          <p:nvPr/>
        </p:nvGrpSpPr>
        <p:grpSpPr>
          <a:xfrm rot="-131315">
            <a:off x="1008096" y="9695400"/>
            <a:ext cx="4566539" cy="346177"/>
            <a:chOff x="0" y="0"/>
            <a:chExt cx="3857979" cy="292463"/>
          </a:xfrm>
        </p:grpSpPr>
        <p:sp>
          <p:nvSpPr>
            <p:cNvPr name="Freeform 4" id="4"/>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5" id="5"/>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6" id="6"/>
          <p:cNvGrpSpPr/>
          <p:nvPr/>
        </p:nvGrpSpPr>
        <p:grpSpPr>
          <a:xfrm rot="-131315">
            <a:off x="932793" y="9664429"/>
            <a:ext cx="4566539" cy="346177"/>
            <a:chOff x="0" y="0"/>
            <a:chExt cx="3857979" cy="292463"/>
          </a:xfrm>
        </p:grpSpPr>
        <p:sp>
          <p:nvSpPr>
            <p:cNvPr name="Freeform 7" id="7"/>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8" id="8"/>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666000">
            <a:off x="15877977" y="8917451"/>
            <a:ext cx="2762645" cy="2739097"/>
          </a:xfrm>
          <a:custGeom>
            <a:avLst/>
            <a:gdLst/>
            <a:ahLst/>
            <a:cxnLst/>
            <a:rect r="r" b="b" t="t" l="l"/>
            <a:pathLst>
              <a:path h="2739097" w="2762645">
                <a:moveTo>
                  <a:pt x="448308" y="0"/>
                </a:moveTo>
                <a:lnTo>
                  <a:pt x="2762646" y="454055"/>
                </a:lnTo>
                <a:lnTo>
                  <a:pt x="2314338" y="2739098"/>
                </a:lnTo>
                <a:lnTo>
                  <a:pt x="0" y="2285043"/>
                </a:lnTo>
                <a:lnTo>
                  <a:pt x="448308" y="0"/>
                </a:lnTo>
                <a:close/>
              </a:path>
            </a:pathLst>
          </a:custGeom>
          <a:blipFill>
            <a:blip r:embed="rId4"/>
            <a:stretch>
              <a:fillRect l="-209" t="0" r="-209" b="0"/>
            </a:stretch>
          </a:blipFill>
        </p:spPr>
      </p:sp>
      <p:sp>
        <p:nvSpPr>
          <p:cNvPr name="Freeform 10" id="10"/>
          <p:cNvSpPr/>
          <p:nvPr/>
        </p:nvSpPr>
        <p:spPr>
          <a:xfrm flipH="false" flipV="false" rot="-762504">
            <a:off x="14138359" y="9464108"/>
            <a:ext cx="2410664" cy="4845555"/>
          </a:xfrm>
          <a:custGeom>
            <a:avLst/>
            <a:gdLst/>
            <a:ahLst/>
            <a:cxnLst/>
            <a:rect r="r" b="b" t="t" l="l"/>
            <a:pathLst>
              <a:path h="4845555" w="2410664">
                <a:moveTo>
                  <a:pt x="0" y="0"/>
                </a:moveTo>
                <a:lnTo>
                  <a:pt x="2410663" y="0"/>
                </a:lnTo>
                <a:lnTo>
                  <a:pt x="2410663" y="4845555"/>
                </a:lnTo>
                <a:lnTo>
                  <a:pt x="0" y="4845555"/>
                </a:lnTo>
                <a:lnTo>
                  <a:pt x="0" y="0"/>
                </a:lnTo>
                <a:close/>
              </a:path>
            </a:pathLst>
          </a:custGeom>
          <a:blipFill>
            <a:blip r:embed="rId5"/>
            <a:stretch>
              <a:fillRect l="0" t="0" r="0" b="0"/>
            </a:stretch>
          </a:blipFill>
        </p:spPr>
      </p:sp>
      <p:sp>
        <p:nvSpPr>
          <p:cNvPr name="Freeform 11" id="11"/>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5787690" y="2100898"/>
            <a:ext cx="11337721" cy="6788460"/>
          </a:xfrm>
          <a:custGeom>
            <a:avLst/>
            <a:gdLst/>
            <a:ahLst/>
            <a:cxnLst/>
            <a:rect r="r" b="b" t="t" l="l"/>
            <a:pathLst>
              <a:path h="6788460" w="11337721">
                <a:moveTo>
                  <a:pt x="0" y="0"/>
                </a:moveTo>
                <a:lnTo>
                  <a:pt x="11337721" y="0"/>
                </a:lnTo>
                <a:lnTo>
                  <a:pt x="11337721" y="6788460"/>
                </a:lnTo>
                <a:lnTo>
                  <a:pt x="0" y="6788460"/>
                </a:lnTo>
                <a:lnTo>
                  <a:pt x="0" y="0"/>
                </a:lnTo>
                <a:close/>
              </a:path>
            </a:pathLst>
          </a:custGeom>
          <a:blipFill>
            <a:blip r:embed="rId10"/>
            <a:stretch>
              <a:fillRect l="0" t="0" r="0" b="0"/>
            </a:stretch>
          </a:blipFill>
          <a:ln w="19050" cap="sq">
            <a:solidFill>
              <a:srgbClr val="000000"/>
            </a:solidFill>
            <a:prstDash val="lgDash"/>
            <a:miter/>
          </a:ln>
        </p:spPr>
      </p:sp>
      <p:sp>
        <p:nvSpPr>
          <p:cNvPr name="TextBox 14" id="14"/>
          <p:cNvSpPr txBox="true"/>
          <p:nvPr/>
        </p:nvSpPr>
        <p:spPr>
          <a:xfrm rot="0">
            <a:off x="1028700" y="1265381"/>
            <a:ext cx="1359991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 </a:t>
            </a:r>
            <a:r>
              <a:rPr lang="en-US" b="true" sz="3999" spc="-147" strike="noStrike" u="none">
                <a:solidFill>
                  <a:srgbClr val="000101"/>
                </a:solidFill>
                <a:latin typeface="Montserrat Ultra-Bold"/>
                <a:ea typeface="Montserrat Ultra-Bold"/>
                <a:cs typeface="Montserrat Ultra-Bold"/>
                <a:sym typeface="Montserrat Ultra-Bold"/>
              </a:rPr>
              <a:t>KIẾN TRÚC TỔNG THỂ CỦA QRTABLE</a:t>
            </a:r>
          </a:p>
        </p:txBody>
      </p:sp>
      <p:sp>
        <p:nvSpPr>
          <p:cNvPr name="TextBox 15" id="15"/>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6" id="16"/>
          <p:cNvSpPr txBox="true"/>
          <p:nvPr/>
        </p:nvSpPr>
        <p:spPr>
          <a:xfrm rot="-114702">
            <a:off x="1035839" y="9705017"/>
            <a:ext cx="4359492"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QUYẾT ĐỊNH KIẾN TRÚC MICROSERVICES</a:t>
            </a:r>
          </a:p>
        </p:txBody>
      </p:sp>
      <p:sp>
        <p:nvSpPr>
          <p:cNvPr name="TextBox 17" id="17"/>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9</a:t>
            </a:r>
          </a:p>
        </p:txBody>
      </p:sp>
      <p:grpSp>
        <p:nvGrpSpPr>
          <p:cNvPr name="Group 18" id="18"/>
          <p:cNvGrpSpPr/>
          <p:nvPr/>
        </p:nvGrpSpPr>
        <p:grpSpPr>
          <a:xfrm rot="0">
            <a:off x="1121944" y="2100898"/>
            <a:ext cx="4457635" cy="6788460"/>
            <a:chOff x="0" y="0"/>
            <a:chExt cx="1174027" cy="1787907"/>
          </a:xfrm>
        </p:grpSpPr>
        <p:sp>
          <p:nvSpPr>
            <p:cNvPr name="Freeform 19" id="19"/>
            <p:cNvSpPr/>
            <p:nvPr/>
          </p:nvSpPr>
          <p:spPr>
            <a:xfrm flipH="false" flipV="false" rot="0">
              <a:off x="0" y="0"/>
              <a:ext cx="1174027" cy="1787907"/>
            </a:xfrm>
            <a:custGeom>
              <a:avLst/>
              <a:gdLst/>
              <a:ahLst/>
              <a:cxnLst/>
              <a:rect r="r" b="b" t="t" l="l"/>
              <a:pathLst>
                <a:path h="1787907" w="1174027">
                  <a:moveTo>
                    <a:pt x="17368" y="0"/>
                  </a:moveTo>
                  <a:lnTo>
                    <a:pt x="1156660" y="0"/>
                  </a:lnTo>
                  <a:cubicBezTo>
                    <a:pt x="1161266" y="0"/>
                    <a:pt x="1165683" y="1830"/>
                    <a:pt x="1168940" y="5087"/>
                  </a:cubicBezTo>
                  <a:cubicBezTo>
                    <a:pt x="1172198" y="8344"/>
                    <a:pt x="1174027" y="12762"/>
                    <a:pt x="1174027" y="17368"/>
                  </a:cubicBezTo>
                  <a:lnTo>
                    <a:pt x="1174027" y="1770540"/>
                  </a:lnTo>
                  <a:cubicBezTo>
                    <a:pt x="1174027" y="1775146"/>
                    <a:pt x="1172198" y="1779563"/>
                    <a:pt x="1168940" y="1782820"/>
                  </a:cubicBezTo>
                  <a:cubicBezTo>
                    <a:pt x="1165683" y="1786078"/>
                    <a:pt x="1161266" y="1787907"/>
                    <a:pt x="1156660" y="1787907"/>
                  </a:cubicBezTo>
                  <a:lnTo>
                    <a:pt x="17368" y="1787907"/>
                  </a:lnTo>
                  <a:cubicBezTo>
                    <a:pt x="12762" y="1787907"/>
                    <a:pt x="8344" y="1786078"/>
                    <a:pt x="5087" y="1782820"/>
                  </a:cubicBezTo>
                  <a:cubicBezTo>
                    <a:pt x="1830" y="1779563"/>
                    <a:pt x="0" y="1775146"/>
                    <a:pt x="0" y="1770540"/>
                  </a:cubicBezTo>
                  <a:lnTo>
                    <a:pt x="0" y="17368"/>
                  </a:lnTo>
                  <a:cubicBezTo>
                    <a:pt x="0" y="12762"/>
                    <a:pt x="1830" y="8344"/>
                    <a:pt x="5087" y="5087"/>
                  </a:cubicBezTo>
                  <a:cubicBezTo>
                    <a:pt x="8344" y="1830"/>
                    <a:pt x="12762" y="0"/>
                    <a:pt x="17368" y="0"/>
                  </a:cubicBezTo>
                  <a:close/>
                </a:path>
              </a:pathLst>
            </a:custGeom>
            <a:solidFill>
              <a:srgbClr val="FFFFFF"/>
            </a:solidFill>
            <a:ln w="19050" cap="sq">
              <a:solidFill>
                <a:srgbClr val="000000"/>
              </a:solidFill>
              <a:prstDash val="lgDash"/>
              <a:miter/>
            </a:ln>
          </p:spPr>
        </p:sp>
        <p:sp>
          <p:nvSpPr>
            <p:cNvPr name="TextBox 20" id="20"/>
            <p:cNvSpPr txBox="true"/>
            <p:nvPr/>
          </p:nvSpPr>
          <p:spPr>
            <a:xfrm>
              <a:off x="0" y="-38100"/>
              <a:ext cx="1174027" cy="1826007"/>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1149135" y="2236869"/>
            <a:ext cx="4209709" cy="629983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Tầng Client: Giao diện quản lý (Management App) &amp; Khách đặt món (Customer PWA).</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Tầng Gateway: BFF kiểm soát truy cập và trung chuyển yêu cầu.</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Tầng Nghiệp vụ: 7 dịch vụ miền độc lập sở hữu dữ liệu riêng biệt.</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Tầng Hạ tầng: Kho dữ liệu chuyên biệt cùng trục liên lạc (Kafka, Redis, Keycloak).</a:t>
            </a:r>
          </a:p>
          <a:p>
            <a:pPr algn="l" marL="0" indent="0" lvl="1">
              <a:lnSpc>
                <a:spcPts val="294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grpSp>
        <p:nvGrpSpPr>
          <p:cNvPr name="Group 3" id="3"/>
          <p:cNvGrpSpPr/>
          <p:nvPr/>
        </p:nvGrpSpPr>
        <p:grpSpPr>
          <a:xfrm rot="-131315">
            <a:off x="1008096" y="9695400"/>
            <a:ext cx="4566539" cy="346177"/>
            <a:chOff x="0" y="0"/>
            <a:chExt cx="3857979" cy="292463"/>
          </a:xfrm>
        </p:grpSpPr>
        <p:sp>
          <p:nvSpPr>
            <p:cNvPr name="Freeform 4" id="4"/>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5" id="5"/>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6" id="6"/>
          <p:cNvGrpSpPr/>
          <p:nvPr/>
        </p:nvGrpSpPr>
        <p:grpSpPr>
          <a:xfrm rot="-131315">
            <a:off x="932793" y="9664429"/>
            <a:ext cx="4566539" cy="346177"/>
            <a:chOff x="0" y="0"/>
            <a:chExt cx="3857979" cy="292463"/>
          </a:xfrm>
        </p:grpSpPr>
        <p:sp>
          <p:nvSpPr>
            <p:cNvPr name="Freeform 7" id="7"/>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8" id="8"/>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9" id="9"/>
          <p:cNvSpPr/>
          <p:nvPr/>
        </p:nvSpPr>
        <p:spPr>
          <a:xfrm flipH="false" flipV="false" rot="-666000">
            <a:off x="15727448" y="8639580"/>
            <a:ext cx="2762645" cy="2739097"/>
          </a:xfrm>
          <a:custGeom>
            <a:avLst/>
            <a:gdLst/>
            <a:ahLst/>
            <a:cxnLst/>
            <a:rect r="r" b="b" t="t" l="l"/>
            <a:pathLst>
              <a:path h="2739097" w="2762645">
                <a:moveTo>
                  <a:pt x="448308" y="0"/>
                </a:moveTo>
                <a:lnTo>
                  <a:pt x="2762646" y="454055"/>
                </a:lnTo>
                <a:lnTo>
                  <a:pt x="2314338" y="2739097"/>
                </a:lnTo>
                <a:lnTo>
                  <a:pt x="0" y="2285042"/>
                </a:lnTo>
                <a:lnTo>
                  <a:pt x="448308" y="0"/>
                </a:lnTo>
                <a:close/>
              </a:path>
            </a:pathLst>
          </a:custGeom>
          <a:blipFill>
            <a:blip r:embed="rId4"/>
            <a:stretch>
              <a:fillRect l="-209" t="0" r="-209" b="0"/>
            </a:stretch>
          </a:blipFill>
        </p:spPr>
      </p:sp>
      <p:graphicFrame>
        <p:nvGraphicFramePr>
          <p:cNvPr name="Table 10" id="10"/>
          <p:cNvGraphicFramePr>
            <a:graphicFrameLocks noGrp="true"/>
          </p:cNvGraphicFramePr>
          <p:nvPr/>
        </p:nvGraphicFramePr>
        <p:xfrm>
          <a:off x="1002535" y="2331988"/>
          <a:ext cx="16282929" cy="6417349"/>
        </p:xfrm>
        <a:graphic>
          <a:graphicData uri="http://schemas.openxmlformats.org/drawingml/2006/table">
            <a:tbl>
              <a:tblPr/>
              <a:tblGrid>
                <a:gridCol w="3237942"/>
                <a:gridCol w="6522494"/>
                <a:gridCol w="6522494"/>
              </a:tblGrid>
              <a:tr h="49825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Services</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Dữ liệu/trạng thái sở hữu</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Trách nhiệm kiến trúc</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83815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Catalog</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Menu, danh mục, bàn, khu vực, QR, tồn kho</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Service duy nhất ghi tồn kho</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278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Order</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Phiên QR, giỏ món, đơn hàng, bill</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Chủ vòng đời đơn hàng, bill và session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278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Kitchen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Bản chiếu vận hành KDS trên Redis</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Không có database lịch sử bền vững trong phạm vi hiện tại</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278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Payment</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Bản ghi thanh toán, nhật ký audit, cấu hình thanh toán, outbox</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Chủ trạng thái ghi nhận và đối soát thanh toán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5980">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SaaS</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Tenant, gói dịch vụ, thuê bao</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Chủ vòng đời tenant</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0616">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User-Access</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Hồ sơ người dùng, vai trò, quyền</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Chủ dữ liệu phân quyền ứng dụng</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35980">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Authorizer</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Kiểm tra JWT/OIDC</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Xác thực tập trung qua gRPC</a:t>
                      </a:r>
                      <a:endParaRPr lang="en-US" sz="1100"/>
                    </a:p>
                  </a:txBody>
                  <a:tcPr marL="28575" marR="28575" marT="28575" marB="2857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11" id="11"/>
          <p:cNvSpPr/>
          <p:nvPr/>
        </p:nvSpPr>
        <p:spPr>
          <a:xfrm flipH="false" flipV="false" rot="-762504">
            <a:off x="13951561" y="8875050"/>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5"/>
            <a:stretch>
              <a:fillRect l="0" t="0" r="0" b="0"/>
            </a:stretch>
          </a:blipFill>
        </p:spPr>
      </p:sp>
      <p:sp>
        <p:nvSpPr>
          <p:cNvPr name="TextBox 12" id="12"/>
          <p:cNvSpPr txBox="true"/>
          <p:nvPr/>
        </p:nvSpPr>
        <p:spPr>
          <a:xfrm rot="0">
            <a:off x="1028700" y="1265381"/>
            <a:ext cx="1359991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RANH GIỚI SERVICE VÀ QUYỀ</a:t>
            </a:r>
            <a:r>
              <a:rPr lang="en-US" b="true" sz="3999" spc="-147" strike="noStrike" u="none">
                <a:solidFill>
                  <a:srgbClr val="000101"/>
                </a:solidFill>
                <a:latin typeface="Montserrat Ultra-Bold"/>
                <a:ea typeface="Montserrat Ultra-Bold"/>
                <a:cs typeface="Montserrat Ultra-Bold"/>
                <a:sym typeface="Montserrat Ultra-Bold"/>
              </a:rPr>
              <a:t>N SỞ HỮU DỮ LIỆU</a:t>
            </a:r>
          </a:p>
        </p:txBody>
      </p:sp>
      <p:sp>
        <p:nvSpPr>
          <p:cNvPr name="TextBox 13" id="13"/>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4" id="14"/>
          <p:cNvSpPr txBox="true"/>
          <p:nvPr/>
        </p:nvSpPr>
        <p:spPr>
          <a:xfrm rot="-114702">
            <a:off x="1035839" y="9705017"/>
            <a:ext cx="4359492"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QUYẾT ĐỊNH KIẾN TRÚC MICROSERVICES</a:t>
            </a:r>
          </a:p>
        </p:txBody>
      </p:sp>
      <p:sp>
        <p:nvSpPr>
          <p:cNvPr name="TextBox 15" id="15"/>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10</a:t>
            </a:r>
          </a:p>
        </p:txBody>
      </p:sp>
      <p:sp>
        <p:nvSpPr>
          <p:cNvPr name="Freeform 16" id="16"/>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4305985" y="-760489"/>
            <a:ext cx="3948810" cy="4487284"/>
          </a:xfrm>
          <a:custGeom>
            <a:avLst/>
            <a:gdLst/>
            <a:ahLst/>
            <a:cxnLst/>
            <a:rect r="r" b="b" t="t" l="l"/>
            <a:pathLst>
              <a:path h="4487284" w="3948810">
                <a:moveTo>
                  <a:pt x="3948810" y="0"/>
                </a:moveTo>
                <a:lnTo>
                  <a:pt x="0" y="0"/>
                </a:lnTo>
                <a:lnTo>
                  <a:pt x="0" y="4487283"/>
                </a:lnTo>
                <a:lnTo>
                  <a:pt x="3948810" y="4487283"/>
                </a:lnTo>
                <a:lnTo>
                  <a:pt x="394881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650978">
            <a:off x="10747665" y="1492736"/>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4">
              <a:alphaModFix amt="7999"/>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true" flipV="false" rot="-650978">
            <a:off x="10696678" y="1226705"/>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418743">
            <a:off x="11231568" y="3185105"/>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149135" y="3012502"/>
            <a:ext cx="10279875" cy="1795830"/>
          </a:xfrm>
          <a:prstGeom prst="rect">
            <a:avLst/>
          </a:prstGeom>
        </p:spPr>
        <p:txBody>
          <a:bodyPr anchor="t" rtlCol="false" tIns="0" lIns="0" bIns="0" rIns="0">
            <a:spAutoFit/>
          </a:bodyPr>
          <a:lstStyle/>
          <a:p>
            <a:pPr algn="l" marL="0" indent="0" lvl="0">
              <a:lnSpc>
                <a:spcPts val="7044"/>
              </a:lnSpc>
            </a:pPr>
            <a:r>
              <a:rPr lang="en-US" b="true" sz="6403" spc="-236" strike="noStrike" u="none">
                <a:solidFill>
                  <a:srgbClr val="000101"/>
                </a:solidFill>
                <a:latin typeface="Montserrat Ultra-Bold"/>
                <a:ea typeface="Montserrat Ultra-Bold"/>
                <a:cs typeface="Montserrat Ultra-Bold"/>
                <a:sym typeface="Montserrat Ultra-Bold"/>
              </a:rPr>
              <a:t>CÔ LẬP TENANT VÀ KIỂM SOÁT TRUY CẬP</a:t>
            </a:r>
          </a:p>
        </p:txBody>
      </p:sp>
      <p:sp>
        <p:nvSpPr>
          <p:cNvPr name="TextBox 7" id="7"/>
          <p:cNvSpPr txBox="true"/>
          <p:nvPr/>
        </p:nvSpPr>
        <p:spPr>
          <a:xfrm rot="0">
            <a:off x="1149135" y="6190416"/>
            <a:ext cx="8540987" cy="1298575"/>
          </a:xfrm>
          <a:prstGeom prst="rect">
            <a:avLst/>
          </a:prstGeom>
        </p:spPr>
        <p:txBody>
          <a:bodyPr anchor="t" rtlCol="false" tIns="0" lIns="0" bIns="0" rIns="0">
            <a:spAutoFit/>
          </a:bodyPr>
          <a:lstStyle/>
          <a:p>
            <a:pPr algn="l">
              <a:lnSpc>
                <a:spcPts val="3500"/>
              </a:lnSpc>
              <a:spcBef>
                <a:spcPct val="0"/>
              </a:spcBef>
            </a:pPr>
            <a:r>
              <a:rPr lang="en-US" b="true" sz="2500" spc="-92">
                <a:solidFill>
                  <a:srgbClr val="000101"/>
                </a:solidFill>
                <a:latin typeface="Montserrat Bold"/>
                <a:ea typeface="Montserrat Bold"/>
                <a:cs typeface="Montserrat Bold"/>
                <a:sym typeface="Montserrat Bold"/>
              </a:rPr>
              <a:t>Thiết lập ranh giới cô lập dữ liệu và kiểm soát truy cập (Tenant Isolation &amp; RBAC) từ khâu xác thực, lan truyền ngữ cảnh (Context Propagation) đến mức database.</a:t>
            </a:r>
          </a:p>
        </p:txBody>
      </p:sp>
      <p:grpSp>
        <p:nvGrpSpPr>
          <p:cNvPr name="Group 8" id="8"/>
          <p:cNvGrpSpPr/>
          <p:nvPr/>
        </p:nvGrpSpPr>
        <p:grpSpPr>
          <a:xfrm rot="-131315">
            <a:off x="3549266" y="1401684"/>
            <a:ext cx="4079435" cy="1085644"/>
            <a:chOff x="0" y="0"/>
            <a:chExt cx="1098964" cy="292463"/>
          </a:xfrm>
        </p:grpSpPr>
        <p:sp>
          <p:nvSpPr>
            <p:cNvPr name="Freeform 9" id="9"/>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1098964"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3481507" y="1304557"/>
            <a:ext cx="4079435" cy="1085644"/>
            <a:chOff x="0" y="0"/>
            <a:chExt cx="1098964" cy="292463"/>
          </a:xfrm>
        </p:grpSpPr>
        <p:sp>
          <p:nvSpPr>
            <p:cNvPr name="Freeform 12" id="12"/>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1098964" cy="330563"/>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114702">
            <a:off x="3698926" y="1435289"/>
            <a:ext cx="3642779" cy="712471"/>
          </a:xfrm>
          <a:prstGeom prst="rect">
            <a:avLst/>
          </a:prstGeom>
        </p:spPr>
        <p:txBody>
          <a:bodyPr anchor="t" rtlCol="false" tIns="0" lIns="0" bIns="0" rIns="0">
            <a:spAutoFit/>
          </a:bodyPr>
          <a:lstStyle/>
          <a:p>
            <a:pPr algn="ctr" marL="0" indent="0" lvl="0">
              <a:lnSpc>
                <a:spcPts val="5879"/>
              </a:lnSpc>
              <a:spcBef>
                <a:spcPct val="0"/>
              </a:spcBef>
            </a:pPr>
            <a:r>
              <a:rPr lang="en-US" b="true" sz="4199" spc="-155">
                <a:solidFill>
                  <a:srgbClr val="000101"/>
                </a:solidFill>
                <a:latin typeface="Montserrat Bold"/>
                <a:ea typeface="Montserrat Bold"/>
                <a:cs typeface="Montserrat Bold"/>
                <a:sym typeface="Montserrat Bold"/>
              </a:rPr>
              <a:t>PHẦN 3</a:t>
            </a:r>
          </a:p>
        </p:txBody>
      </p:sp>
      <p:sp>
        <p:nvSpPr>
          <p:cNvPr name="Freeform 15" id="15"/>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0"/>
            <a:stretch>
              <a:fillRect l="0" t="0" r="0" b="0"/>
            </a:stretch>
          </a:blipFill>
        </p:spPr>
      </p:sp>
      <p:sp>
        <p:nvSpPr>
          <p:cNvPr name="Freeform 16" id="16"/>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1"/>
            <a:stretch>
              <a:fillRect l="-209" t="0" r="-209" b="0"/>
            </a:stretch>
          </a:blipFill>
        </p:spPr>
      </p:sp>
      <p:sp>
        <p:nvSpPr>
          <p:cNvPr name="Freeform 17" id="17"/>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12"/>
            <a:stretch>
              <a:fillRect l="0" t="0" r="0" b="0"/>
            </a:stretch>
          </a:blipFill>
        </p:spPr>
      </p:sp>
      <p:sp>
        <p:nvSpPr>
          <p:cNvPr name="TextBox 18" id="18"/>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9" id="19"/>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0">
            <a:off x="836394" y="2735406"/>
            <a:ext cx="3748966" cy="5892419"/>
            <a:chOff x="0" y="0"/>
            <a:chExt cx="1195691" cy="1879321"/>
          </a:xfrm>
        </p:grpSpPr>
        <p:sp>
          <p:nvSpPr>
            <p:cNvPr name="Freeform 3" id="3"/>
            <p:cNvSpPr/>
            <p:nvPr/>
          </p:nvSpPr>
          <p:spPr>
            <a:xfrm flipH="false" flipV="false" rot="0">
              <a:off x="0" y="0"/>
              <a:ext cx="1195691" cy="1879321"/>
            </a:xfrm>
            <a:custGeom>
              <a:avLst/>
              <a:gdLst/>
              <a:ahLst/>
              <a:cxnLst/>
              <a:rect r="r" b="b" t="t" l="l"/>
              <a:pathLst>
                <a:path h="1879321" w="1195691">
                  <a:moveTo>
                    <a:pt x="35106" y="0"/>
                  </a:moveTo>
                  <a:lnTo>
                    <a:pt x="1160584" y="0"/>
                  </a:lnTo>
                  <a:cubicBezTo>
                    <a:pt x="1169895" y="0"/>
                    <a:pt x="1178824" y="3699"/>
                    <a:pt x="1185408" y="10282"/>
                  </a:cubicBezTo>
                  <a:cubicBezTo>
                    <a:pt x="1191992" y="16866"/>
                    <a:pt x="1195691" y="25796"/>
                    <a:pt x="1195691" y="35106"/>
                  </a:cubicBezTo>
                  <a:lnTo>
                    <a:pt x="1195691" y="1844215"/>
                  </a:lnTo>
                  <a:cubicBezTo>
                    <a:pt x="1195691" y="1863603"/>
                    <a:pt x="1179973" y="1879321"/>
                    <a:pt x="1160584" y="1879321"/>
                  </a:cubicBezTo>
                  <a:lnTo>
                    <a:pt x="35106" y="1879321"/>
                  </a:lnTo>
                  <a:cubicBezTo>
                    <a:pt x="25796" y="1879321"/>
                    <a:pt x="16866" y="1875623"/>
                    <a:pt x="10282" y="1869039"/>
                  </a:cubicBezTo>
                  <a:cubicBezTo>
                    <a:pt x="3699" y="1862455"/>
                    <a:pt x="0" y="1853526"/>
                    <a:pt x="0" y="1844215"/>
                  </a:cubicBezTo>
                  <a:lnTo>
                    <a:pt x="0" y="35106"/>
                  </a:lnTo>
                  <a:cubicBezTo>
                    <a:pt x="0" y="15718"/>
                    <a:pt x="15718" y="0"/>
                    <a:pt x="35106" y="0"/>
                  </a:cubicBezTo>
                  <a:close/>
                </a:path>
              </a:pathLst>
            </a:custGeom>
            <a:solidFill>
              <a:srgbClr val="22D3EE"/>
            </a:solidFill>
          </p:spPr>
        </p:sp>
        <p:sp>
          <p:nvSpPr>
            <p:cNvPr name="TextBox 4" id="4"/>
            <p:cNvSpPr txBox="true"/>
            <p:nvPr/>
          </p:nvSpPr>
          <p:spPr>
            <a:xfrm>
              <a:off x="0" y="-47625"/>
              <a:ext cx="1195691" cy="1926946"/>
            </a:xfrm>
            <a:prstGeom prst="rect">
              <a:avLst/>
            </a:prstGeom>
          </p:spPr>
          <p:txBody>
            <a:bodyPr anchor="ctr" rtlCol="false" tIns="50800" lIns="50800" bIns="50800" rIns="50800"/>
            <a:lstStyle/>
            <a:p>
              <a:pPr algn="ctr">
                <a:lnSpc>
                  <a:spcPts val="3500"/>
                </a:lnSpc>
              </a:pPr>
            </a:p>
          </p:txBody>
        </p:sp>
      </p:grpSp>
      <p:sp>
        <p:nvSpPr>
          <p:cNvPr name="AutoShape 5" id="5"/>
          <p:cNvSpPr/>
          <p:nvPr/>
        </p:nvSpPr>
        <p:spPr>
          <a:xfrm flipH="true">
            <a:off x="1193036" y="5570894"/>
            <a:ext cx="2954406" cy="0"/>
          </a:xfrm>
          <a:prstGeom prst="line">
            <a:avLst/>
          </a:prstGeom>
          <a:ln cap="flat" w="19050">
            <a:solidFill>
              <a:srgbClr val="000000"/>
            </a:solidFill>
            <a:prstDash val="solid"/>
            <a:headEnd type="none" len="sm" w="sm"/>
            <a:tailEnd type="none" len="sm" w="sm"/>
          </a:ln>
        </p:spPr>
      </p:sp>
      <p:sp>
        <p:nvSpPr>
          <p:cNvPr name="Freeform 6" id="6"/>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7" id="7"/>
          <p:cNvSpPr/>
          <p:nvPr/>
        </p:nvSpPr>
        <p:spPr>
          <a:xfrm flipH="false" flipV="false" rot="-666000">
            <a:off x="16074670" y="8905755"/>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8" id="8"/>
          <p:cNvSpPr/>
          <p:nvPr/>
        </p:nvSpPr>
        <p:spPr>
          <a:xfrm flipH="false" flipV="false" rot="-762504">
            <a:off x="14268290" y="8934657"/>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5"/>
            <a:stretch>
              <a:fillRect l="0" t="0" r="0" b="0"/>
            </a:stretch>
          </a:blipFill>
        </p:spPr>
      </p:sp>
      <p:grpSp>
        <p:nvGrpSpPr>
          <p:cNvPr name="Group 9" id="9"/>
          <p:cNvGrpSpPr/>
          <p:nvPr/>
        </p:nvGrpSpPr>
        <p:grpSpPr>
          <a:xfrm rot="0">
            <a:off x="4753414" y="2744931"/>
            <a:ext cx="3748966" cy="5882894"/>
            <a:chOff x="0" y="0"/>
            <a:chExt cx="1195691" cy="1876283"/>
          </a:xfrm>
        </p:grpSpPr>
        <p:sp>
          <p:nvSpPr>
            <p:cNvPr name="Freeform 10" id="10"/>
            <p:cNvSpPr/>
            <p:nvPr/>
          </p:nvSpPr>
          <p:spPr>
            <a:xfrm flipH="false" flipV="false" rot="0">
              <a:off x="0" y="0"/>
              <a:ext cx="1195691" cy="1876283"/>
            </a:xfrm>
            <a:custGeom>
              <a:avLst/>
              <a:gdLst/>
              <a:ahLst/>
              <a:cxnLst/>
              <a:rect r="r" b="b" t="t" l="l"/>
              <a:pathLst>
                <a:path h="1876283" w="1195691">
                  <a:moveTo>
                    <a:pt x="35106" y="0"/>
                  </a:moveTo>
                  <a:lnTo>
                    <a:pt x="1160584" y="0"/>
                  </a:lnTo>
                  <a:cubicBezTo>
                    <a:pt x="1169895" y="0"/>
                    <a:pt x="1178824" y="3699"/>
                    <a:pt x="1185408" y="10282"/>
                  </a:cubicBezTo>
                  <a:cubicBezTo>
                    <a:pt x="1191992" y="16866"/>
                    <a:pt x="1195691" y="25796"/>
                    <a:pt x="1195691" y="35106"/>
                  </a:cubicBezTo>
                  <a:lnTo>
                    <a:pt x="1195691" y="1841177"/>
                  </a:lnTo>
                  <a:cubicBezTo>
                    <a:pt x="1195691" y="1860566"/>
                    <a:pt x="1179973" y="1876283"/>
                    <a:pt x="1160584" y="1876283"/>
                  </a:cubicBezTo>
                  <a:lnTo>
                    <a:pt x="35106" y="1876283"/>
                  </a:lnTo>
                  <a:cubicBezTo>
                    <a:pt x="15718" y="1876283"/>
                    <a:pt x="0" y="1860566"/>
                    <a:pt x="0" y="1841177"/>
                  </a:cubicBezTo>
                  <a:lnTo>
                    <a:pt x="0" y="35106"/>
                  </a:lnTo>
                  <a:cubicBezTo>
                    <a:pt x="0" y="15718"/>
                    <a:pt x="15718" y="0"/>
                    <a:pt x="35106" y="0"/>
                  </a:cubicBezTo>
                  <a:close/>
                </a:path>
              </a:pathLst>
            </a:custGeom>
            <a:solidFill>
              <a:srgbClr val="22D3EE"/>
            </a:solidFill>
          </p:spPr>
        </p:sp>
        <p:sp>
          <p:nvSpPr>
            <p:cNvPr name="TextBox 11" id="11"/>
            <p:cNvSpPr txBox="true"/>
            <p:nvPr/>
          </p:nvSpPr>
          <p:spPr>
            <a:xfrm>
              <a:off x="0" y="-47625"/>
              <a:ext cx="1195691" cy="1923908"/>
            </a:xfrm>
            <a:prstGeom prst="rect">
              <a:avLst/>
            </a:prstGeom>
          </p:spPr>
          <p:txBody>
            <a:bodyPr anchor="ctr" rtlCol="false" tIns="50800" lIns="50800" bIns="50800" rIns="50800"/>
            <a:lstStyle/>
            <a:p>
              <a:pPr algn="ctr">
                <a:lnSpc>
                  <a:spcPts val="3500"/>
                </a:lnSpc>
              </a:pPr>
            </a:p>
          </p:txBody>
        </p:sp>
      </p:grpSp>
      <p:sp>
        <p:nvSpPr>
          <p:cNvPr name="AutoShape 12" id="12"/>
          <p:cNvSpPr/>
          <p:nvPr/>
        </p:nvSpPr>
        <p:spPr>
          <a:xfrm flipH="true">
            <a:off x="5068728" y="5642172"/>
            <a:ext cx="2954406" cy="0"/>
          </a:xfrm>
          <a:prstGeom prst="line">
            <a:avLst/>
          </a:prstGeom>
          <a:ln cap="flat" w="19050">
            <a:solidFill>
              <a:srgbClr val="000000"/>
            </a:solidFill>
            <a:prstDash val="solid"/>
            <a:headEnd type="none" len="sm" w="sm"/>
            <a:tailEnd type="none" len="sm" w="sm"/>
          </a:ln>
        </p:spPr>
      </p:sp>
      <p:grpSp>
        <p:nvGrpSpPr>
          <p:cNvPr name="Group 13" id="13"/>
          <p:cNvGrpSpPr/>
          <p:nvPr/>
        </p:nvGrpSpPr>
        <p:grpSpPr>
          <a:xfrm rot="0">
            <a:off x="8673830" y="2744931"/>
            <a:ext cx="3748966" cy="5882894"/>
            <a:chOff x="0" y="0"/>
            <a:chExt cx="1195691" cy="1876283"/>
          </a:xfrm>
        </p:grpSpPr>
        <p:sp>
          <p:nvSpPr>
            <p:cNvPr name="Freeform 14" id="14"/>
            <p:cNvSpPr/>
            <p:nvPr/>
          </p:nvSpPr>
          <p:spPr>
            <a:xfrm flipH="false" flipV="false" rot="0">
              <a:off x="0" y="0"/>
              <a:ext cx="1195691" cy="1876283"/>
            </a:xfrm>
            <a:custGeom>
              <a:avLst/>
              <a:gdLst/>
              <a:ahLst/>
              <a:cxnLst/>
              <a:rect r="r" b="b" t="t" l="l"/>
              <a:pathLst>
                <a:path h="1876283" w="1195691">
                  <a:moveTo>
                    <a:pt x="35106" y="0"/>
                  </a:moveTo>
                  <a:lnTo>
                    <a:pt x="1160584" y="0"/>
                  </a:lnTo>
                  <a:cubicBezTo>
                    <a:pt x="1169895" y="0"/>
                    <a:pt x="1178824" y="3699"/>
                    <a:pt x="1185408" y="10282"/>
                  </a:cubicBezTo>
                  <a:cubicBezTo>
                    <a:pt x="1191992" y="16866"/>
                    <a:pt x="1195691" y="25796"/>
                    <a:pt x="1195691" y="35106"/>
                  </a:cubicBezTo>
                  <a:lnTo>
                    <a:pt x="1195691" y="1841177"/>
                  </a:lnTo>
                  <a:cubicBezTo>
                    <a:pt x="1195691" y="1860566"/>
                    <a:pt x="1179973" y="1876283"/>
                    <a:pt x="1160584" y="1876283"/>
                  </a:cubicBezTo>
                  <a:lnTo>
                    <a:pt x="35106" y="1876283"/>
                  </a:lnTo>
                  <a:cubicBezTo>
                    <a:pt x="15718" y="1876283"/>
                    <a:pt x="0" y="1860566"/>
                    <a:pt x="0" y="1841177"/>
                  </a:cubicBezTo>
                  <a:lnTo>
                    <a:pt x="0" y="35106"/>
                  </a:lnTo>
                  <a:cubicBezTo>
                    <a:pt x="0" y="15718"/>
                    <a:pt x="15718" y="0"/>
                    <a:pt x="35106" y="0"/>
                  </a:cubicBezTo>
                  <a:close/>
                </a:path>
              </a:pathLst>
            </a:custGeom>
            <a:solidFill>
              <a:srgbClr val="22D3EE"/>
            </a:solidFill>
          </p:spPr>
        </p:sp>
        <p:sp>
          <p:nvSpPr>
            <p:cNvPr name="TextBox 15" id="15"/>
            <p:cNvSpPr txBox="true"/>
            <p:nvPr/>
          </p:nvSpPr>
          <p:spPr>
            <a:xfrm>
              <a:off x="0" y="-47625"/>
              <a:ext cx="1195691" cy="1923908"/>
            </a:xfrm>
            <a:prstGeom prst="rect">
              <a:avLst/>
            </a:prstGeom>
          </p:spPr>
          <p:txBody>
            <a:bodyPr anchor="ctr" rtlCol="false" tIns="50800" lIns="50800" bIns="50800" rIns="50800"/>
            <a:lstStyle/>
            <a:p>
              <a:pPr algn="ctr">
                <a:lnSpc>
                  <a:spcPts val="3500"/>
                </a:lnSpc>
              </a:pPr>
            </a:p>
          </p:txBody>
        </p:sp>
      </p:grpSp>
      <p:sp>
        <p:nvSpPr>
          <p:cNvPr name="AutoShape 16" id="16"/>
          <p:cNvSpPr/>
          <p:nvPr/>
        </p:nvSpPr>
        <p:spPr>
          <a:xfrm flipH="true">
            <a:off x="9030472" y="5651697"/>
            <a:ext cx="2954406" cy="0"/>
          </a:xfrm>
          <a:prstGeom prst="line">
            <a:avLst/>
          </a:prstGeom>
          <a:ln cap="flat" w="19050">
            <a:solidFill>
              <a:srgbClr val="000000"/>
            </a:solidFill>
            <a:prstDash val="solid"/>
            <a:headEnd type="none" len="sm" w="sm"/>
            <a:tailEnd type="none" len="sm" w="sm"/>
          </a:ln>
        </p:spPr>
      </p:sp>
      <p:sp>
        <p:nvSpPr>
          <p:cNvPr name="Freeform 17" id="17"/>
          <p:cNvSpPr/>
          <p:nvPr/>
        </p:nvSpPr>
        <p:spPr>
          <a:xfrm flipH="false" flipV="false" rot="0">
            <a:off x="14146821" y="3008035"/>
            <a:ext cx="2540770" cy="1553046"/>
          </a:xfrm>
          <a:custGeom>
            <a:avLst/>
            <a:gdLst/>
            <a:ahLst/>
            <a:cxnLst/>
            <a:rect r="r" b="b" t="t" l="l"/>
            <a:pathLst>
              <a:path h="1553046" w="2540770">
                <a:moveTo>
                  <a:pt x="0" y="0"/>
                </a:moveTo>
                <a:lnTo>
                  <a:pt x="2540770" y="0"/>
                </a:lnTo>
                <a:lnTo>
                  <a:pt x="2540770" y="1553045"/>
                </a:lnTo>
                <a:lnTo>
                  <a:pt x="0" y="1553045"/>
                </a:lnTo>
                <a:lnTo>
                  <a:pt x="0" y="0"/>
                </a:lnTo>
                <a:close/>
              </a:path>
            </a:pathLst>
          </a:custGeom>
          <a:blipFill>
            <a:blip r:embed="rId6"/>
            <a:stretch>
              <a:fillRect l="0" t="0" r="0" b="0"/>
            </a:stretch>
          </a:blipFill>
        </p:spPr>
      </p:sp>
      <p:sp>
        <p:nvSpPr>
          <p:cNvPr name="Freeform 18" id="18"/>
          <p:cNvSpPr/>
          <p:nvPr/>
        </p:nvSpPr>
        <p:spPr>
          <a:xfrm flipH="false" flipV="false" rot="-401527">
            <a:off x="15891140" y="28906"/>
            <a:ext cx="3124356" cy="1999588"/>
          </a:xfrm>
          <a:custGeom>
            <a:avLst/>
            <a:gdLst/>
            <a:ahLst/>
            <a:cxnLst/>
            <a:rect r="r" b="b" t="t" l="l"/>
            <a:pathLst>
              <a:path h="1999588" w="3124356">
                <a:moveTo>
                  <a:pt x="0" y="0"/>
                </a:moveTo>
                <a:lnTo>
                  <a:pt x="3124356" y="0"/>
                </a:lnTo>
                <a:lnTo>
                  <a:pt x="3124356" y="1999588"/>
                </a:lnTo>
                <a:lnTo>
                  <a:pt x="0" y="19995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12</a:t>
            </a:r>
          </a:p>
        </p:txBody>
      </p:sp>
      <p:grpSp>
        <p:nvGrpSpPr>
          <p:cNvPr name="Group 20" id="20"/>
          <p:cNvGrpSpPr/>
          <p:nvPr/>
        </p:nvGrpSpPr>
        <p:grpSpPr>
          <a:xfrm rot="-131315">
            <a:off x="1008096" y="9695400"/>
            <a:ext cx="4566539" cy="346177"/>
            <a:chOff x="0" y="0"/>
            <a:chExt cx="3857979" cy="292463"/>
          </a:xfrm>
        </p:grpSpPr>
        <p:sp>
          <p:nvSpPr>
            <p:cNvPr name="Freeform 21" id="21"/>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22" id="22"/>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23" id="23"/>
          <p:cNvGrpSpPr/>
          <p:nvPr/>
        </p:nvGrpSpPr>
        <p:grpSpPr>
          <a:xfrm rot="-131315">
            <a:off x="932793" y="9664429"/>
            <a:ext cx="4566539" cy="346177"/>
            <a:chOff x="0" y="0"/>
            <a:chExt cx="3857979" cy="292463"/>
          </a:xfrm>
        </p:grpSpPr>
        <p:sp>
          <p:nvSpPr>
            <p:cNvPr name="Freeform 24" id="24"/>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25" id="25"/>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26" id="26"/>
          <p:cNvSpPr/>
          <p:nvPr/>
        </p:nvSpPr>
        <p:spPr>
          <a:xfrm flipH="false" flipV="false" rot="0">
            <a:off x="1441343" y="3505373"/>
            <a:ext cx="2457793" cy="1741314"/>
          </a:xfrm>
          <a:custGeom>
            <a:avLst/>
            <a:gdLst/>
            <a:ahLst/>
            <a:cxnLst/>
            <a:rect r="r" b="b" t="t" l="l"/>
            <a:pathLst>
              <a:path h="1741314" w="2457793">
                <a:moveTo>
                  <a:pt x="0" y="0"/>
                </a:moveTo>
                <a:lnTo>
                  <a:pt x="2457793" y="0"/>
                </a:lnTo>
                <a:lnTo>
                  <a:pt x="2457793" y="1741315"/>
                </a:lnTo>
                <a:lnTo>
                  <a:pt x="0" y="1741315"/>
                </a:lnTo>
                <a:lnTo>
                  <a:pt x="0" y="0"/>
                </a:lnTo>
                <a:close/>
              </a:path>
            </a:pathLst>
          </a:custGeom>
          <a:blipFill>
            <a:blip r:embed="rId9"/>
            <a:stretch>
              <a:fillRect l="0" t="0" r="0" b="0"/>
            </a:stretch>
          </a:blipFill>
        </p:spPr>
      </p:sp>
      <p:sp>
        <p:nvSpPr>
          <p:cNvPr name="Freeform 27" id="27"/>
          <p:cNvSpPr/>
          <p:nvPr/>
        </p:nvSpPr>
        <p:spPr>
          <a:xfrm flipH="false" flipV="false" rot="0">
            <a:off x="5623264" y="3359086"/>
            <a:ext cx="2009266" cy="1894071"/>
          </a:xfrm>
          <a:custGeom>
            <a:avLst/>
            <a:gdLst/>
            <a:ahLst/>
            <a:cxnLst/>
            <a:rect r="r" b="b" t="t" l="l"/>
            <a:pathLst>
              <a:path h="1894071" w="2009266">
                <a:moveTo>
                  <a:pt x="0" y="0"/>
                </a:moveTo>
                <a:lnTo>
                  <a:pt x="2009266" y="0"/>
                </a:lnTo>
                <a:lnTo>
                  <a:pt x="2009266" y="1894071"/>
                </a:lnTo>
                <a:lnTo>
                  <a:pt x="0" y="1894071"/>
                </a:lnTo>
                <a:lnTo>
                  <a:pt x="0" y="0"/>
                </a:lnTo>
                <a:close/>
              </a:path>
            </a:pathLst>
          </a:custGeom>
          <a:blipFill>
            <a:blip r:embed="rId10"/>
            <a:stretch>
              <a:fillRect l="0" t="0" r="0" b="0"/>
            </a:stretch>
          </a:blipFill>
        </p:spPr>
      </p:sp>
      <p:sp>
        <p:nvSpPr>
          <p:cNvPr name="Freeform 28" id="28"/>
          <p:cNvSpPr/>
          <p:nvPr/>
        </p:nvSpPr>
        <p:spPr>
          <a:xfrm flipH="false" flipV="false" rot="0">
            <a:off x="9650290" y="3201656"/>
            <a:ext cx="1796047" cy="2208931"/>
          </a:xfrm>
          <a:custGeom>
            <a:avLst/>
            <a:gdLst/>
            <a:ahLst/>
            <a:cxnLst/>
            <a:rect r="r" b="b" t="t" l="l"/>
            <a:pathLst>
              <a:path h="2208931" w="1796047">
                <a:moveTo>
                  <a:pt x="0" y="0"/>
                </a:moveTo>
                <a:lnTo>
                  <a:pt x="1796046" y="0"/>
                </a:lnTo>
                <a:lnTo>
                  <a:pt x="1796046" y="2208931"/>
                </a:lnTo>
                <a:lnTo>
                  <a:pt x="0" y="2208931"/>
                </a:lnTo>
                <a:lnTo>
                  <a:pt x="0" y="0"/>
                </a:lnTo>
                <a:close/>
              </a:path>
            </a:pathLst>
          </a:custGeom>
          <a:blipFill>
            <a:blip r:embed="rId11"/>
            <a:stretch>
              <a:fillRect l="0" t="0" r="0" b="0"/>
            </a:stretch>
          </a:blipFill>
        </p:spPr>
      </p:sp>
      <p:grpSp>
        <p:nvGrpSpPr>
          <p:cNvPr name="Group 29" id="29"/>
          <p:cNvGrpSpPr/>
          <p:nvPr/>
        </p:nvGrpSpPr>
        <p:grpSpPr>
          <a:xfrm rot="0">
            <a:off x="1003151" y="6607208"/>
            <a:ext cx="3431635" cy="1607566"/>
            <a:chOff x="0" y="0"/>
            <a:chExt cx="903805" cy="423392"/>
          </a:xfrm>
        </p:grpSpPr>
        <p:sp>
          <p:nvSpPr>
            <p:cNvPr name="Freeform 30" id="30"/>
            <p:cNvSpPr/>
            <p:nvPr/>
          </p:nvSpPr>
          <p:spPr>
            <a:xfrm flipH="false" flipV="false" rot="0">
              <a:off x="0" y="0"/>
              <a:ext cx="903805" cy="423392"/>
            </a:xfrm>
            <a:custGeom>
              <a:avLst/>
              <a:gdLst/>
              <a:ahLst/>
              <a:cxnLst/>
              <a:rect r="r" b="b" t="t" l="l"/>
              <a:pathLst>
                <a:path h="423392" w="903805">
                  <a:moveTo>
                    <a:pt x="22560" y="0"/>
                  </a:moveTo>
                  <a:lnTo>
                    <a:pt x="881245" y="0"/>
                  </a:lnTo>
                  <a:cubicBezTo>
                    <a:pt x="887228" y="0"/>
                    <a:pt x="892966" y="2377"/>
                    <a:pt x="897197" y="6608"/>
                  </a:cubicBezTo>
                  <a:cubicBezTo>
                    <a:pt x="901428" y="10839"/>
                    <a:pt x="903805" y="16577"/>
                    <a:pt x="903805" y="22560"/>
                  </a:cubicBezTo>
                  <a:lnTo>
                    <a:pt x="903805" y="400831"/>
                  </a:lnTo>
                  <a:cubicBezTo>
                    <a:pt x="903805" y="406815"/>
                    <a:pt x="901428" y="412553"/>
                    <a:pt x="897197" y="416784"/>
                  </a:cubicBezTo>
                  <a:cubicBezTo>
                    <a:pt x="892966" y="421015"/>
                    <a:pt x="887228" y="423392"/>
                    <a:pt x="881245" y="423392"/>
                  </a:cubicBezTo>
                  <a:lnTo>
                    <a:pt x="22560" y="423392"/>
                  </a:lnTo>
                  <a:cubicBezTo>
                    <a:pt x="16577" y="423392"/>
                    <a:pt x="10839" y="421015"/>
                    <a:pt x="6608" y="416784"/>
                  </a:cubicBezTo>
                  <a:cubicBezTo>
                    <a:pt x="2377" y="412553"/>
                    <a:pt x="0" y="406815"/>
                    <a:pt x="0" y="400831"/>
                  </a:cubicBezTo>
                  <a:lnTo>
                    <a:pt x="0" y="22560"/>
                  </a:lnTo>
                  <a:cubicBezTo>
                    <a:pt x="0" y="16577"/>
                    <a:pt x="2377" y="10839"/>
                    <a:pt x="6608" y="6608"/>
                  </a:cubicBezTo>
                  <a:cubicBezTo>
                    <a:pt x="10839" y="2377"/>
                    <a:pt x="16577" y="0"/>
                    <a:pt x="22560" y="0"/>
                  </a:cubicBezTo>
                  <a:close/>
                </a:path>
              </a:pathLst>
            </a:custGeom>
            <a:solidFill>
              <a:srgbClr val="FFFFFF"/>
            </a:solidFill>
            <a:ln w="38100" cap="sq">
              <a:solidFill>
                <a:srgbClr val="000000"/>
              </a:solidFill>
              <a:prstDash val="lgDash"/>
              <a:miter/>
            </a:ln>
          </p:spPr>
        </p:sp>
        <p:sp>
          <p:nvSpPr>
            <p:cNvPr name="TextBox 31" id="31"/>
            <p:cNvSpPr txBox="true"/>
            <p:nvPr/>
          </p:nvSpPr>
          <p:spPr>
            <a:xfrm>
              <a:off x="0" y="-38100"/>
              <a:ext cx="903805" cy="461492"/>
            </a:xfrm>
            <a:prstGeom prst="rect">
              <a:avLst/>
            </a:prstGeom>
          </p:spPr>
          <p:txBody>
            <a:bodyPr anchor="ctr" rtlCol="false" tIns="50800" lIns="50800" bIns="50800" rIns="50800"/>
            <a:lstStyle/>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Keycloak JWT/OIDC</a:t>
              </a:r>
            </a:p>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Tài khoản và phạm vi chức trách</a:t>
              </a:r>
            </a:p>
          </p:txBody>
        </p:sp>
      </p:grpSp>
      <p:grpSp>
        <p:nvGrpSpPr>
          <p:cNvPr name="Group 32" id="32"/>
          <p:cNvGrpSpPr/>
          <p:nvPr/>
        </p:nvGrpSpPr>
        <p:grpSpPr>
          <a:xfrm rot="0">
            <a:off x="4912857" y="6611476"/>
            <a:ext cx="3375129" cy="1607566"/>
            <a:chOff x="0" y="0"/>
            <a:chExt cx="888923" cy="423392"/>
          </a:xfrm>
        </p:grpSpPr>
        <p:sp>
          <p:nvSpPr>
            <p:cNvPr name="Freeform 33" id="33"/>
            <p:cNvSpPr/>
            <p:nvPr/>
          </p:nvSpPr>
          <p:spPr>
            <a:xfrm flipH="false" flipV="false" rot="0">
              <a:off x="0" y="0"/>
              <a:ext cx="888923" cy="423392"/>
            </a:xfrm>
            <a:custGeom>
              <a:avLst/>
              <a:gdLst/>
              <a:ahLst/>
              <a:cxnLst/>
              <a:rect r="r" b="b" t="t" l="l"/>
              <a:pathLst>
                <a:path h="423392" w="888923">
                  <a:moveTo>
                    <a:pt x="22938" y="0"/>
                  </a:moveTo>
                  <a:lnTo>
                    <a:pt x="865985" y="0"/>
                  </a:lnTo>
                  <a:cubicBezTo>
                    <a:pt x="878653" y="0"/>
                    <a:pt x="888923" y="10270"/>
                    <a:pt x="888923" y="22938"/>
                  </a:cubicBezTo>
                  <a:lnTo>
                    <a:pt x="888923" y="400454"/>
                  </a:lnTo>
                  <a:cubicBezTo>
                    <a:pt x="888923" y="413122"/>
                    <a:pt x="878653" y="423392"/>
                    <a:pt x="865985" y="423392"/>
                  </a:cubicBezTo>
                  <a:lnTo>
                    <a:pt x="22938" y="423392"/>
                  </a:lnTo>
                  <a:cubicBezTo>
                    <a:pt x="10270" y="423392"/>
                    <a:pt x="0" y="413122"/>
                    <a:pt x="0" y="400454"/>
                  </a:cubicBezTo>
                  <a:lnTo>
                    <a:pt x="0" y="22938"/>
                  </a:lnTo>
                  <a:cubicBezTo>
                    <a:pt x="0" y="10270"/>
                    <a:pt x="10270" y="0"/>
                    <a:pt x="22938" y="0"/>
                  </a:cubicBezTo>
                  <a:close/>
                </a:path>
              </a:pathLst>
            </a:custGeom>
            <a:solidFill>
              <a:srgbClr val="FFFFFF"/>
            </a:solidFill>
            <a:ln w="38100" cap="sq">
              <a:solidFill>
                <a:srgbClr val="000000"/>
              </a:solidFill>
              <a:prstDash val="lgDash"/>
              <a:miter/>
            </a:ln>
          </p:spPr>
        </p:sp>
        <p:sp>
          <p:nvSpPr>
            <p:cNvPr name="TextBox 34" id="34"/>
            <p:cNvSpPr txBox="true"/>
            <p:nvPr/>
          </p:nvSpPr>
          <p:spPr>
            <a:xfrm>
              <a:off x="0" y="-38100"/>
              <a:ext cx="888923" cy="461492"/>
            </a:xfrm>
            <a:prstGeom prst="rect">
              <a:avLst/>
            </a:prstGeom>
          </p:spPr>
          <p:txBody>
            <a:bodyPr anchor="ctr" rtlCol="false" tIns="50800" lIns="50800" bIns="50800" rIns="50800"/>
            <a:lstStyle/>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QR toke</a:t>
              </a:r>
              <a:r>
                <a:rPr lang="en-US" sz="2000" spc="-74">
                  <a:solidFill>
                    <a:srgbClr val="000000"/>
                  </a:solidFill>
                  <a:latin typeface="Montserrat"/>
                  <a:ea typeface="Montserrat"/>
                  <a:cs typeface="Montserrat"/>
                  <a:sym typeface="Montserrat"/>
                </a:rPr>
                <a:t>n và phiên phục vụ</a:t>
              </a:r>
            </a:p>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Tenant, bàn và phiên</a:t>
              </a:r>
            </a:p>
          </p:txBody>
        </p:sp>
      </p:grpSp>
      <p:grpSp>
        <p:nvGrpSpPr>
          <p:cNvPr name="Group 35" id="35"/>
          <p:cNvGrpSpPr/>
          <p:nvPr/>
        </p:nvGrpSpPr>
        <p:grpSpPr>
          <a:xfrm rot="0">
            <a:off x="8866136" y="6607208"/>
            <a:ext cx="3283079" cy="1607566"/>
            <a:chOff x="0" y="0"/>
            <a:chExt cx="864679" cy="423392"/>
          </a:xfrm>
        </p:grpSpPr>
        <p:sp>
          <p:nvSpPr>
            <p:cNvPr name="Freeform 36" id="36"/>
            <p:cNvSpPr/>
            <p:nvPr/>
          </p:nvSpPr>
          <p:spPr>
            <a:xfrm flipH="false" flipV="false" rot="0">
              <a:off x="0" y="0"/>
              <a:ext cx="864679" cy="423392"/>
            </a:xfrm>
            <a:custGeom>
              <a:avLst/>
              <a:gdLst/>
              <a:ahLst/>
              <a:cxnLst/>
              <a:rect r="r" b="b" t="t" l="l"/>
              <a:pathLst>
                <a:path h="423392" w="864679">
                  <a:moveTo>
                    <a:pt x="23581" y="0"/>
                  </a:moveTo>
                  <a:lnTo>
                    <a:pt x="841098" y="0"/>
                  </a:lnTo>
                  <a:cubicBezTo>
                    <a:pt x="847352" y="0"/>
                    <a:pt x="853350" y="2484"/>
                    <a:pt x="857772" y="6907"/>
                  </a:cubicBezTo>
                  <a:cubicBezTo>
                    <a:pt x="862195" y="11329"/>
                    <a:pt x="864679" y="17327"/>
                    <a:pt x="864679" y="23581"/>
                  </a:cubicBezTo>
                  <a:lnTo>
                    <a:pt x="864679" y="399811"/>
                  </a:lnTo>
                  <a:cubicBezTo>
                    <a:pt x="864679" y="412834"/>
                    <a:pt x="854122" y="423392"/>
                    <a:pt x="841098" y="423392"/>
                  </a:cubicBezTo>
                  <a:lnTo>
                    <a:pt x="23581" y="423392"/>
                  </a:lnTo>
                  <a:cubicBezTo>
                    <a:pt x="17327" y="423392"/>
                    <a:pt x="11329" y="420907"/>
                    <a:pt x="6907" y="416485"/>
                  </a:cubicBezTo>
                  <a:cubicBezTo>
                    <a:pt x="2484" y="412063"/>
                    <a:pt x="0" y="406065"/>
                    <a:pt x="0" y="399811"/>
                  </a:cubicBezTo>
                  <a:lnTo>
                    <a:pt x="0" y="23581"/>
                  </a:lnTo>
                  <a:cubicBezTo>
                    <a:pt x="0" y="17327"/>
                    <a:pt x="2484" y="11329"/>
                    <a:pt x="6907" y="6907"/>
                  </a:cubicBezTo>
                  <a:cubicBezTo>
                    <a:pt x="11329" y="2484"/>
                    <a:pt x="17327" y="0"/>
                    <a:pt x="23581" y="0"/>
                  </a:cubicBezTo>
                  <a:close/>
                </a:path>
              </a:pathLst>
            </a:custGeom>
            <a:solidFill>
              <a:srgbClr val="FFFFFF"/>
            </a:solidFill>
            <a:ln w="38100" cap="sq">
              <a:solidFill>
                <a:srgbClr val="000000"/>
              </a:solidFill>
              <a:prstDash val="lgDash"/>
              <a:miter/>
            </a:ln>
          </p:spPr>
        </p:sp>
        <p:sp>
          <p:nvSpPr>
            <p:cNvPr name="TextBox 37" id="37"/>
            <p:cNvSpPr txBox="true"/>
            <p:nvPr/>
          </p:nvSpPr>
          <p:spPr>
            <a:xfrm>
              <a:off x="0" y="-38100"/>
              <a:ext cx="864679" cy="461492"/>
            </a:xfrm>
            <a:prstGeom prst="rect">
              <a:avLst/>
            </a:prstGeom>
          </p:spPr>
          <p:txBody>
            <a:bodyPr anchor="ctr" rtlCol="false" tIns="50800" lIns="50800" bIns="50800" rIns="50800"/>
            <a:lstStyle/>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Webhook</a:t>
              </a:r>
            </a:p>
            <a:p>
              <a:pPr algn="l" marL="431801" indent="-215900" lvl="1">
                <a:lnSpc>
                  <a:spcPts val="2800"/>
                </a:lnSpc>
                <a:buFont typeface="Arial"/>
                <a:buChar char="•"/>
              </a:pPr>
              <a:r>
                <a:rPr lang="en-US" sz="2000" spc="-74">
                  <a:solidFill>
                    <a:srgbClr val="000000"/>
                  </a:solidFill>
                  <a:latin typeface="Montserrat"/>
                  <a:ea typeface="Montserrat"/>
                  <a:cs typeface="Montserrat"/>
                  <a:sym typeface="Montserrat"/>
                </a:rPr>
                <a:t>Xác minh callback</a:t>
              </a:r>
            </a:p>
          </p:txBody>
        </p:sp>
      </p:grpSp>
      <p:sp>
        <p:nvSpPr>
          <p:cNvPr name="Freeform 38" id="38"/>
          <p:cNvSpPr/>
          <p:nvPr/>
        </p:nvSpPr>
        <p:spPr>
          <a:xfrm flipH="false" flipV="false" rot="0">
            <a:off x="13841963" y="6948196"/>
            <a:ext cx="3263319" cy="467063"/>
          </a:xfrm>
          <a:custGeom>
            <a:avLst/>
            <a:gdLst/>
            <a:ahLst/>
            <a:cxnLst/>
            <a:rect r="r" b="b" t="t" l="l"/>
            <a:pathLst>
              <a:path h="467063" w="3263319">
                <a:moveTo>
                  <a:pt x="0" y="0"/>
                </a:moveTo>
                <a:lnTo>
                  <a:pt x="3263319" y="0"/>
                </a:lnTo>
                <a:lnTo>
                  <a:pt x="3263319" y="467063"/>
                </a:lnTo>
                <a:lnTo>
                  <a:pt x="0" y="467063"/>
                </a:lnTo>
                <a:lnTo>
                  <a:pt x="0" y="0"/>
                </a:lnTo>
                <a:close/>
              </a:path>
            </a:pathLst>
          </a:custGeom>
          <a:blipFill>
            <a:blip r:embed="rId12"/>
            <a:stretch>
              <a:fillRect l="0" t="0" r="0" b="0"/>
            </a:stretch>
          </a:blipFill>
        </p:spPr>
      </p:sp>
      <p:sp>
        <p:nvSpPr>
          <p:cNvPr name="TextBox 39" id="39"/>
          <p:cNvSpPr txBox="true"/>
          <p:nvPr/>
        </p:nvSpPr>
        <p:spPr>
          <a:xfrm rot="0">
            <a:off x="1151708" y="5744918"/>
            <a:ext cx="3283079" cy="70989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Nhân viên, quản lý, chủ nhà hàng</a:t>
            </a:r>
          </a:p>
        </p:txBody>
      </p:sp>
      <p:sp>
        <p:nvSpPr>
          <p:cNvPr name="TextBox 40" id="40"/>
          <p:cNvSpPr txBox="true"/>
          <p:nvPr/>
        </p:nvSpPr>
        <p:spPr>
          <a:xfrm rot="0">
            <a:off x="1151708" y="2716356"/>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1. TÁC NHÂN CÓ TÀI KHOẢN</a:t>
            </a:r>
          </a:p>
        </p:txBody>
      </p:sp>
      <p:sp>
        <p:nvSpPr>
          <p:cNvPr name="TextBox 41" id="41"/>
          <p:cNvSpPr txBox="true"/>
          <p:nvPr/>
        </p:nvSpPr>
        <p:spPr>
          <a:xfrm rot="0">
            <a:off x="1028700" y="1265381"/>
            <a:ext cx="1678050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MÔ HÌNH TÁC NHÂN VÀ TRUY CẬP TRONG NỀN TẢNG POS</a:t>
            </a:r>
          </a:p>
        </p:txBody>
      </p:sp>
      <p:sp>
        <p:nvSpPr>
          <p:cNvPr name="TextBox 42" id="42"/>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43" id="43"/>
          <p:cNvSpPr txBox="true"/>
          <p:nvPr/>
        </p:nvSpPr>
        <p:spPr>
          <a:xfrm rot="0">
            <a:off x="4958882" y="5806671"/>
            <a:ext cx="3283079" cy="34794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Khá</a:t>
            </a:r>
            <a:r>
              <a:rPr lang="en-US" b="true" sz="2051" spc="-75">
                <a:solidFill>
                  <a:srgbClr val="000101"/>
                </a:solidFill>
                <a:latin typeface="Montserrat Bold"/>
                <a:ea typeface="Montserrat Bold"/>
                <a:cs typeface="Montserrat Bold"/>
                <a:sym typeface="Montserrat Bold"/>
              </a:rPr>
              <a:t>ch hàng tại bàn</a:t>
            </a:r>
          </a:p>
        </p:txBody>
      </p:sp>
      <p:sp>
        <p:nvSpPr>
          <p:cNvPr name="TextBox 44" id="44"/>
          <p:cNvSpPr txBox="true"/>
          <p:nvPr/>
        </p:nvSpPr>
        <p:spPr>
          <a:xfrm rot="0">
            <a:off x="5068728" y="2725881"/>
            <a:ext cx="3063386" cy="31546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2. TÁC NHÂN THEO PHIÊN</a:t>
            </a:r>
          </a:p>
        </p:txBody>
      </p:sp>
      <p:sp>
        <p:nvSpPr>
          <p:cNvPr name="TextBox 45" id="45"/>
          <p:cNvSpPr txBox="true"/>
          <p:nvPr/>
        </p:nvSpPr>
        <p:spPr>
          <a:xfrm rot="0">
            <a:off x="8866136" y="5806671"/>
            <a:ext cx="3283079" cy="34794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S</a:t>
            </a:r>
            <a:r>
              <a:rPr lang="en-US" b="true" sz="2051" spc="-75">
                <a:solidFill>
                  <a:srgbClr val="000101"/>
                </a:solidFill>
                <a:latin typeface="Montserrat Bold"/>
                <a:ea typeface="Montserrat Bold"/>
                <a:cs typeface="Montserrat Bold"/>
                <a:sym typeface="Montserrat Bold"/>
              </a:rPr>
              <a:t>ePay/VietQR</a:t>
            </a:r>
          </a:p>
        </p:txBody>
      </p:sp>
      <p:sp>
        <p:nvSpPr>
          <p:cNvPr name="TextBox 46" id="46"/>
          <p:cNvSpPr txBox="true"/>
          <p:nvPr/>
        </p:nvSpPr>
        <p:spPr>
          <a:xfrm rot="0">
            <a:off x="8989144" y="2797158"/>
            <a:ext cx="3063386" cy="31546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3. HỆ THỐNG BÊN NGOÀI</a:t>
            </a:r>
          </a:p>
        </p:txBody>
      </p:sp>
      <p:sp>
        <p:nvSpPr>
          <p:cNvPr name="TextBox 47" id="47"/>
          <p:cNvSpPr txBox="true"/>
          <p:nvPr/>
        </p:nvSpPr>
        <p:spPr>
          <a:xfrm rot="-114702">
            <a:off x="1142196" y="9716914"/>
            <a:ext cx="4146778"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CÔ LẬP TENANT VÀ KIỂM SOÁT TRUY CẬP</a:t>
            </a:r>
          </a:p>
        </p:txBody>
      </p:sp>
      <p:sp>
        <p:nvSpPr>
          <p:cNvPr name="TextBox 48" id="48"/>
          <p:cNvSpPr txBox="true"/>
          <p:nvPr/>
        </p:nvSpPr>
        <p:spPr>
          <a:xfrm rot="0">
            <a:off x="13775666" y="4730750"/>
            <a:ext cx="3283079" cy="412750"/>
          </a:xfrm>
          <a:prstGeom prst="rect">
            <a:avLst/>
          </a:prstGeom>
        </p:spPr>
        <p:txBody>
          <a:bodyPr anchor="t" rtlCol="false" tIns="0" lIns="0" bIns="0" rIns="0">
            <a:spAutoFit/>
          </a:bodyPr>
          <a:lstStyle/>
          <a:p>
            <a:pPr algn="ctr">
              <a:lnSpc>
                <a:spcPts val="3499"/>
              </a:lnSpc>
            </a:pPr>
            <a:r>
              <a:rPr lang="en-US" b="true" sz="2499" spc="-92">
                <a:solidFill>
                  <a:srgbClr val="000101"/>
                </a:solidFill>
                <a:latin typeface="Montserrat Bold"/>
                <a:ea typeface="Montserrat Bold"/>
                <a:cs typeface="Montserrat Bold"/>
                <a:sym typeface="Montserrat Bold"/>
              </a:rPr>
              <a:t>BFF</a:t>
            </a:r>
          </a:p>
        </p:txBody>
      </p:sp>
      <p:sp>
        <p:nvSpPr>
          <p:cNvPr name="AutoShape 49" id="49"/>
          <p:cNvSpPr/>
          <p:nvPr/>
        </p:nvSpPr>
        <p:spPr>
          <a:xfrm>
            <a:off x="12663676" y="3784558"/>
            <a:ext cx="1101157" cy="0"/>
          </a:xfrm>
          <a:prstGeom prst="line">
            <a:avLst/>
          </a:prstGeom>
          <a:ln cap="flat" w="38100">
            <a:solidFill>
              <a:srgbClr val="000000"/>
            </a:solidFill>
            <a:prstDash val="solid"/>
            <a:headEnd type="none" len="sm" w="sm"/>
            <a:tailEnd type="triangle" len="med" w="lg"/>
          </a:ln>
        </p:spPr>
      </p:sp>
      <p:sp>
        <p:nvSpPr>
          <p:cNvPr name="AutoShape 50" id="50"/>
          <p:cNvSpPr/>
          <p:nvPr/>
        </p:nvSpPr>
        <p:spPr>
          <a:xfrm>
            <a:off x="15417206" y="5372100"/>
            <a:ext cx="0" cy="1082708"/>
          </a:xfrm>
          <a:prstGeom prst="line">
            <a:avLst/>
          </a:prstGeom>
          <a:ln cap="flat" w="38100">
            <a:solidFill>
              <a:srgbClr val="000000"/>
            </a:solidFill>
            <a:prstDash val="solid"/>
            <a:headEnd type="none" len="sm" w="sm"/>
            <a:tailEnd type="triangle" len="med" w="lg"/>
          </a:ln>
        </p:spPr>
      </p:sp>
      <p:sp>
        <p:nvSpPr>
          <p:cNvPr name="TextBox 51" id="51"/>
          <p:cNvSpPr txBox="true"/>
          <p:nvPr/>
        </p:nvSpPr>
        <p:spPr>
          <a:xfrm rot="0">
            <a:off x="13899332" y="7605759"/>
            <a:ext cx="3283079" cy="412750"/>
          </a:xfrm>
          <a:prstGeom prst="rect">
            <a:avLst/>
          </a:prstGeom>
        </p:spPr>
        <p:txBody>
          <a:bodyPr anchor="t" rtlCol="false" tIns="0" lIns="0" bIns="0" rIns="0">
            <a:spAutoFit/>
          </a:bodyPr>
          <a:lstStyle/>
          <a:p>
            <a:pPr algn="ctr">
              <a:lnSpc>
                <a:spcPts val="3499"/>
              </a:lnSpc>
            </a:pPr>
            <a:r>
              <a:rPr lang="en-US" b="true" sz="2499" spc="-92">
                <a:solidFill>
                  <a:srgbClr val="000101"/>
                </a:solidFill>
                <a:latin typeface="Montserrat Bold"/>
                <a:ea typeface="Montserrat Bold"/>
                <a:cs typeface="Montserrat Bold"/>
                <a:sym typeface="Montserrat Bold"/>
              </a:rPr>
              <a:t>Domain Services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0">
            <a:off x="323493" y="2802688"/>
            <a:ext cx="3237952" cy="4943066"/>
            <a:chOff x="0" y="0"/>
            <a:chExt cx="1032708" cy="1576536"/>
          </a:xfrm>
        </p:grpSpPr>
        <p:sp>
          <p:nvSpPr>
            <p:cNvPr name="Freeform 3" id="3"/>
            <p:cNvSpPr/>
            <p:nvPr/>
          </p:nvSpPr>
          <p:spPr>
            <a:xfrm flipH="false" flipV="false" rot="0">
              <a:off x="0" y="0"/>
              <a:ext cx="1032708" cy="1576536"/>
            </a:xfrm>
            <a:custGeom>
              <a:avLst/>
              <a:gdLst/>
              <a:ahLst/>
              <a:cxnLst/>
              <a:rect r="r" b="b" t="t" l="l"/>
              <a:pathLst>
                <a:path h="1576536" w="1032708">
                  <a:moveTo>
                    <a:pt x="40647" y="0"/>
                  </a:moveTo>
                  <a:lnTo>
                    <a:pt x="992062" y="0"/>
                  </a:lnTo>
                  <a:cubicBezTo>
                    <a:pt x="1014510" y="0"/>
                    <a:pt x="1032708" y="18198"/>
                    <a:pt x="1032708" y="40647"/>
                  </a:cubicBezTo>
                  <a:lnTo>
                    <a:pt x="1032708" y="1535889"/>
                  </a:lnTo>
                  <a:cubicBezTo>
                    <a:pt x="1032708" y="1558337"/>
                    <a:pt x="1014510" y="1576536"/>
                    <a:pt x="992062" y="1576536"/>
                  </a:cubicBezTo>
                  <a:lnTo>
                    <a:pt x="40647" y="1576536"/>
                  </a:lnTo>
                  <a:cubicBezTo>
                    <a:pt x="18198" y="1576536"/>
                    <a:pt x="0" y="1558337"/>
                    <a:pt x="0" y="1535889"/>
                  </a:cubicBezTo>
                  <a:lnTo>
                    <a:pt x="0" y="40647"/>
                  </a:lnTo>
                  <a:cubicBezTo>
                    <a:pt x="0" y="18198"/>
                    <a:pt x="18198" y="0"/>
                    <a:pt x="40647" y="0"/>
                  </a:cubicBezTo>
                  <a:close/>
                </a:path>
              </a:pathLst>
            </a:custGeom>
            <a:solidFill>
              <a:srgbClr val="22D3EE"/>
            </a:solidFill>
          </p:spPr>
        </p:sp>
        <p:sp>
          <p:nvSpPr>
            <p:cNvPr name="TextBox 4" id="4"/>
            <p:cNvSpPr txBox="true"/>
            <p:nvPr/>
          </p:nvSpPr>
          <p:spPr>
            <a:xfrm>
              <a:off x="0" y="-47625"/>
              <a:ext cx="1032708" cy="1624161"/>
            </a:xfrm>
            <a:prstGeom prst="rect">
              <a:avLst/>
            </a:prstGeom>
          </p:spPr>
          <p:txBody>
            <a:bodyPr anchor="ctr" rtlCol="false" tIns="50800" lIns="50800" bIns="50800" rIns="50800"/>
            <a:lstStyle/>
            <a:p>
              <a:pPr algn="ctr">
                <a:lnSpc>
                  <a:spcPts val="3500"/>
                </a:lnSpc>
              </a:pPr>
            </a:p>
          </p:txBody>
        </p:sp>
      </p:grpSp>
      <p:sp>
        <p:nvSpPr>
          <p:cNvPr name="AutoShape 5" id="5"/>
          <p:cNvSpPr/>
          <p:nvPr/>
        </p:nvSpPr>
        <p:spPr>
          <a:xfrm flipH="true" flipV="true">
            <a:off x="680136" y="5638176"/>
            <a:ext cx="2359332" cy="19050"/>
          </a:xfrm>
          <a:prstGeom prst="line">
            <a:avLst/>
          </a:prstGeom>
          <a:ln cap="flat" w="19050">
            <a:solidFill>
              <a:srgbClr val="000000"/>
            </a:solidFill>
            <a:prstDash val="solid"/>
            <a:headEnd type="none" len="sm" w="sm"/>
            <a:tailEnd type="none" len="sm" w="sm"/>
          </a:ln>
        </p:spPr>
      </p:sp>
      <p:sp>
        <p:nvSpPr>
          <p:cNvPr name="Freeform 6" id="6"/>
          <p:cNvSpPr/>
          <p:nvPr/>
        </p:nvSpPr>
        <p:spPr>
          <a:xfrm flipH="false" flipV="false" rot="0">
            <a:off x="105825"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7" id="7"/>
          <p:cNvSpPr/>
          <p:nvPr/>
        </p:nvSpPr>
        <p:spPr>
          <a:xfrm flipH="false" flipV="false" rot="-666000">
            <a:off x="16065145" y="8905755"/>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8" id="8"/>
          <p:cNvSpPr/>
          <p:nvPr/>
        </p:nvSpPr>
        <p:spPr>
          <a:xfrm flipH="false" flipV="false" rot="-762504">
            <a:off x="14258765" y="8934657"/>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5"/>
            <a:stretch>
              <a:fillRect l="0" t="0" r="0" b="0"/>
            </a:stretch>
          </a:blipFill>
        </p:spPr>
      </p:sp>
      <p:sp>
        <p:nvSpPr>
          <p:cNvPr name="Freeform 9" id="9"/>
          <p:cNvSpPr/>
          <p:nvPr/>
        </p:nvSpPr>
        <p:spPr>
          <a:xfrm flipH="false" flipV="false" rot="-401527">
            <a:off x="15881615" y="28906"/>
            <a:ext cx="3124356" cy="1999588"/>
          </a:xfrm>
          <a:custGeom>
            <a:avLst/>
            <a:gdLst/>
            <a:ahLst/>
            <a:cxnLst/>
            <a:rect r="r" b="b" t="t" l="l"/>
            <a:pathLst>
              <a:path h="1999588" w="3124356">
                <a:moveTo>
                  <a:pt x="0" y="0"/>
                </a:moveTo>
                <a:lnTo>
                  <a:pt x="3124356" y="0"/>
                </a:lnTo>
                <a:lnTo>
                  <a:pt x="3124356" y="1999588"/>
                </a:lnTo>
                <a:lnTo>
                  <a:pt x="0" y="19995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2349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13</a:t>
            </a:r>
          </a:p>
        </p:txBody>
      </p:sp>
      <p:grpSp>
        <p:nvGrpSpPr>
          <p:cNvPr name="Group 11" id="11"/>
          <p:cNvGrpSpPr/>
          <p:nvPr/>
        </p:nvGrpSpPr>
        <p:grpSpPr>
          <a:xfrm rot="-131315">
            <a:off x="998571" y="9695400"/>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4" id="14"/>
          <p:cNvGrpSpPr/>
          <p:nvPr/>
        </p:nvGrpSpPr>
        <p:grpSpPr>
          <a:xfrm rot="-131315">
            <a:off x="923268" y="9664429"/>
            <a:ext cx="4566539" cy="346177"/>
            <a:chOff x="0" y="0"/>
            <a:chExt cx="3857979" cy="292463"/>
          </a:xfrm>
        </p:grpSpPr>
        <p:sp>
          <p:nvSpPr>
            <p:cNvPr name="Freeform 15" id="15"/>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6" id="16"/>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17" id="17"/>
          <p:cNvSpPr/>
          <p:nvPr/>
        </p:nvSpPr>
        <p:spPr>
          <a:xfrm flipH="false" flipV="false" rot="0">
            <a:off x="1223760" y="3663225"/>
            <a:ext cx="1385397" cy="1706108"/>
          </a:xfrm>
          <a:custGeom>
            <a:avLst/>
            <a:gdLst/>
            <a:ahLst/>
            <a:cxnLst/>
            <a:rect r="r" b="b" t="t" l="l"/>
            <a:pathLst>
              <a:path h="1706108" w="1385397">
                <a:moveTo>
                  <a:pt x="0" y="0"/>
                </a:moveTo>
                <a:lnTo>
                  <a:pt x="1385397" y="0"/>
                </a:lnTo>
                <a:lnTo>
                  <a:pt x="1385397" y="1706108"/>
                </a:lnTo>
                <a:lnTo>
                  <a:pt x="0" y="1706108"/>
                </a:lnTo>
                <a:lnTo>
                  <a:pt x="0" y="0"/>
                </a:lnTo>
                <a:close/>
              </a:path>
            </a:pathLst>
          </a:custGeom>
          <a:blipFill>
            <a:blip r:embed="rId8"/>
            <a:stretch>
              <a:fillRect l="0" t="0" r="0" b="0"/>
            </a:stretch>
          </a:blipFill>
        </p:spPr>
      </p:sp>
      <p:grpSp>
        <p:nvGrpSpPr>
          <p:cNvPr name="Group 18" id="18"/>
          <p:cNvGrpSpPr/>
          <p:nvPr/>
        </p:nvGrpSpPr>
        <p:grpSpPr>
          <a:xfrm rot="0">
            <a:off x="3862392" y="2804101"/>
            <a:ext cx="3237952" cy="4943066"/>
            <a:chOff x="0" y="0"/>
            <a:chExt cx="1032708" cy="1576536"/>
          </a:xfrm>
        </p:grpSpPr>
        <p:sp>
          <p:nvSpPr>
            <p:cNvPr name="Freeform 19" id="19"/>
            <p:cNvSpPr/>
            <p:nvPr/>
          </p:nvSpPr>
          <p:spPr>
            <a:xfrm flipH="false" flipV="false" rot="0">
              <a:off x="0" y="0"/>
              <a:ext cx="1032708" cy="1576536"/>
            </a:xfrm>
            <a:custGeom>
              <a:avLst/>
              <a:gdLst/>
              <a:ahLst/>
              <a:cxnLst/>
              <a:rect r="r" b="b" t="t" l="l"/>
              <a:pathLst>
                <a:path h="1576536" w="1032708">
                  <a:moveTo>
                    <a:pt x="40647" y="0"/>
                  </a:moveTo>
                  <a:lnTo>
                    <a:pt x="992062" y="0"/>
                  </a:lnTo>
                  <a:cubicBezTo>
                    <a:pt x="1014510" y="0"/>
                    <a:pt x="1032708" y="18198"/>
                    <a:pt x="1032708" y="40647"/>
                  </a:cubicBezTo>
                  <a:lnTo>
                    <a:pt x="1032708" y="1535889"/>
                  </a:lnTo>
                  <a:cubicBezTo>
                    <a:pt x="1032708" y="1558337"/>
                    <a:pt x="1014510" y="1576536"/>
                    <a:pt x="992062" y="1576536"/>
                  </a:cubicBezTo>
                  <a:lnTo>
                    <a:pt x="40647" y="1576536"/>
                  </a:lnTo>
                  <a:cubicBezTo>
                    <a:pt x="18198" y="1576536"/>
                    <a:pt x="0" y="1558337"/>
                    <a:pt x="0" y="1535889"/>
                  </a:cubicBezTo>
                  <a:lnTo>
                    <a:pt x="0" y="40647"/>
                  </a:lnTo>
                  <a:cubicBezTo>
                    <a:pt x="0" y="18198"/>
                    <a:pt x="18198" y="0"/>
                    <a:pt x="40647" y="0"/>
                  </a:cubicBezTo>
                  <a:close/>
                </a:path>
              </a:pathLst>
            </a:custGeom>
            <a:solidFill>
              <a:srgbClr val="22D3EE"/>
            </a:solidFill>
          </p:spPr>
        </p:sp>
        <p:sp>
          <p:nvSpPr>
            <p:cNvPr name="TextBox 20" id="20"/>
            <p:cNvSpPr txBox="true"/>
            <p:nvPr/>
          </p:nvSpPr>
          <p:spPr>
            <a:xfrm>
              <a:off x="0" y="-47625"/>
              <a:ext cx="1032708" cy="1624161"/>
            </a:xfrm>
            <a:prstGeom prst="rect">
              <a:avLst/>
            </a:prstGeom>
          </p:spPr>
          <p:txBody>
            <a:bodyPr anchor="ctr" rtlCol="false" tIns="50800" lIns="50800" bIns="50800" rIns="50800"/>
            <a:lstStyle/>
            <a:p>
              <a:pPr algn="ctr">
                <a:lnSpc>
                  <a:spcPts val="3500"/>
                </a:lnSpc>
              </a:pPr>
            </a:p>
          </p:txBody>
        </p:sp>
      </p:grpSp>
      <p:sp>
        <p:nvSpPr>
          <p:cNvPr name="Freeform 21" id="21"/>
          <p:cNvSpPr/>
          <p:nvPr/>
        </p:nvSpPr>
        <p:spPr>
          <a:xfrm flipH="false" flipV="false" rot="0">
            <a:off x="4707084" y="3766167"/>
            <a:ext cx="1496546" cy="1500223"/>
          </a:xfrm>
          <a:custGeom>
            <a:avLst/>
            <a:gdLst/>
            <a:ahLst/>
            <a:cxnLst/>
            <a:rect r="r" b="b" t="t" l="l"/>
            <a:pathLst>
              <a:path h="1500223" w="1496546">
                <a:moveTo>
                  <a:pt x="0" y="0"/>
                </a:moveTo>
                <a:lnTo>
                  <a:pt x="1496546" y="0"/>
                </a:lnTo>
                <a:lnTo>
                  <a:pt x="1496546" y="1500223"/>
                </a:lnTo>
                <a:lnTo>
                  <a:pt x="0" y="1500223"/>
                </a:lnTo>
                <a:lnTo>
                  <a:pt x="0" y="0"/>
                </a:lnTo>
                <a:close/>
              </a:path>
            </a:pathLst>
          </a:custGeom>
          <a:blipFill>
            <a:blip r:embed="rId9"/>
            <a:stretch>
              <a:fillRect l="0" t="0" r="0" b="0"/>
            </a:stretch>
          </a:blipFill>
        </p:spPr>
      </p:sp>
      <p:sp>
        <p:nvSpPr>
          <p:cNvPr name="AutoShape 22" id="22"/>
          <p:cNvSpPr/>
          <p:nvPr/>
        </p:nvSpPr>
        <p:spPr>
          <a:xfrm flipH="true" flipV="true">
            <a:off x="4219034" y="5639590"/>
            <a:ext cx="2359332" cy="19050"/>
          </a:xfrm>
          <a:prstGeom prst="line">
            <a:avLst/>
          </a:prstGeom>
          <a:ln cap="flat" w="19050">
            <a:solidFill>
              <a:srgbClr val="000000"/>
            </a:solidFill>
            <a:prstDash val="solid"/>
            <a:headEnd type="none" len="sm" w="sm"/>
            <a:tailEnd type="none" len="sm" w="sm"/>
          </a:ln>
        </p:spPr>
      </p:sp>
      <p:grpSp>
        <p:nvGrpSpPr>
          <p:cNvPr name="Group 23" id="23"/>
          <p:cNvGrpSpPr/>
          <p:nvPr/>
        </p:nvGrpSpPr>
        <p:grpSpPr>
          <a:xfrm rot="0">
            <a:off x="7371601" y="2804101"/>
            <a:ext cx="3237952" cy="4943066"/>
            <a:chOff x="0" y="0"/>
            <a:chExt cx="1032708" cy="1576536"/>
          </a:xfrm>
        </p:grpSpPr>
        <p:sp>
          <p:nvSpPr>
            <p:cNvPr name="Freeform 24" id="24"/>
            <p:cNvSpPr/>
            <p:nvPr/>
          </p:nvSpPr>
          <p:spPr>
            <a:xfrm flipH="false" flipV="false" rot="0">
              <a:off x="0" y="0"/>
              <a:ext cx="1032708" cy="1576536"/>
            </a:xfrm>
            <a:custGeom>
              <a:avLst/>
              <a:gdLst/>
              <a:ahLst/>
              <a:cxnLst/>
              <a:rect r="r" b="b" t="t" l="l"/>
              <a:pathLst>
                <a:path h="1576536" w="1032708">
                  <a:moveTo>
                    <a:pt x="40647" y="0"/>
                  </a:moveTo>
                  <a:lnTo>
                    <a:pt x="992062" y="0"/>
                  </a:lnTo>
                  <a:cubicBezTo>
                    <a:pt x="1014510" y="0"/>
                    <a:pt x="1032708" y="18198"/>
                    <a:pt x="1032708" y="40647"/>
                  </a:cubicBezTo>
                  <a:lnTo>
                    <a:pt x="1032708" y="1535889"/>
                  </a:lnTo>
                  <a:cubicBezTo>
                    <a:pt x="1032708" y="1558337"/>
                    <a:pt x="1014510" y="1576536"/>
                    <a:pt x="992062" y="1576536"/>
                  </a:cubicBezTo>
                  <a:lnTo>
                    <a:pt x="40647" y="1576536"/>
                  </a:lnTo>
                  <a:cubicBezTo>
                    <a:pt x="18198" y="1576536"/>
                    <a:pt x="0" y="1558337"/>
                    <a:pt x="0" y="1535889"/>
                  </a:cubicBezTo>
                  <a:lnTo>
                    <a:pt x="0" y="40647"/>
                  </a:lnTo>
                  <a:cubicBezTo>
                    <a:pt x="0" y="18198"/>
                    <a:pt x="18198" y="0"/>
                    <a:pt x="40647" y="0"/>
                  </a:cubicBezTo>
                  <a:close/>
                </a:path>
              </a:pathLst>
            </a:custGeom>
            <a:solidFill>
              <a:srgbClr val="22D3EE"/>
            </a:solidFill>
          </p:spPr>
        </p:sp>
        <p:sp>
          <p:nvSpPr>
            <p:cNvPr name="TextBox 25" id="25"/>
            <p:cNvSpPr txBox="true"/>
            <p:nvPr/>
          </p:nvSpPr>
          <p:spPr>
            <a:xfrm>
              <a:off x="0" y="-47625"/>
              <a:ext cx="1032708" cy="1624161"/>
            </a:xfrm>
            <a:prstGeom prst="rect">
              <a:avLst/>
            </a:prstGeom>
          </p:spPr>
          <p:txBody>
            <a:bodyPr anchor="ctr" rtlCol="false" tIns="50800" lIns="50800" bIns="50800" rIns="50800"/>
            <a:lstStyle/>
            <a:p>
              <a:pPr algn="ctr">
                <a:lnSpc>
                  <a:spcPts val="3500"/>
                </a:lnSpc>
              </a:pPr>
            </a:p>
          </p:txBody>
        </p:sp>
      </p:grpSp>
      <p:sp>
        <p:nvSpPr>
          <p:cNvPr name="AutoShape 26" id="26"/>
          <p:cNvSpPr/>
          <p:nvPr/>
        </p:nvSpPr>
        <p:spPr>
          <a:xfrm flipH="true" flipV="true">
            <a:off x="7728244" y="5639590"/>
            <a:ext cx="2359332" cy="19050"/>
          </a:xfrm>
          <a:prstGeom prst="line">
            <a:avLst/>
          </a:prstGeom>
          <a:ln cap="flat" w="19050">
            <a:solidFill>
              <a:srgbClr val="000000"/>
            </a:solidFill>
            <a:prstDash val="solid"/>
            <a:headEnd type="none" len="sm" w="sm"/>
            <a:tailEnd type="none" len="sm" w="sm"/>
          </a:ln>
        </p:spPr>
      </p:sp>
      <p:grpSp>
        <p:nvGrpSpPr>
          <p:cNvPr name="Group 27" id="27"/>
          <p:cNvGrpSpPr/>
          <p:nvPr/>
        </p:nvGrpSpPr>
        <p:grpSpPr>
          <a:xfrm rot="0">
            <a:off x="10876253" y="2804101"/>
            <a:ext cx="3237952" cy="4943066"/>
            <a:chOff x="0" y="0"/>
            <a:chExt cx="1032708" cy="1576536"/>
          </a:xfrm>
        </p:grpSpPr>
        <p:sp>
          <p:nvSpPr>
            <p:cNvPr name="Freeform 28" id="28"/>
            <p:cNvSpPr/>
            <p:nvPr/>
          </p:nvSpPr>
          <p:spPr>
            <a:xfrm flipH="false" flipV="false" rot="0">
              <a:off x="0" y="0"/>
              <a:ext cx="1032708" cy="1576536"/>
            </a:xfrm>
            <a:custGeom>
              <a:avLst/>
              <a:gdLst/>
              <a:ahLst/>
              <a:cxnLst/>
              <a:rect r="r" b="b" t="t" l="l"/>
              <a:pathLst>
                <a:path h="1576536" w="1032708">
                  <a:moveTo>
                    <a:pt x="40647" y="0"/>
                  </a:moveTo>
                  <a:lnTo>
                    <a:pt x="992062" y="0"/>
                  </a:lnTo>
                  <a:cubicBezTo>
                    <a:pt x="1014510" y="0"/>
                    <a:pt x="1032708" y="18198"/>
                    <a:pt x="1032708" y="40647"/>
                  </a:cubicBezTo>
                  <a:lnTo>
                    <a:pt x="1032708" y="1535889"/>
                  </a:lnTo>
                  <a:cubicBezTo>
                    <a:pt x="1032708" y="1558337"/>
                    <a:pt x="1014510" y="1576536"/>
                    <a:pt x="992062" y="1576536"/>
                  </a:cubicBezTo>
                  <a:lnTo>
                    <a:pt x="40647" y="1576536"/>
                  </a:lnTo>
                  <a:cubicBezTo>
                    <a:pt x="18198" y="1576536"/>
                    <a:pt x="0" y="1558337"/>
                    <a:pt x="0" y="1535889"/>
                  </a:cubicBezTo>
                  <a:lnTo>
                    <a:pt x="0" y="40647"/>
                  </a:lnTo>
                  <a:cubicBezTo>
                    <a:pt x="0" y="18198"/>
                    <a:pt x="18198" y="0"/>
                    <a:pt x="40647" y="0"/>
                  </a:cubicBezTo>
                  <a:close/>
                </a:path>
              </a:pathLst>
            </a:custGeom>
            <a:solidFill>
              <a:srgbClr val="22D3EE"/>
            </a:solidFill>
          </p:spPr>
        </p:sp>
        <p:sp>
          <p:nvSpPr>
            <p:cNvPr name="TextBox 29" id="29"/>
            <p:cNvSpPr txBox="true"/>
            <p:nvPr/>
          </p:nvSpPr>
          <p:spPr>
            <a:xfrm>
              <a:off x="0" y="-47625"/>
              <a:ext cx="1032708" cy="1624161"/>
            </a:xfrm>
            <a:prstGeom prst="rect">
              <a:avLst/>
            </a:prstGeom>
          </p:spPr>
          <p:txBody>
            <a:bodyPr anchor="ctr" rtlCol="false" tIns="50800" lIns="50800" bIns="50800" rIns="50800"/>
            <a:lstStyle/>
            <a:p>
              <a:pPr algn="ctr">
                <a:lnSpc>
                  <a:spcPts val="3500"/>
                </a:lnSpc>
              </a:pPr>
            </a:p>
          </p:txBody>
        </p:sp>
      </p:grpSp>
      <p:sp>
        <p:nvSpPr>
          <p:cNvPr name="AutoShape 30" id="30"/>
          <p:cNvSpPr/>
          <p:nvPr/>
        </p:nvSpPr>
        <p:spPr>
          <a:xfrm flipH="true" flipV="true">
            <a:off x="11232895" y="5639590"/>
            <a:ext cx="2359332" cy="19050"/>
          </a:xfrm>
          <a:prstGeom prst="line">
            <a:avLst/>
          </a:prstGeom>
          <a:ln cap="flat" w="19050">
            <a:solidFill>
              <a:srgbClr val="000000"/>
            </a:solidFill>
            <a:prstDash val="solid"/>
            <a:headEnd type="none" len="sm" w="sm"/>
            <a:tailEnd type="none" len="sm" w="sm"/>
          </a:ln>
        </p:spPr>
      </p:sp>
      <p:sp>
        <p:nvSpPr>
          <p:cNvPr name="Freeform 31" id="31"/>
          <p:cNvSpPr/>
          <p:nvPr/>
        </p:nvSpPr>
        <p:spPr>
          <a:xfrm flipH="false" flipV="false" rot="0">
            <a:off x="11776519" y="3664638"/>
            <a:ext cx="1385397" cy="1706108"/>
          </a:xfrm>
          <a:custGeom>
            <a:avLst/>
            <a:gdLst/>
            <a:ahLst/>
            <a:cxnLst/>
            <a:rect r="r" b="b" t="t" l="l"/>
            <a:pathLst>
              <a:path h="1706108" w="1385397">
                <a:moveTo>
                  <a:pt x="0" y="0"/>
                </a:moveTo>
                <a:lnTo>
                  <a:pt x="1385397" y="0"/>
                </a:lnTo>
                <a:lnTo>
                  <a:pt x="1385397" y="1706108"/>
                </a:lnTo>
                <a:lnTo>
                  <a:pt x="0" y="1706108"/>
                </a:lnTo>
                <a:lnTo>
                  <a:pt x="0" y="0"/>
                </a:lnTo>
                <a:close/>
              </a:path>
            </a:pathLst>
          </a:custGeom>
          <a:blipFill>
            <a:blip r:embed="rId8"/>
            <a:stretch>
              <a:fillRect l="0" t="0" r="0" b="0"/>
            </a:stretch>
          </a:blipFill>
        </p:spPr>
      </p:sp>
      <p:grpSp>
        <p:nvGrpSpPr>
          <p:cNvPr name="Group 32" id="32"/>
          <p:cNvGrpSpPr/>
          <p:nvPr/>
        </p:nvGrpSpPr>
        <p:grpSpPr>
          <a:xfrm rot="0">
            <a:off x="14380905" y="2802688"/>
            <a:ext cx="3237952" cy="4943066"/>
            <a:chOff x="0" y="0"/>
            <a:chExt cx="1032708" cy="1576536"/>
          </a:xfrm>
        </p:grpSpPr>
        <p:sp>
          <p:nvSpPr>
            <p:cNvPr name="Freeform 33" id="33"/>
            <p:cNvSpPr/>
            <p:nvPr/>
          </p:nvSpPr>
          <p:spPr>
            <a:xfrm flipH="false" flipV="false" rot="0">
              <a:off x="0" y="0"/>
              <a:ext cx="1032708" cy="1576536"/>
            </a:xfrm>
            <a:custGeom>
              <a:avLst/>
              <a:gdLst/>
              <a:ahLst/>
              <a:cxnLst/>
              <a:rect r="r" b="b" t="t" l="l"/>
              <a:pathLst>
                <a:path h="1576536" w="1032708">
                  <a:moveTo>
                    <a:pt x="40647" y="0"/>
                  </a:moveTo>
                  <a:lnTo>
                    <a:pt x="992062" y="0"/>
                  </a:lnTo>
                  <a:cubicBezTo>
                    <a:pt x="1014510" y="0"/>
                    <a:pt x="1032708" y="18198"/>
                    <a:pt x="1032708" y="40647"/>
                  </a:cubicBezTo>
                  <a:lnTo>
                    <a:pt x="1032708" y="1535889"/>
                  </a:lnTo>
                  <a:cubicBezTo>
                    <a:pt x="1032708" y="1558337"/>
                    <a:pt x="1014510" y="1576536"/>
                    <a:pt x="992062" y="1576536"/>
                  </a:cubicBezTo>
                  <a:lnTo>
                    <a:pt x="40647" y="1576536"/>
                  </a:lnTo>
                  <a:cubicBezTo>
                    <a:pt x="18198" y="1576536"/>
                    <a:pt x="0" y="1558337"/>
                    <a:pt x="0" y="1535889"/>
                  </a:cubicBezTo>
                  <a:lnTo>
                    <a:pt x="0" y="40647"/>
                  </a:lnTo>
                  <a:cubicBezTo>
                    <a:pt x="0" y="18198"/>
                    <a:pt x="18198" y="0"/>
                    <a:pt x="40647" y="0"/>
                  </a:cubicBezTo>
                  <a:close/>
                </a:path>
              </a:pathLst>
            </a:custGeom>
            <a:solidFill>
              <a:srgbClr val="22D3EE"/>
            </a:solidFill>
          </p:spPr>
        </p:sp>
        <p:sp>
          <p:nvSpPr>
            <p:cNvPr name="TextBox 34" id="34"/>
            <p:cNvSpPr txBox="true"/>
            <p:nvPr/>
          </p:nvSpPr>
          <p:spPr>
            <a:xfrm>
              <a:off x="0" y="-47625"/>
              <a:ext cx="1032708" cy="1624161"/>
            </a:xfrm>
            <a:prstGeom prst="rect">
              <a:avLst/>
            </a:prstGeom>
          </p:spPr>
          <p:txBody>
            <a:bodyPr anchor="ctr" rtlCol="false" tIns="50800" lIns="50800" bIns="50800" rIns="50800"/>
            <a:lstStyle/>
            <a:p>
              <a:pPr algn="ctr">
                <a:lnSpc>
                  <a:spcPts val="3500"/>
                </a:lnSpc>
              </a:pPr>
            </a:p>
          </p:txBody>
        </p:sp>
      </p:grpSp>
      <p:sp>
        <p:nvSpPr>
          <p:cNvPr name="AutoShape 35" id="35"/>
          <p:cNvSpPr/>
          <p:nvPr/>
        </p:nvSpPr>
        <p:spPr>
          <a:xfrm flipH="true" flipV="true">
            <a:off x="14737547" y="5638176"/>
            <a:ext cx="2359332" cy="19050"/>
          </a:xfrm>
          <a:prstGeom prst="line">
            <a:avLst/>
          </a:prstGeom>
          <a:ln cap="flat" w="19050">
            <a:solidFill>
              <a:srgbClr val="000000"/>
            </a:solidFill>
            <a:prstDash val="solid"/>
            <a:headEnd type="none" len="sm" w="sm"/>
            <a:tailEnd type="none" len="sm" w="sm"/>
          </a:ln>
        </p:spPr>
      </p:sp>
      <p:sp>
        <p:nvSpPr>
          <p:cNvPr name="Freeform 36" id="36"/>
          <p:cNvSpPr/>
          <p:nvPr/>
        </p:nvSpPr>
        <p:spPr>
          <a:xfrm flipH="false" flipV="false" rot="0">
            <a:off x="15281171" y="3663225"/>
            <a:ext cx="1385397" cy="1706108"/>
          </a:xfrm>
          <a:custGeom>
            <a:avLst/>
            <a:gdLst/>
            <a:ahLst/>
            <a:cxnLst/>
            <a:rect r="r" b="b" t="t" l="l"/>
            <a:pathLst>
              <a:path h="1706108" w="1385397">
                <a:moveTo>
                  <a:pt x="0" y="0"/>
                </a:moveTo>
                <a:lnTo>
                  <a:pt x="1385397" y="0"/>
                </a:lnTo>
                <a:lnTo>
                  <a:pt x="1385397" y="1706108"/>
                </a:lnTo>
                <a:lnTo>
                  <a:pt x="0" y="1706108"/>
                </a:lnTo>
                <a:lnTo>
                  <a:pt x="0" y="0"/>
                </a:lnTo>
                <a:close/>
              </a:path>
            </a:pathLst>
          </a:custGeom>
          <a:blipFill>
            <a:blip r:embed="rId8"/>
            <a:stretch>
              <a:fillRect l="0" t="0" r="0" b="0"/>
            </a:stretch>
          </a:blipFill>
        </p:spPr>
      </p:sp>
      <p:sp>
        <p:nvSpPr>
          <p:cNvPr name="Freeform 37" id="37"/>
          <p:cNvSpPr/>
          <p:nvPr/>
        </p:nvSpPr>
        <p:spPr>
          <a:xfrm flipH="false" flipV="false" rot="0">
            <a:off x="8305394" y="3903850"/>
            <a:ext cx="1370367" cy="1430282"/>
          </a:xfrm>
          <a:custGeom>
            <a:avLst/>
            <a:gdLst/>
            <a:ahLst/>
            <a:cxnLst/>
            <a:rect r="r" b="b" t="t" l="l"/>
            <a:pathLst>
              <a:path h="1430282" w="1370367">
                <a:moveTo>
                  <a:pt x="0" y="0"/>
                </a:moveTo>
                <a:lnTo>
                  <a:pt x="1370367" y="0"/>
                </a:lnTo>
                <a:lnTo>
                  <a:pt x="1370367" y="1430282"/>
                </a:lnTo>
                <a:lnTo>
                  <a:pt x="0" y="1430282"/>
                </a:lnTo>
                <a:lnTo>
                  <a:pt x="0" y="0"/>
                </a:lnTo>
                <a:close/>
              </a:path>
            </a:pathLst>
          </a:custGeom>
          <a:blipFill>
            <a:blip r:embed="rId10"/>
            <a:stretch>
              <a:fillRect l="0" t="0" r="0" b="0"/>
            </a:stretch>
          </a:blipFill>
        </p:spPr>
      </p:sp>
      <p:sp>
        <p:nvSpPr>
          <p:cNvPr name="TextBox 38" id="38"/>
          <p:cNvSpPr txBox="true"/>
          <p:nvPr/>
        </p:nvSpPr>
        <p:spPr>
          <a:xfrm rot="0">
            <a:off x="515799" y="5793150"/>
            <a:ext cx="2801317" cy="34794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xá</a:t>
            </a:r>
            <a:r>
              <a:rPr lang="en-US" b="true" sz="2051" spc="-75">
                <a:solidFill>
                  <a:srgbClr val="000101"/>
                </a:solidFill>
                <a:latin typeface="Montserrat Bold"/>
                <a:ea typeface="Montserrat Bold"/>
                <a:cs typeface="Montserrat Bold"/>
                <a:sym typeface="Montserrat Bold"/>
              </a:rPr>
              <a:t>c định tác nhân.</a:t>
            </a:r>
          </a:p>
        </p:txBody>
      </p:sp>
      <p:sp>
        <p:nvSpPr>
          <p:cNvPr name="TextBox 39" id="39"/>
          <p:cNvSpPr txBox="true"/>
          <p:nvPr/>
        </p:nvSpPr>
        <p:spPr>
          <a:xfrm rot="0">
            <a:off x="490251" y="2764588"/>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1. XÁC THỰC (AUTHENTICATION)</a:t>
            </a:r>
          </a:p>
        </p:txBody>
      </p:sp>
      <p:sp>
        <p:nvSpPr>
          <p:cNvPr name="TextBox 40" id="40"/>
          <p:cNvSpPr txBox="true"/>
          <p:nvPr/>
        </p:nvSpPr>
        <p:spPr>
          <a:xfrm rot="0">
            <a:off x="478794" y="1208703"/>
            <a:ext cx="1678050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XÁC THỰC &amp; PHÂN QUYỀN TRONG MÔ HÌNH SAAS</a:t>
            </a:r>
          </a:p>
        </p:txBody>
      </p:sp>
      <p:sp>
        <p:nvSpPr>
          <p:cNvPr name="TextBox 41" id="41"/>
          <p:cNvSpPr txBox="true"/>
          <p:nvPr/>
        </p:nvSpPr>
        <p:spPr>
          <a:xfrm rot="0">
            <a:off x="1139610"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42" id="42"/>
          <p:cNvSpPr txBox="true"/>
          <p:nvPr/>
        </p:nvSpPr>
        <p:spPr>
          <a:xfrm rot="-114702">
            <a:off x="1132671" y="9716914"/>
            <a:ext cx="4146778"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CÔ LẬP TENANT VÀ KIỂM SOÁT TRUY CẬP</a:t>
            </a:r>
          </a:p>
        </p:txBody>
      </p:sp>
      <p:sp>
        <p:nvSpPr>
          <p:cNvPr name="TextBox 43" id="43"/>
          <p:cNvSpPr txBox="true"/>
          <p:nvPr/>
        </p:nvSpPr>
        <p:spPr>
          <a:xfrm rot="0">
            <a:off x="4054698" y="5794563"/>
            <a:ext cx="2801317" cy="34794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g</a:t>
            </a:r>
            <a:r>
              <a:rPr lang="en-US" b="true" sz="2051" spc="-75">
                <a:solidFill>
                  <a:srgbClr val="000101"/>
                </a:solidFill>
                <a:latin typeface="Montserrat Bold"/>
                <a:ea typeface="Montserrat Bold"/>
                <a:cs typeface="Montserrat Bold"/>
                <a:sym typeface="Montserrat Bold"/>
              </a:rPr>
              <a:t>iới hạn dữ liệu.</a:t>
            </a:r>
          </a:p>
        </p:txBody>
      </p:sp>
      <p:sp>
        <p:nvSpPr>
          <p:cNvPr name="TextBox 44" id="44"/>
          <p:cNvSpPr txBox="true"/>
          <p:nvPr/>
        </p:nvSpPr>
        <p:spPr>
          <a:xfrm rot="0">
            <a:off x="4029149" y="2766001"/>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2. PHẠM VI TENANT/PHIÊN (SCOPE)</a:t>
            </a:r>
          </a:p>
        </p:txBody>
      </p:sp>
      <p:sp>
        <p:nvSpPr>
          <p:cNvPr name="TextBox 45" id="45"/>
          <p:cNvSpPr txBox="true"/>
          <p:nvPr/>
        </p:nvSpPr>
        <p:spPr>
          <a:xfrm rot="0">
            <a:off x="7563907" y="5794563"/>
            <a:ext cx="2801317" cy="70989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k</a:t>
            </a:r>
            <a:r>
              <a:rPr lang="en-US" b="true" sz="2051" spc="-75">
                <a:solidFill>
                  <a:srgbClr val="000101"/>
                </a:solidFill>
                <a:latin typeface="Montserrat Bold"/>
                <a:ea typeface="Montserrat Bold"/>
                <a:cs typeface="Montserrat Bold"/>
                <a:sym typeface="Montserrat Bold"/>
              </a:rPr>
              <a:t>iểm tra quyền hành động.</a:t>
            </a:r>
          </a:p>
        </p:txBody>
      </p:sp>
      <p:sp>
        <p:nvSpPr>
          <p:cNvPr name="TextBox 46" id="46"/>
          <p:cNvSpPr txBox="true"/>
          <p:nvPr/>
        </p:nvSpPr>
        <p:spPr>
          <a:xfrm rot="0">
            <a:off x="7538359" y="2766001"/>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3. QUYỀN RBAC (PERMISSION)</a:t>
            </a:r>
          </a:p>
        </p:txBody>
      </p:sp>
      <p:sp>
        <p:nvSpPr>
          <p:cNvPr name="TextBox 47" id="47"/>
          <p:cNvSpPr txBox="true"/>
          <p:nvPr/>
        </p:nvSpPr>
        <p:spPr>
          <a:xfrm rot="0">
            <a:off x="11068559" y="5794563"/>
            <a:ext cx="2801317" cy="70989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 k</a:t>
            </a:r>
            <a:r>
              <a:rPr lang="en-US" b="true" sz="2051" spc="-75">
                <a:solidFill>
                  <a:srgbClr val="000101"/>
                </a:solidFill>
                <a:latin typeface="Montserrat Bold"/>
                <a:ea typeface="Montserrat Bold"/>
                <a:cs typeface="Montserrat Bold"/>
                <a:sym typeface="Montserrat Bold"/>
              </a:rPr>
              <a:t>iểm tra tính năng được sử dụng.</a:t>
            </a:r>
          </a:p>
        </p:txBody>
      </p:sp>
      <p:sp>
        <p:nvSpPr>
          <p:cNvPr name="TextBox 48" id="48"/>
          <p:cNvSpPr txBox="true"/>
          <p:nvPr/>
        </p:nvSpPr>
        <p:spPr>
          <a:xfrm rot="0">
            <a:off x="11043010" y="2766001"/>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4. QUYỀN LỢI THEO GÓI (PLAN ENTITLEMENT)</a:t>
            </a:r>
          </a:p>
        </p:txBody>
      </p:sp>
      <p:sp>
        <p:nvSpPr>
          <p:cNvPr name="TextBox 49" id="49"/>
          <p:cNvSpPr txBox="true"/>
          <p:nvPr/>
        </p:nvSpPr>
        <p:spPr>
          <a:xfrm rot="0">
            <a:off x="14573211" y="5793150"/>
            <a:ext cx="2801317" cy="1071840"/>
          </a:xfrm>
          <a:prstGeom prst="rect">
            <a:avLst/>
          </a:prstGeom>
        </p:spPr>
        <p:txBody>
          <a:bodyPr anchor="t" rtlCol="false" tIns="0" lIns="0" bIns="0" rIns="0">
            <a:spAutoFit/>
          </a:bodyPr>
          <a:lstStyle/>
          <a:p>
            <a:pPr algn="ctr">
              <a:lnSpc>
                <a:spcPts val="2872"/>
              </a:lnSpc>
            </a:pPr>
            <a:r>
              <a:rPr lang="en-US" b="true" sz="2051" spc="-75">
                <a:solidFill>
                  <a:srgbClr val="000101"/>
                </a:solidFill>
                <a:latin typeface="Montserrat Bold"/>
                <a:ea typeface="Montserrat Bold"/>
                <a:cs typeface="Montserrat Bold"/>
                <a:sym typeface="Montserrat Bold"/>
              </a:rPr>
              <a:t>serv</a:t>
            </a:r>
            <a:r>
              <a:rPr lang="en-US" b="true" sz="2051" spc="-75">
                <a:solidFill>
                  <a:srgbClr val="000101"/>
                </a:solidFill>
                <a:latin typeface="Montserrat Bold"/>
                <a:ea typeface="Montserrat Bold"/>
                <a:cs typeface="Montserrat Bold"/>
                <a:sym typeface="Montserrat Bold"/>
              </a:rPr>
              <a:t>ice sở hữu dữ liệu quyết định thao tác hợp lệ.</a:t>
            </a:r>
          </a:p>
        </p:txBody>
      </p:sp>
      <p:sp>
        <p:nvSpPr>
          <p:cNvPr name="TextBox 50" id="50"/>
          <p:cNvSpPr txBox="true"/>
          <p:nvPr/>
        </p:nvSpPr>
        <p:spPr>
          <a:xfrm rot="0">
            <a:off x="14547662" y="2764588"/>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5. SỞ HỮU DỮ LIỆU NGHIỆP VỤ</a:t>
            </a:r>
          </a:p>
        </p:txBody>
      </p:sp>
      <p:grpSp>
        <p:nvGrpSpPr>
          <p:cNvPr name="Group 51" id="51"/>
          <p:cNvGrpSpPr/>
          <p:nvPr/>
        </p:nvGrpSpPr>
        <p:grpSpPr>
          <a:xfrm rot="0">
            <a:off x="361158" y="7907679"/>
            <a:ext cx="17249890" cy="1085533"/>
            <a:chOff x="0" y="0"/>
            <a:chExt cx="4543181" cy="285902"/>
          </a:xfrm>
        </p:grpSpPr>
        <p:sp>
          <p:nvSpPr>
            <p:cNvPr name="Freeform 52" id="52"/>
            <p:cNvSpPr/>
            <p:nvPr/>
          </p:nvSpPr>
          <p:spPr>
            <a:xfrm flipH="false" flipV="false" rot="0">
              <a:off x="0" y="0"/>
              <a:ext cx="4543181" cy="285902"/>
            </a:xfrm>
            <a:custGeom>
              <a:avLst/>
              <a:gdLst/>
              <a:ahLst/>
              <a:cxnLst/>
              <a:rect r="r" b="b" t="t" l="l"/>
              <a:pathLst>
                <a:path h="285902" w="4543181">
                  <a:moveTo>
                    <a:pt x="4488" y="0"/>
                  </a:moveTo>
                  <a:lnTo>
                    <a:pt x="4538693" y="0"/>
                  </a:lnTo>
                  <a:cubicBezTo>
                    <a:pt x="4539883" y="0"/>
                    <a:pt x="4541025" y="473"/>
                    <a:pt x="4541866" y="1315"/>
                  </a:cubicBezTo>
                  <a:cubicBezTo>
                    <a:pt x="4542708" y="2156"/>
                    <a:pt x="4543181" y="3298"/>
                    <a:pt x="4543181" y="4488"/>
                  </a:cubicBezTo>
                  <a:lnTo>
                    <a:pt x="4543181" y="281413"/>
                  </a:lnTo>
                  <a:cubicBezTo>
                    <a:pt x="4543181" y="283892"/>
                    <a:pt x="4541171" y="285902"/>
                    <a:pt x="4538693" y="285902"/>
                  </a:cubicBezTo>
                  <a:lnTo>
                    <a:pt x="4488" y="285902"/>
                  </a:lnTo>
                  <a:cubicBezTo>
                    <a:pt x="2009" y="285902"/>
                    <a:pt x="0" y="283892"/>
                    <a:pt x="0" y="281413"/>
                  </a:cubicBezTo>
                  <a:lnTo>
                    <a:pt x="0" y="4488"/>
                  </a:lnTo>
                  <a:cubicBezTo>
                    <a:pt x="0" y="2009"/>
                    <a:pt x="2009" y="0"/>
                    <a:pt x="4488" y="0"/>
                  </a:cubicBezTo>
                  <a:close/>
                </a:path>
              </a:pathLst>
            </a:custGeom>
            <a:solidFill>
              <a:srgbClr val="FFFFFF"/>
            </a:solidFill>
            <a:ln w="38100" cap="sq">
              <a:solidFill>
                <a:srgbClr val="000000"/>
              </a:solidFill>
              <a:prstDash val="lgDash"/>
              <a:miter/>
            </a:ln>
          </p:spPr>
        </p:sp>
        <p:sp>
          <p:nvSpPr>
            <p:cNvPr name="TextBox 53" id="53"/>
            <p:cNvSpPr txBox="true"/>
            <p:nvPr/>
          </p:nvSpPr>
          <p:spPr>
            <a:xfrm>
              <a:off x="0" y="-38100"/>
              <a:ext cx="4543181" cy="324002"/>
            </a:xfrm>
            <a:prstGeom prst="rect">
              <a:avLst/>
            </a:prstGeom>
          </p:spPr>
          <p:txBody>
            <a:bodyPr anchor="ctr" rtlCol="false" tIns="50800" lIns="50800" bIns="50800" rIns="50800"/>
            <a:lstStyle/>
            <a:p>
              <a:pPr algn="ctr">
                <a:lnSpc>
                  <a:spcPts val="2800"/>
                </a:lnSpc>
              </a:pPr>
              <a:r>
                <a:rPr lang="en-US" b="true" sz="2000" spc="-74">
                  <a:solidFill>
                    <a:srgbClr val="000000"/>
                  </a:solidFill>
                  <a:latin typeface="Montserrat Bold"/>
                  <a:ea typeface="Montserrat Bold"/>
                  <a:cs typeface="Montserrat Bold"/>
                  <a:sym typeface="Montserrat Bold"/>
                </a:rPr>
                <a:t>Ví dụ qua 5 lớp: Owner đã đăng nhập → đúng tenant → có quyền xem báo cáo → gói có tính năng → dữ liệu thỏa bất biến nghiệp vụ.</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7"/>
            <a:stretch>
              <a:fillRect l="0" t="0" r="0" b="0"/>
            </a:stretch>
          </a:blipFill>
        </p:spPr>
      </p:sp>
      <p:sp>
        <p:nvSpPr>
          <p:cNvPr name="Freeform 5" id="5"/>
          <p:cNvSpPr/>
          <p:nvPr/>
        </p:nvSpPr>
        <p:spPr>
          <a:xfrm flipH="false" flipV="false" rot="-762504">
            <a:off x="17575259" y="5583356"/>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8"/>
            <a:stretch>
              <a:fillRect l="0" t="0" r="0" b="0"/>
            </a:stretch>
          </a:blipFill>
        </p:spPr>
      </p:sp>
      <p:sp>
        <p:nvSpPr>
          <p:cNvPr name="TextBox 6" id="6"/>
          <p:cNvSpPr txBox="true"/>
          <p:nvPr/>
        </p:nvSpPr>
        <p:spPr>
          <a:xfrm rot="0">
            <a:off x="333018" y="9669403"/>
            <a:ext cx="1682265"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13</a:t>
            </a:r>
          </a:p>
        </p:txBody>
      </p:sp>
      <p:grpSp>
        <p:nvGrpSpPr>
          <p:cNvPr name="Group 7" id="7"/>
          <p:cNvGrpSpPr/>
          <p:nvPr/>
        </p:nvGrpSpPr>
        <p:grpSpPr>
          <a:xfrm rot="-131315">
            <a:off x="1008096" y="9695400"/>
            <a:ext cx="4566539" cy="346177"/>
            <a:chOff x="0" y="0"/>
            <a:chExt cx="3857979" cy="292463"/>
          </a:xfrm>
        </p:grpSpPr>
        <p:sp>
          <p:nvSpPr>
            <p:cNvPr name="Freeform 8" id="8"/>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9" id="9"/>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0" id="10"/>
          <p:cNvGrpSpPr/>
          <p:nvPr/>
        </p:nvGrpSpPr>
        <p:grpSpPr>
          <a:xfrm rot="-131315">
            <a:off x="932793" y="9664429"/>
            <a:ext cx="4566539" cy="346177"/>
            <a:chOff x="0" y="0"/>
            <a:chExt cx="3857979" cy="292463"/>
          </a:xfrm>
        </p:grpSpPr>
        <p:sp>
          <p:nvSpPr>
            <p:cNvPr name="Freeform 11" id="11"/>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2" id="12"/>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0">
            <a:off x="3939353" y="2446640"/>
            <a:ext cx="10409294" cy="3018695"/>
          </a:xfrm>
          <a:custGeom>
            <a:avLst/>
            <a:gdLst/>
            <a:ahLst/>
            <a:cxnLst/>
            <a:rect r="r" b="b" t="t" l="l"/>
            <a:pathLst>
              <a:path h="3018695" w="10409294">
                <a:moveTo>
                  <a:pt x="0" y="0"/>
                </a:moveTo>
                <a:lnTo>
                  <a:pt x="10409294" y="0"/>
                </a:lnTo>
                <a:lnTo>
                  <a:pt x="10409294" y="3018695"/>
                </a:lnTo>
                <a:lnTo>
                  <a:pt x="0" y="3018695"/>
                </a:lnTo>
                <a:lnTo>
                  <a:pt x="0" y="0"/>
                </a:lnTo>
                <a:close/>
              </a:path>
            </a:pathLst>
          </a:custGeom>
          <a:blipFill>
            <a:blip r:embed="rId9"/>
            <a:stretch>
              <a:fillRect l="0" t="0" r="0" b="0"/>
            </a:stretch>
          </a:blipFill>
        </p:spPr>
      </p:sp>
      <p:sp>
        <p:nvSpPr>
          <p:cNvPr name="Freeform 14" id="14"/>
          <p:cNvSpPr/>
          <p:nvPr/>
        </p:nvSpPr>
        <p:spPr>
          <a:xfrm flipH="false" flipV="false" rot="0">
            <a:off x="3939353" y="5643274"/>
            <a:ext cx="10397641" cy="3756148"/>
          </a:xfrm>
          <a:custGeom>
            <a:avLst/>
            <a:gdLst/>
            <a:ahLst/>
            <a:cxnLst/>
            <a:rect r="r" b="b" t="t" l="l"/>
            <a:pathLst>
              <a:path h="3756148" w="10397641">
                <a:moveTo>
                  <a:pt x="0" y="0"/>
                </a:moveTo>
                <a:lnTo>
                  <a:pt x="10397641" y="0"/>
                </a:lnTo>
                <a:lnTo>
                  <a:pt x="10397641" y="3756147"/>
                </a:lnTo>
                <a:lnTo>
                  <a:pt x="0" y="3756147"/>
                </a:lnTo>
                <a:lnTo>
                  <a:pt x="0" y="0"/>
                </a:lnTo>
                <a:close/>
              </a:path>
            </a:pathLst>
          </a:custGeom>
          <a:blipFill>
            <a:blip r:embed="rId10"/>
            <a:stretch>
              <a:fillRect l="0" t="0" r="0" b="0"/>
            </a:stretch>
          </a:blipFill>
        </p:spPr>
      </p:sp>
      <p:sp>
        <p:nvSpPr>
          <p:cNvPr name="TextBox 15" id="15"/>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6" id="16"/>
          <p:cNvSpPr txBox="true"/>
          <p:nvPr/>
        </p:nvSpPr>
        <p:spPr>
          <a:xfrm rot="-114702">
            <a:off x="1142196" y="9716914"/>
            <a:ext cx="4146778"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CÔ LẬP TENANT VÀ KIỂM SOÁT TRUY CẬP</a:t>
            </a:r>
          </a:p>
        </p:txBody>
      </p:sp>
      <p:sp>
        <p:nvSpPr>
          <p:cNvPr name="TextBox 17" id="17"/>
          <p:cNvSpPr txBox="true"/>
          <p:nvPr/>
        </p:nvSpPr>
        <p:spPr>
          <a:xfrm rot="0">
            <a:off x="478794" y="1208703"/>
            <a:ext cx="1678050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XÁC THỰC &amp; PHÂN QUYỀN TRONG MÔ HÌNH SAAS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0">
            <a:off x="836394" y="2735406"/>
            <a:ext cx="3748966" cy="4943066"/>
            <a:chOff x="0" y="0"/>
            <a:chExt cx="1195691" cy="1576536"/>
          </a:xfrm>
        </p:grpSpPr>
        <p:sp>
          <p:nvSpPr>
            <p:cNvPr name="Freeform 3" id="3"/>
            <p:cNvSpPr/>
            <p:nvPr/>
          </p:nvSpPr>
          <p:spPr>
            <a:xfrm flipH="false" flipV="false" rot="0">
              <a:off x="0" y="0"/>
              <a:ext cx="1195691" cy="1576536"/>
            </a:xfrm>
            <a:custGeom>
              <a:avLst/>
              <a:gdLst/>
              <a:ahLst/>
              <a:cxnLst/>
              <a:rect r="r" b="b" t="t" l="l"/>
              <a:pathLst>
                <a:path h="1576536" w="1195691">
                  <a:moveTo>
                    <a:pt x="35106" y="0"/>
                  </a:moveTo>
                  <a:lnTo>
                    <a:pt x="1160584" y="0"/>
                  </a:lnTo>
                  <a:cubicBezTo>
                    <a:pt x="1169895" y="0"/>
                    <a:pt x="1178824" y="3699"/>
                    <a:pt x="1185408" y="10282"/>
                  </a:cubicBezTo>
                  <a:cubicBezTo>
                    <a:pt x="1191992" y="16866"/>
                    <a:pt x="1195691" y="25796"/>
                    <a:pt x="1195691" y="35106"/>
                  </a:cubicBezTo>
                  <a:lnTo>
                    <a:pt x="1195691" y="1541429"/>
                  </a:lnTo>
                  <a:cubicBezTo>
                    <a:pt x="1195691" y="1560818"/>
                    <a:pt x="1179973" y="1576536"/>
                    <a:pt x="1160584" y="1576536"/>
                  </a:cubicBezTo>
                  <a:lnTo>
                    <a:pt x="35106" y="1576536"/>
                  </a:lnTo>
                  <a:cubicBezTo>
                    <a:pt x="15718" y="1576536"/>
                    <a:pt x="0" y="1560818"/>
                    <a:pt x="0" y="1541429"/>
                  </a:cubicBezTo>
                  <a:lnTo>
                    <a:pt x="0" y="35106"/>
                  </a:lnTo>
                  <a:cubicBezTo>
                    <a:pt x="0" y="15718"/>
                    <a:pt x="15718" y="0"/>
                    <a:pt x="35106" y="0"/>
                  </a:cubicBezTo>
                  <a:close/>
                </a:path>
              </a:pathLst>
            </a:custGeom>
            <a:solidFill>
              <a:srgbClr val="22D3EE"/>
            </a:solidFill>
          </p:spPr>
        </p:sp>
        <p:sp>
          <p:nvSpPr>
            <p:cNvPr name="TextBox 4" id="4"/>
            <p:cNvSpPr txBox="true"/>
            <p:nvPr/>
          </p:nvSpPr>
          <p:spPr>
            <a:xfrm>
              <a:off x="0" y="-47625"/>
              <a:ext cx="1195691" cy="1624161"/>
            </a:xfrm>
            <a:prstGeom prst="rect">
              <a:avLst/>
            </a:prstGeom>
          </p:spPr>
          <p:txBody>
            <a:bodyPr anchor="ctr" rtlCol="false" tIns="50800" lIns="50800" bIns="50800" rIns="50800"/>
            <a:lstStyle/>
            <a:p>
              <a:pPr algn="ctr">
                <a:lnSpc>
                  <a:spcPts val="3500"/>
                </a:lnSpc>
              </a:pPr>
            </a:p>
          </p:txBody>
        </p:sp>
      </p:grpSp>
      <p:sp>
        <p:nvSpPr>
          <p:cNvPr name="AutoShape 5" id="5"/>
          <p:cNvSpPr/>
          <p:nvPr/>
        </p:nvSpPr>
        <p:spPr>
          <a:xfrm flipH="true">
            <a:off x="1193036" y="5570894"/>
            <a:ext cx="2954406" cy="0"/>
          </a:xfrm>
          <a:prstGeom prst="line">
            <a:avLst/>
          </a:prstGeom>
          <a:ln cap="flat" w="19050">
            <a:solidFill>
              <a:srgbClr val="000000"/>
            </a:solidFill>
            <a:prstDash val="solid"/>
            <a:headEnd type="none" len="sm" w="sm"/>
            <a:tailEnd type="none" len="sm" w="sm"/>
          </a:ln>
        </p:spPr>
      </p:sp>
      <p:sp>
        <p:nvSpPr>
          <p:cNvPr name="Freeform 6" id="6"/>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7" id="7"/>
          <p:cNvSpPr/>
          <p:nvPr/>
        </p:nvSpPr>
        <p:spPr>
          <a:xfrm flipH="false" flipV="false" rot="-666000">
            <a:off x="16074670" y="8905755"/>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8" id="8"/>
          <p:cNvSpPr/>
          <p:nvPr/>
        </p:nvSpPr>
        <p:spPr>
          <a:xfrm flipH="false" flipV="false" rot="-762504">
            <a:off x="14268290" y="8934657"/>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5"/>
            <a:stretch>
              <a:fillRect l="0" t="0" r="0" b="0"/>
            </a:stretch>
          </a:blipFill>
        </p:spPr>
      </p:sp>
      <p:sp>
        <p:nvSpPr>
          <p:cNvPr name="Freeform 9" id="9"/>
          <p:cNvSpPr/>
          <p:nvPr/>
        </p:nvSpPr>
        <p:spPr>
          <a:xfrm flipH="false" flipV="false" rot="0">
            <a:off x="1776146" y="3449856"/>
            <a:ext cx="1788188" cy="1927965"/>
          </a:xfrm>
          <a:custGeom>
            <a:avLst/>
            <a:gdLst/>
            <a:ahLst/>
            <a:cxnLst/>
            <a:rect r="r" b="b" t="t" l="l"/>
            <a:pathLst>
              <a:path h="1927965" w="1788188">
                <a:moveTo>
                  <a:pt x="0" y="0"/>
                </a:moveTo>
                <a:lnTo>
                  <a:pt x="1788187" y="0"/>
                </a:lnTo>
                <a:lnTo>
                  <a:pt x="1788187" y="1927965"/>
                </a:lnTo>
                <a:lnTo>
                  <a:pt x="0" y="1927965"/>
                </a:lnTo>
                <a:lnTo>
                  <a:pt x="0" y="0"/>
                </a:lnTo>
                <a:close/>
              </a:path>
            </a:pathLst>
          </a:custGeom>
          <a:blipFill>
            <a:blip r:embed="rId6"/>
            <a:stretch>
              <a:fillRect l="0" t="0" r="0" b="0"/>
            </a:stretch>
          </a:blipFill>
        </p:spPr>
      </p:sp>
      <p:grpSp>
        <p:nvGrpSpPr>
          <p:cNvPr name="Group 10" id="10"/>
          <p:cNvGrpSpPr/>
          <p:nvPr/>
        </p:nvGrpSpPr>
        <p:grpSpPr>
          <a:xfrm rot="0">
            <a:off x="5017321" y="2754456"/>
            <a:ext cx="3748966" cy="4943066"/>
            <a:chOff x="0" y="0"/>
            <a:chExt cx="1195691" cy="1576536"/>
          </a:xfrm>
        </p:grpSpPr>
        <p:sp>
          <p:nvSpPr>
            <p:cNvPr name="Freeform 11" id="11"/>
            <p:cNvSpPr/>
            <p:nvPr/>
          </p:nvSpPr>
          <p:spPr>
            <a:xfrm flipH="false" flipV="false" rot="0">
              <a:off x="0" y="0"/>
              <a:ext cx="1195691" cy="1576536"/>
            </a:xfrm>
            <a:custGeom>
              <a:avLst/>
              <a:gdLst/>
              <a:ahLst/>
              <a:cxnLst/>
              <a:rect r="r" b="b" t="t" l="l"/>
              <a:pathLst>
                <a:path h="1576536" w="1195691">
                  <a:moveTo>
                    <a:pt x="35106" y="0"/>
                  </a:moveTo>
                  <a:lnTo>
                    <a:pt x="1160584" y="0"/>
                  </a:lnTo>
                  <a:cubicBezTo>
                    <a:pt x="1169895" y="0"/>
                    <a:pt x="1178824" y="3699"/>
                    <a:pt x="1185408" y="10282"/>
                  </a:cubicBezTo>
                  <a:cubicBezTo>
                    <a:pt x="1191992" y="16866"/>
                    <a:pt x="1195691" y="25796"/>
                    <a:pt x="1195691" y="35106"/>
                  </a:cubicBezTo>
                  <a:lnTo>
                    <a:pt x="1195691" y="1541429"/>
                  </a:lnTo>
                  <a:cubicBezTo>
                    <a:pt x="1195691" y="1560818"/>
                    <a:pt x="1179973" y="1576536"/>
                    <a:pt x="1160584" y="1576536"/>
                  </a:cubicBezTo>
                  <a:lnTo>
                    <a:pt x="35106" y="1576536"/>
                  </a:lnTo>
                  <a:cubicBezTo>
                    <a:pt x="15718" y="1576536"/>
                    <a:pt x="0" y="1560818"/>
                    <a:pt x="0" y="1541429"/>
                  </a:cubicBezTo>
                  <a:lnTo>
                    <a:pt x="0" y="35106"/>
                  </a:lnTo>
                  <a:cubicBezTo>
                    <a:pt x="0" y="15718"/>
                    <a:pt x="15718" y="0"/>
                    <a:pt x="35106" y="0"/>
                  </a:cubicBezTo>
                  <a:close/>
                </a:path>
              </a:pathLst>
            </a:custGeom>
            <a:solidFill>
              <a:srgbClr val="22D3EE"/>
            </a:solidFill>
          </p:spPr>
        </p:sp>
        <p:sp>
          <p:nvSpPr>
            <p:cNvPr name="TextBox 12" id="12"/>
            <p:cNvSpPr txBox="true"/>
            <p:nvPr/>
          </p:nvSpPr>
          <p:spPr>
            <a:xfrm>
              <a:off x="0" y="-47625"/>
              <a:ext cx="1195691" cy="1624161"/>
            </a:xfrm>
            <a:prstGeom prst="rect">
              <a:avLst/>
            </a:prstGeom>
          </p:spPr>
          <p:txBody>
            <a:bodyPr anchor="ctr" rtlCol="false" tIns="50800" lIns="50800" bIns="50800" rIns="50800"/>
            <a:lstStyle/>
            <a:p>
              <a:pPr algn="ctr">
                <a:lnSpc>
                  <a:spcPts val="3500"/>
                </a:lnSpc>
              </a:pPr>
            </a:p>
          </p:txBody>
        </p:sp>
      </p:grpSp>
      <p:sp>
        <p:nvSpPr>
          <p:cNvPr name="AutoShape 13" id="13"/>
          <p:cNvSpPr/>
          <p:nvPr/>
        </p:nvSpPr>
        <p:spPr>
          <a:xfrm flipH="true">
            <a:off x="5373963" y="5589944"/>
            <a:ext cx="2954406" cy="0"/>
          </a:xfrm>
          <a:prstGeom prst="line">
            <a:avLst/>
          </a:prstGeom>
          <a:ln cap="flat" w="19050">
            <a:solidFill>
              <a:srgbClr val="000000"/>
            </a:solidFill>
            <a:prstDash val="solid"/>
            <a:headEnd type="none" len="sm" w="sm"/>
            <a:tailEnd type="none" len="sm" w="sm"/>
          </a:ln>
        </p:spPr>
      </p:sp>
      <p:grpSp>
        <p:nvGrpSpPr>
          <p:cNvPr name="Group 14" id="14"/>
          <p:cNvGrpSpPr/>
          <p:nvPr/>
        </p:nvGrpSpPr>
        <p:grpSpPr>
          <a:xfrm rot="0">
            <a:off x="9394936" y="2773506"/>
            <a:ext cx="3748966" cy="4943066"/>
            <a:chOff x="0" y="0"/>
            <a:chExt cx="1195691" cy="1576536"/>
          </a:xfrm>
        </p:grpSpPr>
        <p:sp>
          <p:nvSpPr>
            <p:cNvPr name="Freeform 15" id="15"/>
            <p:cNvSpPr/>
            <p:nvPr/>
          </p:nvSpPr>
          <p:spPr>
            <a:xfrm flipH="false" flipV="false" rot="0">
              <a:off x="0" y="0"/>
              <a:ext cx="1195691" cy="1576536"/>
            </a:xfrm>
            <a:custGeom>
              <a:avLst/>
              <a:gdLst/>
              <a:ahLst/>
              <a:cxnLst/>
              <a:rect r="r" b="b" t="t" l="l"/>
              <a:pathLst>
                <a:path h="1576536" w="1195691">
                  <a:moveTo>
                    <a:pt x="35106" y="0"/>
                  </a:moveTo>
                  <a:lnTo>
                    <a:pt x="1160584" y="0"/>
                  </a:lnTo>
                  <a:cubicBezTo>
                    <a:pt x="1169895" y="0"/>
                    <a:pt x="1178824" y="3699"/>
                    <a:pt x="1185408" y="10282"/>
                  </a:cubicBezTo>
                  <a:cubicBezTo>
                    <a:pt x="1191992" y="16866"/>
                    <a:pt x="1195691" y="25796"/>
                    <a:pt x="1195691" y="35106"/>
                  </a:cubicBezTo>
                  <a:lnTo>
                    <a:pt x="1195691" y="1541429"/>
                  </a:lnTo>
                  <a:cubicBezTo>
                    <a:pt x="1195691" y="1560818"/>
                    <a:pt x="1179973" y="1576536"/>
                    <a:pt x="1160584" y="1576536"/>
                  </a:cubicBezTo>
                  <a:lnTo>
                    <a:pt x="35106" y="1576536"/>
                  </a:lnTo>
                  <a:cubicBezTo>
                    <a:pt x="15718" y="1576536"/>
                    <a:pt x="0" y="1560818"/>
                    <a:pt x="0" y="1541429"/>
                  </a:cubicBezTo>
                  <a:lnTo>
                    <a:pt x="0" y="35106"/>
                  </a:lnTo>
                  <a:cubicBezTo>
                    <a:pt x="0" y="15718"/>
                    <a:pt x="15718" y="0"/>
                    <a:pt x="35106" y="0"/>
                  </a:cubicBezTo>
                  <a:close/>
                </a:path>
              </a:pathLst>
            </a:custGeom>
            <a:solidFill>
              <a:srgbClr val="22D3EE"/>
            </a:solidFill>
          </p:spPr>
        </p:sp>
        <p:sp>
          <p:nvSpPr>
            <p:cNvPr name="TextBox 16" id="16"/>
            <p:cNvSpPr txBox="true"/>
            <p:nvPr/>
          </p:nvSpPr>
          <p:spPr>
            <a:xfrm>
              <a:off x="0" y="-47625"/>
              <a:ext cx="1195691" cy="1624161"/>
            </a:xfrm>
            <a:prstGeom prst="rect">
              <a:avLst/>
            </a:prstGeom>
          </p:spPr>
          <p:txBody>
            <a:bodyPr anchor="ctr" rtlCol="false" tIns="50800" lIns="50800" bIns="50800" rIns="50800"/>
            <a:lstStyle/>
            <a:p>
              <a:pPr algn="ctr">
                <a:lnSpc>
                  <a:spcPts val="3500"/>
                </a:lnSpc>
              </a:pPr>
            </a:p>
          </p:txBody>
        </p:sp>
      </p:grpSp>
      <p:sp>
        <p:nvSpPr>
          <p:cNvPr name="AutoShape 17" id="17"/>
          <p:cNvSpPr/>
          <p:nvPr/>
        </p:nvSpPr>
        <p:spPr>
          <a:xfrm flipH="true">
            <a:off x="9751579" y="5608994"/>
            <a:ext cx="2954406" cy="0"/>
          </a:xfrm>
          <a:prstGeom prst="line">
            <a:avLst/>
          </a:prstGeom>
          <a:ln cap="flat" w="19050">
            <a:solidFill>
              <a:srgbClr val="000000"/>
            </a:solidFill>
            <a:prstDash val="solid"/>
            <a:headEnd type="none" len="sm" w="sm"/>
            <a:tailEnd type="none" len="sm" w="sm"/>
          </a:ln>
        </p:spPr>
      </p:sp>
      <p:grpSp>
        <p:nvGrpSpPr>
          <p:cNvPr name="Group 18" id="18"/>
          <p:cNvGrpSpPr/>
          <p:nvPr/>
        </p:nvGrpSpPr>
        <p:grpSpPr>
          <a:xfrm rot="0">
            <a:off x="13572527" y="2792556"/>
            <a:ext cx="3748966" cy="4943066"/>
            <a:chOff x="0" y="0"/>
            <a:chExt cx="1195691" cy="1576536"/>
          </a:xfrm>
        </p:grpSpPr>
        <p:sp>
          <p:nvSpPr>
            <p:cNvPr name="Freeform 19" id="19"/>
            <p:cNvSpPr/>
            <p:nvPr/>
          </p:nvSpPr>
          <p:spPr>
            <a:xfrm flipH="false" flipV="false" rot="0">
              <a:off x="0" y="0"/>
              <a:ext cx="1195691" cy="1576536"/>
            </a:xfrm>
            <a:custGeom>
              <a:avLst/>
              <a:gdLst/>
              <a:ahLst/>
              <a:cxnLst/>
              <a:rect r="r" b="b" t="t" l="l"/>
              <a:pathLst>
                <a:path h="1576536" w="1195691">
                  <a:moveTo>
                    <a:pt x="35106" y="0"/>
                  </a:moveTo>
                  <a:lnTo>
                    <a:pt x="1160584" y="0"/>
                  </a:lnTo>
                  <a:cubicBezTo>
                    <a:pt x="1169895" y="0"/>
                    <a:pt x="1178824" y="3699"/>
                    <a:pt x="1185408" y="10282"/>
                  </a:cubicBezTo>
                  <a:cubicBezTo>
                    <a:pt x="1191992" y="16866"/>
                    <a:pt x="1195691" y="25796"/>
                    <a:pt x="1195691" y="35106"/>
                  </a:cubicBezTo>
                  <a:lnTo>
                    <a:pt x="1195691" y="1541429"/>
                  </a:lnTo>
                  <a:cubicBezTo>
                    <a:pt x="1195691" y="1560818"/>
                    <a:pt x="1179973" y="1576536"/>
                    <a:pt x="1160584" y="1576536"/>
                  </a:cubicBezTo>
                  <a:lnTo>
                    <a:pt x="35106" y="1576536"/>
                  </a:lnTo>
                  <a:cubicBezTo>
                    <a:pt x="15718" y="1576536"/>
                    <a:pt x="0" y="1560818"/>
                    <a:pt x="0" y="1541429"/>
                  </a:cubicBezTo>
                  <a:lnTo>
                    <a:pt x="0" y="35106"/>
                  </a:lnTo>
                  <a:cubicBezTo>
                    <a:pt x="0" y="15718"/>
                    <a:pt x="15718" y="0"/>
                    <a:pt x="35106" y="0"/>
                  </a:cubicBezTo>
                  <a:close/>
                </a:path>
              </a:pathLst>
            </a:custGeom>
            <a:solidFill>
              <a:srgbClr val="22D3EE"/>
            </a:solidFill>
          </p:spPr>
        </p:sp>
        <p:sp>
          <p:nvSpPr>
            <p:cNvPr name="TextBox 20" id="20"/>
            <p:cNvSpPr txBox="true"/>
            <p:nvPr/>
          </p:nvSpPr>
          <p:spPr>
            <a:xfrm>
              <a:off x="0" y="-47625"/>
              <a:ext cx="1195691" cy="1624161"/>
            </a:xfrm>
            <a:prstGeom prst="rect">
              <a:avLst/>
            </a:prstGeom>
          </p:spPr>
          <p:txBody>
            <a:bodyPr anchor="ctr" rtlCol="false" tIns="50800" lIns="50800" bIns="50800" rIns="50800"/>
            <a:lstStyle/>
            <a:p>
              <a:pPr algn="ctr">
                <a:lnSpc>
                  <a:spcPts val="3500"/>
                </a:lnSpc>
              </a:pPr>
            </a:p>
          </p:txBody>
        </p:sp>
      </p:grpSp>
      <p:sp>
        <p:nvSpPr>
          <p:cNvPr name="AutoShape 21" id="21"/>
          <p:cNvSpPr/>
          <p:nvPr/>
        </p:nvSpPr>
        <p:spPr>
          <a:xfrm flipH="true">
            <a:off x="13929169" y="5628044"/>
            <a:ext cx="2954406" cy="0"/>
          </a:xfrm>
          <a:prstGeom prst="line">
            <a:avLst/>
          </a:prstGeom>
          <a:ln cap="flat" w="19050">
            <a:solidFill>
              <a:srgbClr val="000000"/>
            </a:solidFill>
            <a:prstDash val="solid"/>
            <a:headEnd type="none" len="sm" w="sm"/>
            <a:tailEnd type="none" len="sm" w="sm"/>
          </a:ln>
        </p:spPr>
      </p:sp>
      <p:sp>
        <p:nvSpPr>
          <p:cNvPr name="Freeform 22" id="22"/>
          <p:cNvSpPr/>
          <p:nvPr/>
        </p:nvSpPr>
        <p:spPr>
          <a:xfrm flipH="false" flipV="false" rot="0">
            <a:off x="5621419" y="3590454"/>
            <a:ext cx="2540770" cy="1553046"/>
          </a:xfrm>
          <a:custGeom>
            <a:avLst/>
            <a:gdLst/>
            <a:ahLst/>
            <a:cxnLst/>
            <a:rect r="r" b="b" t="t" l="l"/>
            <a:pathLst>
              <a:path h="1553046" w="2540770">
                <a:moveTo>
                  <a:pt x="0" y="0"/>
                </a:moveTo>
                <a:lnTo>
                  <a:pt x="2540769" y="0"/>
                </a:lnTo>
                <a:lnTo>
                  <a:pt x="2540769" y="1553046"/>
                </a:lnTo>
                <a:lnTo>
                  <a:pt x="0" y="1553046"/>
                </a:lnTo>
                <a:lnTo>
                  <a:pt x="0" y="0"/>
                </a:lnTo>
                <a:close/>
              </a:path>
            </a:pathLst>
          </a:custGeom>
          <a:blipFill>
            <a:blip r:embed="rId7"/>
            <a:stretch>
              <a:fillRect l="0" t="0" r="0" b="0"/>
            </a:stretch>
          </a:blipFill>
        </p:spPr>
      </p:sp>
      <p:sp>
        <p:nvSpPr>
          <p:cNvPr name="Freeform 23" id="23"/>
          <p:cNvSpPr/>
          <p:nvPr/>
        </p:nvSpPr>
        <p:spPr>
          <a:xfrm flipH="false" flipV="false" rot="-401527">
            <a:off x="15891140" y="28906"/>
            <a:ext cx="3124356" cy="1999588"/>
          </a:xfrm>
          <a:custGeom>
            <a:avLst/>
            <a:gdLst/>
            <a:ahLst/>
            <a:cxnLst/>
            <a:rect r="r" b="b" t="t" l="l"/>
            <a:pathLst>
              <a:path h="1999588" w="3124356">
                <a:moveTo>
                  <a:pt x="0" y="0"/>
                </a:moveTo>
                <a:lnTo>
                  <a:pt x="3124356" y="0"/>
                </a:lnTo>
                <a:lnTo>
                  <a:pt x="3124356" y="1999588"/>
                </a:lnTo>
                <a:lnTo>
                  <a:pt x="0" y="19995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10085329" y="3601965"/>
            <a:ext cx="2286906" cy="1738048"/>
          </a:xfrm>
          <a:custGeom>
            <a:avLst/>
            <a:gdLst/>
            <a:ahLst/>
            <a:cxnLst/>
            <a:rect r="r" b="b" t="t" l="l"/>
            <a:pathLst>
              <a:path h="1738048" w="2286906">
                <a:moveTo>
                  <a:pt x="0" y="0"/>
                </a:moveTo>
                <a:lnTo>
                  <a:pt x="2286906" y="0"/>
                </a:lnTo>
                <a:lnTo>
                  <a:pt x="2286906" y="1738048"/>
                </a:lnTo>
                <a:lnTo>
                  <a:pt x="0" y="1738048"/>
                </a:lnTo>
                <a:lnTo>
                  <a:pt x="0" y="0"/>
                </a:lnTo>
                <a:close/>
              </a:path>
            </a:pathLst>
          </a:custGeom>
          <a:blipFill>
            <a:blip r:embed="rId10"/>
            <a:stretch>
              <a:fillRect l="0" t="0" r="0" b="0"/>
            </a:stretch>
          </a:blipFill>
        </p:spPr>
      </p:sp>
      <p:sp>
        <p:nvSpPr>
          <p:cNvPr name="Freeform 25" id="25"/>
          <p:cNvSpPr/>
          <p:nvPr/>
        </p:nvSpPr>
        <p:spPr>
          <a:xfrm flipH="false" flipV="false" rot="0">
            <a:off x="14461464" y="3601965"/>
            <a:ext cx="1971093" cy="1835580"/>
          </a:xfrm>
          <a:custGeom>
            <a:avLst/>
            <a:gdLst/>
            <a:ahLst/>
            <a:cxnLst/>
            <a:rect r="r" b="b" t="t" l="l"/>
            <a:pathLst>
              <a:path h="1835580" w="1971093">
                <a:moveTo>
                  <a:pt x="0" y="0"/>
                </a:moveTo>
                <a:lnTo>
                  <a:pt x="1971092" y="0"/>
                </a:lnTo>
                <a:lnTo>
                  <a:pt x="1971092" y="1835579"/>
                </a:lnTo>
                <a:lnTo>
                  <a:pt x="0" y="1835579"/>
                </a:lnTo>
                <a:lnTo>
                  <a:pt x="0" y="0"/>
                </a:lnTo>
                <a:close/>
              </a:path>
            </a:pathLst>
          </a:custGeom>
          <a:blipFill>
            <a:blip r:embed="rId11"/>
            <a:stretch>
              <a:fillRect l="0" t="0" r="0" b="0"/>
            </a:stretch>
          </a:blipFill>
        </p:spPr>
      </p:sp>
      <p:sp>
        <p:nvSpPr>
          <p:cNvPr name="TextBox 26" id="26"/>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14</a:t>
            </a:r>
          </a:p>
        </p:txBody>
      </p:sp>
      <p:grpSp>
        <p:nvGrpSpPr>
          <p:cNvPr name="Group 27" id="27"/>
          <p:cNvGrpSpPr/>
          <p:nvPr/>
        </p:nvGrpSpPr>
        <p:grpSpPr>
          <a:xfrm rot="0">
            <a:off x="845919" y="7859447"/>
            <a:ext cx="13306583" cy="1085533"/>
            <a:chOff x="0" y="0"/>
            <a:chExt cx="3504614" cy="285902"/>
          </a:xfrm>
        </p:grpSpPr>
        <p:sp>
          <p:nvSpPr>
            <p:cNvPr name="Freeform 28" id="28"/>
            <p:cNvSpPr/>
            <p:nvPr/>
          </p:nvSpPr>
          <p:spPr>
            <a:xfrm flipH="false" flipV="false" rot="0">
              <a:off x="0" y="0"/>
              <a:ext cx="3504614" cy="285902"/>
            </a:xfrm>
            <a:custGeom>
              <a:avLst/>
              <a:gdLst/>
              <a:ahLst/>
              <a:cxnLst/>
              <a:rect r="r" b="b" t="t" l="l"/>
              <a:pathLst>
                <a:path h="285902" w="3504614">
                  <a:moveTo>
                    <a:pt x="5818" y="0"/>
                  </a:moveTo>
                  <a:lnTo>
                    <a:pt x="3498796" y="0"/>
                  </a:lnTo>
                  <a:cubicBezTo>
                    <a:pt x="3500339" y="0"/>
                    <a:pt x="3501819" y="613"/>
                    <a:pt x="3502910" y="1704"/>
                  </a:cubicBezTo>
                  <a:cubicBezTo>
                    <a:pt x="3504001" y="2795"/>
                    <a:pt x="3504614" y="4275"/>
                    <a:pt x="3504614" y="5818"/>
                  </a:cubicBezTo>
                  <a:lnTo>
                    <a:pt x="3504614" y="280083"/>
                  </a:lnTo>
                  <a:cubicBezTo>
                    <a:pt x="3504614" y="281627"/>
                    <a:pt x="3504001" y="283106"/>
                    <a:pt x="3502910" y="284198"/>
                  </a:cubicBezTo>
                  <a:cubicBezTo>
                    <a:pt x="3501819" y="285289"/>
                    <a:pt x="3500339" y="285902"/>
                    <a:pt x="3498796" y="285902"/>
                  </a:cubicBezTo>
                  <a:lnTo>
                    <a:pt x="5818" y="285902"/>
                  </a:lnTo>
                  <a:cubicBezTo>
                    <a:pt x="2605" y="285902"/>
                    <a:pt x="0" y="283297"/>
                    <a:pt x="0" y="280083"/>
                  </a:cubicBezTo>
                  <a:lnTo>
                    <a:pt x="0" y="5818"/>
                  </a:lnTo>
                  <a:cubicBezTo>
                    <a:pt x="0" y="4275"/>
                    <a:pt x="613" y="2795"/>
                    <a:pt x="1704" y="1704"/>
                  </a:cubicBezTo>
                  <a:cubicBezTo>
                    <a:pt x="2795" y="613"/>
                    <a:pt x="4275" y="0"/>
                    <a:pt x="5818" y="0"/>
                  </a:cubicBezTo>
                  <a:close/>
                </a:path>
              </a:pathLst>
            </a:custGeom>
            <a:solidFill>
              <a:srgbClr val="FFFFFF"/>
            </a:solidFill>
            <a:ln w="38100" cap="sq">
              <a:solidFill>
                <a:srgbClr val="000000"/>
              </a:solidFill>
              <a:prstDash val="lgDash"/>
              <a:miter/>
            </a:ln>
          </p:spPr>
        </p:sp>
        <p:sp>
          <p:nvSpPr>
            <p:cNvPr name="TextBox 29" id="29"/>
            <p:cNvSpPr txBox="true"/>
            <p:nvPr/>
          </p:nvSpPr>
          <p:spPr>
            <a:xfrm>
              <a:off x="0" y="-47625"/>
              <a:ext cx="3504614" cy="333527"/>
            </a:xfrm>
            <a:prstGeom prst="rect">
              <a:avLst/>
            </a:prstGeom>
          </p:spPr>
          <p:txBody>
            <a:bodyPr anchor="ctr" rtlCol="false" tIns="50800" lIns="50800" bIns="50800" rIns="50800"/>
            <a:lstStyle/>
            <a:p>
              <a:pPr algn="l">
                <a:lnSpc>
                  <a:spcPts val="3500"/>
                </a:lnSpc>
              </a:pPr>
              <a:r>
                <a:rPr lang="en-US" sz="2500" spc="-92" b="true">
                  <a:solidFill>
                    <a:srgbClr val="000000"/>
                  </a:solidFill>
                  <a:latin typeface="Montserrat Bold"/>
                  <a:ea typeface="Montserrat Bold"/>
                  <a:cs typeface="Montserrat Bold"/>
                  <a:sym typeface="Montserrat Bold"/>
                </a:rPr>
                <a:t>Phương pháp chiến lược: Database theo service · Trong từng database, dữ liệu các tenant dùng chung bảng và được phân biệt bằng tenant_id</a:t>
              </a:r>
            </a:p>
          </p:txBody>
        </p:sp>
      </p:grpSp>
      <p:grpSp>
        <p:nvGrpSpPr>
          <p:cNvPr name="Group 30" id="30"/>
          <p:cNvGrpSpPr/>
          <p:nvPr/>
        </p:nvGrpSpPr>
        <p:grpSpPr>
          <a:xfrm rot="-131315">
            <a:off x="1008096" y="9695400"/>
            <a:ext cx="4566539" cy="346177"/>
            <a:chOff x="0" y="0"/>
            <a:chExt cx="3857979" cy="292463"/>
          </a:xfrm>
        </p:grpSpPr>
        <p:sp>
          <p:nvSpPr>
            <p:cNvPr name="Freeform 31" id="31"/>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32" id="32"/>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33" id="33"/>
          <p:cNvGrpSpPr/>
          <p:nvPr/>
        </p:nvGrpSpPr>
        <p:grpSpPr>
          <a:xfrm rot="-131315">
            <a:off x="932793" y="9664429"/>
            <a:ext cx="4566539" cy="346177"/>
            <a:chOff x="0" y="0"/>
            <a:chExt cx="3857979" cy="292463"/>
          </a:xfrm>
        </p:grpSpPr>
        <p:sp>
          <p:nvSpPr>
            <p:cNvPr name="Freeform 34" id="34"/>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35" id="35"/>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36" id="36"/>
          <p:cNvSpPr txBox="true"/>
          <p:nvPr/>
        </p:nvSpPr>
        <p:spPr>
          <a:xfrm rot="0">
            <a:off x="1028700" y="5725868"/>
            <a:ext cx="3283079" cy="107184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JWT</a:t>
            </a:r>
            <a:r>
              <a:rPr lang="en-US" sz="2051" spc="-75" b="true">
                <a:solidFill>
                  <a:srgbClr val="000101"/>
                </a:solidFill>
                <a:latin typeface="Montserrat Bold"/>
                <a:ea typeface="Montserrat Bold"/>
                <a:cs typeface="Montserrat Bold"/>
                <a:sym typeface="Montserrat Bold"/>
              </a:rPr>
              <a:t> claim cho Staff/Admin · QR, bàn và phiên cho Customer</a:t>
            </a:r>
          </a:p>
        </p:txBody>
      </p:sp>
      <p:sp>
        <p:nvSpPr>
          <p:cNvPr name="TextBox 37" id="37"/>
          <p:cNvSpPr txBox="true"/>
          <p:nvPr/>
        </p:nvSpPr>
        <p:spPr>
          <a:xfrm rot="0">
            <a:off x="1151708" y="2716356"/>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1. RÀNG BUỘC NGỮ CẢNH TENANT</a:t>
            </a:r>
          </a:p>
        </p:txBody>
      </p:sp>
      <p:sp>
        <p:nvSpPr>
          <p:cNvPr name="TextBox 38" id="38"/>
          <p:cNvSpPr txBox="true"/>
          <p:nvPr/>
        </p:nvSpPr>
        <p:spPr>
          <a:xfrm rot="0">
            <a:off x="1028700" y="1265381"/>
            <a:ext cx="1678050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CƠ CHẾ CÔ LẬP TENANT TRONG QRTABLE</a:t>
            </a:r>
          </a:p>
        </p:txBody>
      </p:sp>
      <p:sp>
        <p:nvSpPr>
          <p:cNvPr name="TextBox 39" id="3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40" id="40"/>
          <p:cNvSpPr txBox="true"/>
          <p:nvPr/>
        </p:nvSpPr>
        <p:spPr>
          <a:xfrm rot="0">
            <a:off x="5209627" y="5744918"/>
            <a:ext cx="3283079" cy="107184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Thiếu</a:t>
            </a:r>
            <a:r>
              <a:rPr lang="en-US" sz="2051" spc="-75" b="true">
                <a:solidFill>
                  <a:srgbClr val="000101"/>
                </a:solidFill>
                <a:latin typeface="Montserrat Bold"/>
                <a:ea typeface="Montserrat Bold"/>
                <a:cs typeface="Montserrat Bold"/>
                <a:sym typeface="Montserrat Bold"/>
              </a:rPr>
              <a:t> tenant hoặc sai lệch với danh tính/phiên thì từ chối</a:t>
            </a:r>
          </a:p>
        </p:txBody>
      </p:sp>
      <p:sp>
        <p:nvSpPr>
          <p:cNvPr name="TextBox 41" id="41"/>
          <p:cNvSpPr txBox="true"/>
          <p:nvPr/>
        </p:nvSpPr>
        <p:spPr>
          <a:xfrm rot="0">
            <a:off x="5332634" y="2735406"/>
            <a:ext cx="3063386" cy="31546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2. XÁC THỰC TẠI BFF</a:t>
            </a:r>
          </a:p>
        </p:txBody>
      </p:sp>
      <p:sp>
        <p:nvSpPr>
          <p:cNvPr name="TextBox 42" id="42"/>
          <p:cNvSpPr txBox="true"/>
          <p:nvPr/>
        </p:nvSpPr>
        <p:spPr>
          <a:xfrm rot="0">
            <a:off x="9710250" y="5783018"/>
            <a:ext cx="3283079" cy="107184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TCP/gRPC</a:t>
            </a:r>
            <a:r>
              <a:rPr lang="en-US" sz="2051" spc="-75" b="true">
                <a:solidFill>
                  <a:srgbClr val="000101"/>
                </a:solidFill>
                <a:latin typeface="Montserrat Bold"/>
                <a:ea typeface="Montserrat Bold"/>
                <a:cs typeface="Montserrat Bold"/>
                <a:sym typeface="Montserrat Bold"/>
              </a:rPr>
              <a:t> request và event mang tenantId đã được kiểm tra</a:t>
            </a:r>
          </a:p>
        </p:txBody>
      </p:sp>
      <p:sp>
        <p:nvSpPr>
          <p:cNvPr name="TextBox 43" id="43"/>
          <p:cNvSpPr txBox="true"/>
          <p:nvPr/>
        </p:nvSpPr>
        <p:spPr>
          <a:xfrm rot="0">
            <a:off x="9710250" y="2754456"/>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3. LAN TRUYỀN QUA CONTRACT NỘI BỘ</a:t>
            </a:r>
          </a:p>
        </p:txBody>
      </p:sp>
      <p:sp>
        <p:nvSpPr>
          <p:cNvPr name="TextBox 44" id="44"/>
          <p:cNvSpPr txBox="true"/>
          <p:nvPr/>
        </p:nvSpPr>
        <p:spPr>
          <a:xfrm rot="0">
            <a:off x="13764833" y="5783018"/>
            <a:ext cx="3283079" cy="143379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Truy</a:t>
            </a:r>
            <a:r>
              <a:rPr lang="en-US" sz="2051" spc="-75" b="true">
                <a:solidFill>
                  <a:srgbClr val="000101"/>
                </a:solidFill>
                <a:latin typeface="Montserrat Bold"/>
                <a:ea typeface="Montserrat Bold"/>
                <a:cs typeface="Montserrat Bold"/>
                <a:sym typeface="Montserrat Bold"/>
              </a:rPr>
              <a:t> vấn Database, khóa Redis và WebSocket room đều có phạm vi tenant/phiên</a:t>
            </a:r>
          </a:p>
        </p:txBody>
      </p:sp>
      <p:sp>
        <p:nvSpPr>
          <p:cNvPr name="TextBox 45" id="45"/>
          <p:cNvSpPr txBox="true"/>
          <p:nvPr/>
        </p:nvSpPr>
        <p:spPr>
          <a:xfrm rot="0">
            <a:off x="13887841" y="2773506"/>
            <a:ext cx="3063386" cy="639318"/>
          </a:xfrm>
          <a:prstGeom prst="rect">
            <a:avLst/>
          </a:prstGeom>
        </p:spPr>
        <p:txBody>
          <a:bodyPr anchor="t" rtlCol="false" tIns="0" lIns="0" bIns="0" rIns="0">
            <a:spAutoFit/>
          </a:bodyPr>
          <a:lstStyle/>
          <a:p>
            <a:pPr algn="ctr" marL="0" indent="0" lvl="1">
              <a:lnSpc>
                <a:spcPts val="2561"/>
              </a:lnSpc>
              <a:spcBef>
                <a:spcPct val="0"/>
              </a:spcBef>
            </a:pPr>
            <a:r>
              <a:rPr lang="en-US" b="true" sz="1829" spc="-67">
                <a:solidFill>
                  <a:srgbClr val="000101"/>
                </a:solidFill>
                <a:latin typeface="Montserrat Bold"/>
                <a:ea typeface="Montserrat Bold"/>
                <a:cs typeface="Montserrat Bold"/>
                <a:sym typeface="Montserrat Bold"/>
              </a:rPr>
              <a:t>4. ÁP DỤNG TẠI ĐIỂM SỬ DỤNG</a:t>
            </a:r>
          </a:p>
        </p:txBody>
      </p:sp>
      <p:sp>
        <p:nvSpPr>
          <p:cNvPr name="TextBox 46" id="46"/>
          <p:cNvSpPr txBox="true"/>
          <p:nvPr/>
        </p:nvSpPr>
        <p:spPr>
          <a:xfrm rot="-114702">
            <a:off x="1142196" y="9716914"/>
            <a:ext cx="4146778"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CÔ LẬP TENANT VÀ KIỂM SOÁT TRUY CẬP</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4305985" y="-760489"/>
            <a:ext cx="3948810" cy="4487284"/>
          </a:xfrm>
          <a:custGeom>
            <a:avLst/>
            <a:gdLst/>
            <a:ahLst/>
            <a:cxnLst/>
            <a:rect r="r" b="b" t="t" l="l"/>
            <a:pathLst>
              <a:path h="4487284" w="3948810">
                <a:moveTo>
                  <a:pt x="3948810" y="0"/>
                </a:moveTo>
                <a:lnTo>
                  <a:pt x="0" y="0"/>
                </a:lnTo>
                <a:lnTo>
                  <a:pt x="0" y="4487283"/>
                </a:lnTo>
                <a:lnTo>
                  <a:pt x="3948810" y="4487283"/>
                </a:lnTo>
                <a:lnTo>
                  <a:pt x="39488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650978">
            <a:off x="10747665" y="1492736"/>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true" flipV="false" rot="-650978">
            <a:off x="10696678" y="1226705"/>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418743">
            <a:off x="11231568" y="3185105"/>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131315">
            <a:off x="3549266" y="1401684"/>
            <a:ext cx="4079435" cy="1085644"/>
            <a:chOff x="0" y="0"/>
            <a:chExt cx="1098964" cy="292463"/>
          </a:xfrm>
        </p:grpSpPr>
        <p:sp>
          <p:nvSpPr>
            <p:cNvPr name="Freeform 7" id="7"/>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000101"/>
            </a:solidFill>
            <a:ln w="47625" cap="sq">
              <a:solidFill>
                <a:srgbClr val="000000"/>
              </a:solidFill>
              <a:prstDash val="solid"/>
              <a:miter/>
            </a:ln>
          </p:spPr>
        </p:sp>
        <p:sp>
          <p:nvSpPr>
            <p:cNvPr name="TextBox 8" id="8"/>
            <p:cNvSpPr txBox="true"/>
            <p:nvPr/>
          </p:nvSpPr>
          <p:spPr>
            <a:xfrm>
              <a:off x="0" y="-38100"/>
              <a:ext cx="1098964"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9" id="9"/>
          <p:cNvGrpSpPr/>
          <p:nvPr/>
        </p:nvGrpSpPr>
        <p:grpSpPr>
          <a:xfrm rot="-131315">
            <a:off x="3481507" y="1304557"/>
            <a:ext cx="4079435" cy="1085644"/>
            <a:chOff x="0" y="0"/>
            <a:chExt cx="1098964" cy="292463"/>
          </a:xfrm>
        </p:grpSpPr>
        <p:sp>
          <p:nvSpPr>
            <p:cNvPr name="Freeform 10" id="10"/>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FFFFFF"/>
            </a:solidFill>
            <a:ln w="47625" cap="sq">
              <a:solidFill>
                <a:srgbClr val="000000"/>
              </a:solidFill>
              <a:prstDash val="solid"/>
              <a:miter/>
            </a:ln>
          </p:spPr>
        </p:sp>
        <p:sp>
          <p:nvSpPr>
            <p:cNvPr name="TextBox 11" id="11"/>
            <p:cNvSpPr txBox="true"/>
            <p:nvPr/>
          </p:nvSpPr>
          <p:spPr>
            <a:xfrm>
              <a:off x="0" y="-38100"/>
              <a:ext cx="1098964" cy="330563"/>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114702">
            <a:off x="3698926" y="1435289"/>
            <a:ext cx="3642779" cy="712471"/>
          </a:xfrm>
          <a:prstGeom prst="rect">
            <a:avLst/>
          </a:prstGeom>
        </p:spPr>
        <p:txBody>
          <a:bodyPr anchor="t" rtlCol="false" tIns="0" lIns="0" bIns="0" rIns="0">
            <a:spAutoFit/>
          </a:bodyPr>
          <a:lstStyle/>
          <a:p>
            <a:pPr algn="ctr" marL="0" indent="0" lvl="0">
              <a:lnSpc>
                <a:spcPts val="5879"/>
              </a:lnSpc>
              <a:spcBef>
                <a:spcPct val="0"/>
              </a:spcBef>
            </a:pPr>
            <a:r>
              <a:rPr lang="en-US" b="true" sz="4199" spc="-155">
                <a:solidFill>
                  <a:srgbClr val="000101"/>
                </a:solidFill>
                <a:latin typeface="Montserrat Bold"/>
                <a:ea typeface="Montserrat Bold"/>
                <a:cs typeface="Montserrat Bold"/>
                <a:sym typeface="Montserrat Bold"/>
              </a:rPr>
              <a:t>PHẦN 4</a:t>
            </a:r>
          </a:p>
        </p:txBody>
      </p:sp>
      <p:sp>
        <p:nvSpPr>
          <p:cNvPr name="Freeform 13" id="13"/>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sp>
        <p:nvSpPr>
          <p:cNvPr name="Freeform 14" id="14"/>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2"/>
            <a:stretch>
              <a:fillRect l="-209" t="0" r="-209" b="0"/>
            </a:stretch>
          </a:blipFill>
        </p:spPr>
      </p:sp>
      <p:sp>
        <p:nvSpPr>
          <p:cNvPr name="Freeform 15" id="15"/>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13"/>
            <a:stretch>
              <a:fillRect l="0" t="0" r="0" b="0"/>
            </a:stretch>
          </a:blipFill>
        </p:spPr>
      </p:sp>
      <p:sp>
        <p:nvSpPr>
          <p:cNvPr name="TextBox 16" id="16"/>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7" id="17"/>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15</a:t>
            </a:r>
          </a:p>
        </p:txBody>
      </p:sp>
      <p:sp>
        <p:nvSpPr>
          <p:cNvPr name="TextBox 18" id="18"/>
          <p:cNvSpPr txBox="true"/>
          <p:nvPr/>
        </p:nvSpPr>
        <p:spPr>
          <a:xfrm rot="0">
            <a:off x="1149135" y="6826938"/>
            <a:ext cx="8540987" cy="1736725"/>
          </a:xfrm>
          <a:prstGeom prst="rect">
            <a:avLst/>
          </a:prstGeom>
        </p:spPr>
        <p:txBody>
          <a:bodyPr anchor="t" rtlCol="false" tIns="0" lIns="0" bIns="0" rIns="0">
            <a:spAutoFit/>
          </a:bodyPr>
          <a:lstStyle/>
          <a:p>
            <a:pPr algn="l">
              <a:lnSpc>
                <a:spcPts val="3500"/>
              </a:lnSpc>
              <a:spcBef>
                <a:spcPct val="0"/>
              </a:spcBef>
            </a:pPr>
            <a:r>
              <a:rPr lang="en-US" b="true" sz="2500" spc="-92">
                <a:solidFill>
                  <a:srgbClr val="000101"/>
                </a:solidFill>
                <a:latin typeface="Montserrat Bold"/>
                <a:ea typeface="Montserrat Bold"/>
                <a:cs typeface="Montserrat Bold"/>
                <a:sym typeface="Montserrat Bold"/>
              </a:rPr>
              <a:t>Đảm bảo nhất quán dữ liệu phân tán (Eventual Consistency) qua cơ chế Saga Orchestration, Transactional Outbox, Idempotency và bản chiếu vận hành KDS trên Redis.</a:t>
            </a:r>
          </a:p>
        </p:txBody>
      </p:sp>
      <p:sp>
        <p:nvSpPr>
          <p:cNvPr name="TextBox 19" id="19"/>
          <p:cNvSpPr txBox="true"/>
          <p:nvPr/>
        </p:nvSpPr>
        <p:spPr>
          <a:xfrm rot="0">
            <a:off x="333018" y="2993452"/>
            <a:ext cx="10464078" cy="2692822"/>
          </a:xfrm>
          <a:prstGeom prst="rect">
            <a:avLst/>
          </a:prstGeom>
        </p:spPr>
        <p:txBody>
          <a:bodyPr anchor="t" rtlCol="false" tIns="0" lIns="0" bIns="0" rIns="0">
            <a:spAutoFit/>
          </a:bodyPr>
          <a:lstStyle/>
          <a:p>
            <a:pPr algn="ctr" marL="0" indent="0" lvl="0">
              <a:lnSpc>
                <a:spcPts val="7044"/>
              </a:lnSpc>
            </a:pPr>
            <a:r>
              <a:rPr lang="en-US" b="true" sz="6403" spc="-236">
                <a:solidFill>
                  <a:srgbClr val="000101"/>
                </a:solidFill>
                <a:latin typeface="Montserrat Ultra-Bold"/>
                <a:ea typeface="Montserrat Ultra-Bold"/>
                <a:cs typeface="Montserrat Ultra-Bold"/>
                <a:sym typeface="Montserrat Ultra-Bold"/>
              </a:rPr>
              <a:t>PHỐI HỢP GIỮA CÁC SERVICE VÀ CÁC BÀI TOÁN PHÂN TÁN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grpSp>
        <p:nvGrpSpPr>
          <p:cNvPr name="Group 3" id="3"/>
          <p:cNvGrpSpPr/>
          <p:nvPr/>
        </p:nvGrpSpPr>
        <p:grpSpPr>
          <a:xfrm rot="-131315">
            <a:off x="1031270" y="9695400"/>
            <a:ext cx="6007888" cy="346177"/>
            <a:chOff x="0" y="0"/>
            <a:chExt cx="5075683" cy="292463"/>
          </a:xfrm>
        </p:grpSpPr>
        <p:sp>
          <p:nvSpPr>
            <p:cNvPr name="Freeform 4" id="4"/>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5" id="5"/>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6" id="6"/>
          <p:cNvGrpSpPr/>
          <p:nvPr/>
        </p:nvGrpSpPr>
        <p:grpSpPr>
          <a:xfrm rot="-131315">
            <a:off x="932267" y="9664429"/>
            <a:ext cx="6007888" cy="346177"/>
            <a:chOff x="0" y="0"/>
            <a:chExt cx="5075683" cy="292463"/>
          </a:xfrm>
        </p:grpSpPr>
        <p:sp>
          <p:nvSpPr>
            <p:cNvPr name="Freeform 7" id="7"/>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8" id="8"/>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028700" y="2846069"/>
            <a:ext cx="7657072" cy="1042994"/>
            <a:chOff x="0" y="0"/>
            <a:chExt cx="2016677" cy="274698"/>
          </a:xfrm>
        </p:grpSpPr>
        <p:sp>
          <p:nvSpPr>
            <p:cNvPr name="Freeform 10" id="10"/>
            <p:cNvSpPr/>
            <p:nvPr/>
          </p:nvSpPr>
          <p:spPr>
            <a:xfrm flipH="false" flipV="false" rot="0">
              <a:off x="0" y="0"/>
              <a:ext cx="2016677" cy="274698"/>
            </a:xfrm>
            <a:custGeom>
              <a:avLst/>
              <a:gdLst/>
              <a:ahLst/>
              <a:cxnLst/>
              <a:rect r="r" b="b" t="t" l="l"/>
              <a:pathLst>
                <a:path h="274698" w="2016677">
                  <a:moveTo>
                    <a:pt x="10111" y="0"/>
                  </a:moveTo>
                  <a:lnTo>
                    <a:pt x="2006566" y="0"/>
                  </a:lnTo>
                  <a:cubicBezTo>
                    <a:pt x="2009248" y="0"/>
                    <a:pt x="2011820" y="1065"/>
                    <a:pt x="2013716" y="2961"/>
                  </a:cubicBezTo>
                  <a:cubicBezTo>
                    <a:pt x="2015612" y="4858"/>
                    <a:pt x="2016677" y="7429"/>
                    <a:pt x="2016677" y="10111"/>
                  </a:cubicBezTo>
                  <a:lnTo>
                    <a:pt x="2016677" y="264587"/>
                  </a:lnTo>
                  <a:cubicBezTo>
                    <a:pt x="2016677" y="267269"/>
                    <a:pt x="2015612" y="269841"/>
                    <a:pt x="2013716" y="271737"/>
                  </a:cubicBezTo>
                  <a:cubicBezTo>
                    <a:pt x="2011820" y="273633"/>
                    <a:pt x="2009248" y="274698"/>
                    <a:pt x="2006566" y="274698"/>
                  </a:cubicBezTo>
                  <a:lnTo>
                    <a:pt x="10111" y="274698"/>
                  </a:lnTo>
                  <a:cubicBezTo>
                    <a:pt x="7429" y="274698"/>
                    <a:pt x="4858" y="273633"/>
                    <a:pt x="2961" y="271737"/>
                  </a:cubicBezTo>
                  <a:cubicBezTo>
                    <a:pt x="1065" y="269841"/>
                    <a:pt x="0" y="267269"/>
                    <a:pt x="0" y="264587"/>
                  </a:cubicBezTo>
                  <a:lnTo>
                    <a:pt x="0" y="10111"/>
                  </a:lnTo>
                  <a:cubicBezTo>
                    <a:pt x="0" y="7429"/>
                    <a:pt x="1065" y="4858"/>
                    <a:pt x="2961" y="2961"/>
                  </a:cubicBezTo>
                  <a:cubicBezTo>
                    <a:pt x="4858" y="1065"/>
                    <a:pt x="7429" y="0"/>
                    <a:pt x="10111" y="0"/>
                  </a:cubicBezTo>
                  <a:close/>
                </a:path>
              </a:pathLst>
            </a:custGeom>
            <a:solidFill>
              <a:srgbClr val="22D3EE"/>
            </a:solidFill>
          </p:spPr>
        </p:sp>
        <p:sp>
          <p:nvSpPr>
            <p:cNvPr name="TextBox 11" id="11"/>
            <p:cNvSpPr txBox="true"/>
            <p:nvPr/>
          </p:nvSpPr>
          <p:spPr>
            <a:xfrm>
              <a:off x="0" y="-47625"/>
              <a:ext cx="2016677" cy="322323"/>
            </a:xfrm>
            <a:prstGeom prst="rect">
              <a:avLst/>
            </a:prstGeom>
          </p:spPr>
          <p:txBody>
            <a:bodyPr anchor="ctr" rtlCol="false" tIns="50800" lIns="50800" bIns="50800" rIns="50800"/>
            <a:lstStyle/>
            <a:p>
              <a:pPr algn="ctr">
                <a:lnSpc>
                  <a:spcPts val="3500"/>
                </a:lnSpc>
              </a:pPr>
            </a:p>
          </p:txBody>
        </p:sp>
      </p:grpSp>
      <p:sp>
        <p:nvSpPr>
          <p:cNvPr name="AutoShape 12" id="12"/>
          <p:cNvSpPr/>
          <p:nvPr/>
        </p:nvSpPr>
        <p:spPr>
          <a:xfrm flipV="true">
            <a:off x="1983592" y="2999842"/>
            <a:ext cx="0" cy="735448"/>
          </a:xfrm>
          <a:prstGeom prst="line">
            <a:avLst/>
          </a:prstGeom>
          <a:ln cap="flat" w="28575">
            <a:solidFill>
              <a:srgbClr val="000000"/>
            </a:solidFill>
            <a:prstDash val="solid"/>
            <a:headEnd type="none" len="sm" w="sm"/>
            <a:tailEnd type="none" len="sm" w="sm"/>
          </a:ln>
        </p:spPr>
      </p:sp>
      <p:grpSp>
        <p:nvGrpSpPr>
          <p:cNvPr name="Group 13" id="13"/>
          <p:cNvGrpSpPr/>
          <p:nvPr/>
        </p:nvGrpSpPr>
        <p:grpSpPr>
          <a:xfrm rot="0">
            <a:off x="1028700" y="4361019"/>
            <a:ext cx="7657072" cy="1042994"/>
            <a:chOff x="0" y="0"/>
            <a:chExt cx="2016677" cy="274698"/>
          </a:xfrm>
        </p:grpSpPr>
        <p:sp>
          <p:nvSpPr>
            <p:cNvPr name="Freeform 14" id="14"/>
            <p:cNvSpPr/>
            <p:nvPr/>
          </p:nvSpPr>
          <p:spPr>
            <a:xfrm flipH="false" flipV="false" rot="0">
              <a:off x="0" y="0"/>
              <a:ext cx="2016677" cy="274698"/>
            </a:xfrm>
            <a:custGeom>
              <a:avLst/>
              <a:gdLst/>
              <a:ahLst/>
              <a:cxnLst/>
              <a:rect r="r" b="b" t="t" l="l"/>
              <a:pathLst>
                <a:path h="274698" w="2016677">
                  <a:moveTo>
                    <a:pt x="10111" y="0"/>
                  </a:moveTo>
                  <a:lnTo>
                    <a:pt x="2006566" y="0"/>
                  </a:lnTo>
                  <a:cubicBezTo>
                    <a:pt x="2009248" y="0"/>
                    <a:pt x="2011820" y="1065"/>
                    <a:pt x="2013716" y="2961"/>
                  </a:cubicBezTo>
                  <a:cubicBezTo>
                    <a:pt x="2015612" y="4858"/>
                    <a:pt x="2016677" y="7429"/>
                    <a:pt x="2016677" y="10111"/>
                  </a:cubicBezTo>
                  <a:lnTo>
                    <a:pt x="2016677" y="264587"/>
                  </a:lnTo>
                  <a:cubicBezTo>
                    <a:pt x="2016677" y="267269"/>
                    <a:pt x="2015612" y="269841"/>
                    <a:pt x="2013716" y="271737"/>
                  </a:cubicBezTo>
                  <a:cubicBezTo>
                    <a:pt x="2011820" y="273633"/>
                    <a:pt x="2009248" y="274698"/>
                    <a:pt x="2006566" y="274698"/>
                  </a:cubicBezTo>
                  <a:lnTo>
                    <a:pt x="10111" y="274698"/>
                  </a:lnTo>
                  <a:cubicBezTo>
                    <a:pt x="7429" y="274698"/>
                    <a:pt x="4858" y="273633"/>
                    <a:pt x="2961" y="271737"/>
                  </a:cubicBezTo>
                  <a:cubicBezTo>
                    <a:pt x="1065" y="269841"/>
                    <a:pt x="0" y="267269"/>
                    <a:pt x="0" y="264587"/>
                  </a:cubicBezTo>
                  <a:lnTo>
                    <a:pt x="0" y="10111"/>
                  </a:lnTo>
                  <a:cubicBezTo>
                    <a:pt x="0" y="7429"/>
                    <a:pt x="1065" y="4858"/>
                    <a:pt x="2961" y="2961"/>
                  </a:cubicBezTo>
                  <a:cubicBezTo>
                    <a:pt x="4858" y="1065"/>
                    <a:pt x="7429" y="0"/>
                    <a:pt x="10111" y="0"/>
                  </a:cubicBezTo>
                  <a:close/>
                </a:path>
              </a:pathLst>
            </a:custGeom>
            <a:solidFill>
              <a:srgbClr val="22D3EE"/>
            </a:solidFill>
          </p:spPr>
        </p:sp>
        <p:sp>
          <p:nvSpPr>
            <p:cNvPr name="TextBox 15" id="15"/>
            <p:cNvSpPr txBox="true"/>
            <p:nvPr/>
          </p:nvSpPr>
          <p:spPr>
            <a:xfrm>
              <a:off x="0" y="-47625"/>
              <a:ext cx="2016677" cy="322323"/>
            </a:xfrm>
            <a:prstGeom prst="rect">
              <a:avLst/>
            </a:prstGeom>
          </p:spPr>
          <p:txBody>
            <a:bodyPr anchor="ctr" rtlCol="false" tIns="50800" lIns="50800" bIns="50800" rIns="50800"/>
            <a:lstStyle/>
            <a:p>
              <a:pPr algn="ctr">
                <a:lnSpc>
                  <a:spcPts val="3500"/>
                </a:lnSpc>
              </a:pPr>
            </a:p>
          </p:txBody>
        </p:sp>
      </p:grpSp>
      <p:sp>
        <p:nvSpPr>
          <p:cNvPr name="AutoShape 16" id="16"/>
          <p:cNvSpPr/>
          <p:nvPr/>
        </p:nvSpPr>
        <p:spPr>
          <a:xfrm flipV="true">
            <a:off x="1983592" y="4514792"/>
            <a:ext cx="0" cy="735448"/>
          </a:xfrm>
          <a:prstGeom prst="line">
            <a:avLst/>
          </a:prstGeom>
          <a:ln cap="flat" w="28575">
            <a:solidFill>
              <a:srgbClr val="000000"/>
            </a:solidFill>
            <a:prstDash val="solid"/>
            <a:headEnd type="none" len="sm" w="sm"/>
            <a:tailEnd type="none" len="sm" w="sm"/>
          </a:ln>
        </p:spPr>
      </p:sp>
      <p:sp>
        <p:nvSpPr>
          <p:cNvPr name="TextBox 17" id="17"/>
          <p:cNvSpPr txBox="true"/>
          <p:nvPr/>
        </p:nvSpPr>
        <p:spPr>
          <a:xfrm rot="0">
            <a:off x="2159046" y="4428491"/>
            <a:ext cx="6526725" cy="860425"/>
          </a:xfrm>
          <a:prstGeom prst="rect">
            <a:avLst/>
          </a:prstGeom>
        </p:spPr>
        <p:txBody>
          <a:bodyPr anchor="t" rtlCol="false" tIns="0" lIns="0" bIns="0" rIns="0">
            <a:spAutoFit/>
          </a:bodyPr>
          <a:lstStyle/>
          <a:p>
            <a:pPr algn="l" marL="0" indent="0" lvl="1">
              <a:lnSpc>
                <a:spcPts val="3500"/>
              </a:lnSpc>
              <a:spcBef>
                <a:spcPct val="0"/>
              </a:spcBef>
            </a:pPr>
            <a:r>
              <a:rPr lang="en-US" b="true" sz="2500" spc="-92">
                <a:solidFill>
                  <a:srgbClr val="000101"/>
                </a:solidFill>
                <a:latin typeface="Montserrat Bold"/>
                <a:ea typeface="Montserrat Bold"/>
                <a:cs typeface="Montserrat Bold"/>
                <a:sym typeface="Montserrat Bold"/>
              </a:rPr>
              <a:t>Sự</a:t>
            </a:r>
            <a:r>
              <a:rPr lang="en-US" b="true" sz="2500" spc="-92" strike="noStrike" u="none">
                <a:solidFill>
                  <a:srgbClr val="000101"/>
                </a:solidFill>
                <a:latin typeface="Montserrat Bold"/>
                <a:ea typeface="Montserrat Bold"/>
                <a:cs typeface="Montserrat Bold"/>
                <a:sym typeface="Montserrat Bold"/>
              </a:rPr>
              <a:t> kiện miền đã commit, dùng cho xử lý sau xác </a:t>
            </a:r>
            <a:r>
              <a:rPr lang="en-US" b="true" sz="2500" spc="-92" strike="noStrike" u="none">
                <a:solidFill>
                  <a:srgbClr val="000101"/>
                </a:solidFill>
                <a:latin typeface="Montserrat Bold"/>
                <a:ea typeface="Montserrat Bold"/>
                <a:cs typeface="Montserrat Bold"/>
                <a:sym typeface="Montserrat Bold"/>
              </a:rPr>
              <a:t>nhận</a:t>
            </a:r>
            <a:r>
              <a:rPr lang="en-US" b="true" sz="2500" spc="-92" strike="noStrike" u="none">
                <a:solidFill>
                  <a:srgbClr val="000101"/>
                </a:solidFill>
                <a:latin typeface="Montserrat Bold"/>
                <a:ea typeface="Montserrat Bold"/>
                <a:cs typeface="Montserrat Bold"/>
                <a:sym typeface="Montserrat Bold"/>
              </a:rPr>
              <a:t> ho</a:t>
            </a:r>
            <a:r>
              <a:rPr lang="en-US" b="true" sz="2500" spc="-92" strike="noStrike" u="none">
                <a:solidFill>
                  <a:srgbClr val="000101"/>
                </a:solidFill>
                <a:latin typeface="Montserrat Bold"/>
                <a:ea typeface="Montserrat Bold"/>
                <a:cs typeface="Montserrat Bold"/>
                <a:sym typeface="Montserrat Bold"/>
              </a:rPr>
              <a:t>ặc</a:t>
            </a:r>
            <a:r>
              <a:rPr lang="en-US" b="true" sz="2500" spc="-92" strike="noStrike" u="none">
                <a:solidFill>
                  <a:srgbClr val="000101"/>
                </a:solidFill>
                <a:latin typeface="Montserrat Bold"/>
                <a:ea typeface="Montserrat Bold"/>
                <a:cs typeface="Montserrat Bold"/>
                <a:sym typeface="Montserrat Bold"/>
              </a:rPr>
              <a:t> </a:t>
            </a:r>
            <a:r>
              <a:rPr lang="en-US" b="true" sz="2500" spc="-92" strike="noStrike" u="none">
                <a:solidFill>
                  <a:srgbClr val="000101"/>
                </a:solidFill>
                <a:latin typeface="Montserrat Bold"/>
                <a:ea typeface="Montserrat Bold"/>
                <a:cs typeface="Montserrat Bold"/>
                <a:sym typeface="Montserrat Bold"/>
              </a:rPr>
              <a:t>phá</a:t>
            </a:r>
            <a:r>
              <a:rPr lang="en-US" b="true" sz="2500" spc="-92" strike="noStrike" u="none">
                <a:solidFill>
                  <a:srgbClr val="000101"/>
                </a:solidFill>
                <a:latin typeface="Montserrat Bold"/>
                <a:ea typeface="Montserrat Bold"/>
                <a:cs typeface="Montserrat Bold"/>
                <a:sym typeface="Montserrat Bold"/>
              </a:rPr>
              <a:t>t</a:t>
            </a:r>
            <a:r>
              <a:rPr lang="en-US" b="true" sz="2500" spc="-92" strike="noStrike" u="none">
                <a:solidFill>
                  <a:srgbClr val="000101"/>
                </a:solidFill>
                <a:latin typeface="Montserrat Bold"/>
                <a:ea typeface="Montserrat Bold"/>
                <a:cs typeface="Montserrat Bold"/>
                <a:sym typeface="Montserrat Bold"/>
              </a:rPr>
              <a:t> </a:t>
            </a:r>
            <a:r>
              <a:rPr lang="en-US" b="true" sz="2500" spc="-92" strike="noStrike" u="none">
                <a:solidFill>
                  <a:srgbClr val="000101"/>
                </a:solidFill>
                <a:latin typeface="Montserrat Bold"/>
                <a:ea typeface="Montserrat Bold"/>
                <a:cs typeface="Montserrat Bold"/>
                <a:sym typeface="Montserrat Bold"/>
              </a:rPr>
              <a:t>t</a:t>
            </a:r>
            <a:r>
              <a:rPr lang="en-US" b="true" sz="2500" spc="-92" strike="noStrike" u="none">
                <a:solidFill>
                  <a:srgbClr val="000101"/>
                </a:solidFill>
                <a:latin typeface="Montserrat Bold"/>
                <a:ea typeface="Montserrat Bold"/>
                <a:cs typeface="Montserrat Bold"/>
                <a:sym typeface="Montserrat Bold"/>
              </a:rPr>
              <a:t>án sự kiện </a:t>
            </a:r>
          </a:p>
        </p:txBody>
      </p:sp>
      <p:grpSp>
        <p:nvGrpSpPr>
          <p:cNvPr name="Group 18" id="18"/>
          <p:cNvGrpSpPr/>
          <p:nvPr/>
        </p:nvGrpSpPr>
        <p:grpSpPr>
          <a:xfrm rot="0">
            <a:off x="1028700" y="5880263"/>
            <a:ext cx="7657072" cy="1042994"/>
            <a:chOff x="0" y="0"/>
            <a:chExt cx="2016677" cy="274698"/>
          </a:xfrm>
        </p:grpSpPr>
        <p:sp>
          <p:nvSpPr>
            <p:cNvPr name="Freeform 19" id="19"/>
            <p:cNvSpPr/>
            <p:nvPr/>
          </p:nvSpPr>
          <p:spPr>
            <a:xfrm flipH="false" flipV="false" rot="0">
              <a:off x="0" y="0"/>
              <a:ext cx="2016677" cy="274698"/>
            </a:xfrm>
            <a:custGeom>
              <a:avLst/>
              <a:gdLst/>
              <a:ahLst/>
              <a:cxnLst/>
              <a:rect r="r" b="b" t="t" l="l"/>
              <a:pathLst>
                <a:path h="274698" w="2016677">
                  <a:moveTo>
                    <a:pt x="10111" y="0"/>
                  </a:moveTo>
                  <a:lnTo>
                    <a:pt x="2006566" y="0"/>
                  </a:lnTo>
                  <a:cubicBezTo>
                    <a:pt x="2009248" y="0"/>
                    <a:pt x="2011820" y="1065"/>
                    <a:pt x="2013716" y="2961"/>
                  </a:cubicBezTo>
                  <a:cubicBezTo>
                    <a:pt x="2015612" y="4858"/>
                    <a:pt x="2016677" y="7429"/>
                    <a:pt x="2016677" y="10111"/>
                  </a:cubicBezTo>
                  <a:lnTo>
                    <a:pt x="2016677" y="264587"/>
                  </a:lnTo>
                  <a:cubicBezTo>
                    <a:pt x="2016677" y="267269"/>
                    <a:pt x="2015612" y="269841"/>
                    <a:pt x="2013716" y="271737"/>
                  </a:cubicBezTo>
                  <a:cubicBezTo>
                    <a:pt x="2011820" y="273633"/>
                    <a:pt x="2009248" y="274698"/>
                    <a:pt x="2006566" y="274698"/>
                  </a:cubicBezTo>
                  <a:lnTo>
                    <a:pt x="10111" y="274698"/>
                  </a:lnTo>
                  <a:cubicBezTo>
                    <a:pt x="7429" y="274698"/>
                    <a:pt x="4858" y="273633"/>
                    <a:pt x="2961" y="271737"/>
                  </a:cubicBezTo>
                  <a:cubicBezTo>
                    <a:pt x="1065" y="269841"/>
                    <a:pt x="0" y="267269"/>
                    <a:pt x="0" y="264587"/>
                  </a:cubicBezTo>
                  <a:lnTo>
                    <a:pt x="0" y="10111"/>
                  </a:lnTo>
                  <a:cubicBezTo>
                    <a:pt x="0" y="7429"/>
                    <a:pt x="1065" y="4858"/>
                    <a:pt x="2961" y="2961"/>
                  </a:cubicBezTo>
                  <a:cubicBezTo>
                    <a:pt x="4858" y="1065"/>
                    <a:pt x="7429" y="0"/>
                    <a:pt x="10111" y="0"/>
                  </a:cubicBezTo>
                  <a:close/>
                </a:path>
              </a:pathLst>
            </a:custGeom>
            <a:solidFill>
              <a:srgbClr val="22D3EE"/>
            </a:solidFill>
          </p:spPr>
        </p:sp>
        <p:sp>
          <p:nvSpPr>
            <p:cNvPr name="TextBox 20" id="20"/>
            <p:cNvSpPr txBox="true"/>
            <p:nvPr/>
          </p:nvSpPr>
          <p:spPr>
            <a:xfrm>
              <a:off x="0" y="-47625"/>
              <a:ext cx="2016677" cy="322323"/>
            </a:xfrm>
            <a:prstGeom prst="rect">
              <a:avLst/>
            </a:prstGeom>
          </p:spPr>
          <p:txBody>
            <a:bodyPr anchor="ctr" rtlCol="false" tIns="50800" lIns="50800" bIns="50800" rIns="50800"/>
            <a:lstStyle/>
            <a:p>
              <a:pPr algn="ctr">
                <a:lnSpc>
                  <a:spcPts val="3500"/>
                </a:lnSpc>
              </a:pPr>
            </a:p>
          </p:txBody>
        </p:sp>
      </p:grpSp>
      <p:sp>
        <p:nvSpPr>
          <p:cNvPr name="AutoShape 21" id="21"/>
          <p:cNvSpPr/>
          <p:nvPr/>
        </p:nvSpPr>
        <p:spPr>
          <a:xfrm flipV="true">
            <a:off x="1983592" y="6034036"/>
            <a:ext cx="0" cy="735448"/>
          </a:xfrm>
          <a:prstGeom prst="line">
            <a:avLst/>
          </a:prstGeom>
          <a:ln cap="flat" w="28575">
            <a:solidFill>
              <a:srgbClr val="000000"/>
            </a:solidFill>
            <a:prstDash val="solid"/>
            <a:headEnd type="none" len="sm" w="sm"/>
            <a:tailEnd type="none" len="sm" w="sm"/>
          </a:ln>
        </p:spPr>
      </p:sp>
      <p:grpSp>
        <p:nvGrpSpPr>
          <p:cNvPr name="Group 22" id="22"/>
          <p:cNvGrpSpPr/>
          <p:nvPr/>
        </p:nvGrpSpPr>
        <p:grpSpPr>
          <a:xfrm rot="0">
            <a:off x="1028700" y="7442046"/>
            <a:ext cx="7682620" cy="1042994"/>
            <a:chOff x="0" y="0"/>
            <a:chExt cx="2023406" cy="274698"/>
          </a:xfrm>
        </p:grpSpPr>
        <p:sp>
          <p:nvSpPr>
            <p:cNvPr name="Freeform 23" id="23"/>
            <p:cNvSpPr/>
            <p:nvPr/>
          </p:nvSpPr>
          <p:spPr>
            <a:xfrm flipH="false" flipV="false" rot="0">
              <a:off x="0" y="0"/>
              <a:ext cx="2023406" cy="274698"/>
            </a:xfrm>
            <a:custGeom>
              <a:avLst/>
              <a:gdLst/>
              <a:ahLst/>
              <a:cxnLst/>
              <a:rect r="r" b="b" t="t" l="l"/>
              <a:pathLst>
                <a:path h="274698" w="2023406">
                  <a:moveTo>
                    <a:pt x="10077" y="0"/>
                  </a:moveTo>
                  <a:lnTo>
                    <a:pt x="2013329" y="0"/>
                  </a:lnTo>
                  <a:cubicBezTo>
                    <a:pt x="2018894" y="0"/>
                    <a:pt x="2023406" y="4512"/>
                    <a:pt x="2023406" y="10077"/>
                  </a:cubicBezTo>
                  <a:lnTo>
                    <a:pt x="2023406" y="264621"/>
                  </a:lnTo>
                  <a:cubicBezTo>
                    <a:pt x="2023406" y="270186"/>
                    <a:pt x="2018894" y="274698"/>
                    <a:pt x="2013329" y="274698"/>
                  </a:cubicBezTo>
                  <a:lnTo>
                    <a:pt x="10077" y="274698"/>
                  </a:lnTo>
                  <a:cubicBezTo>
                    <a:pt x="4512" y="274698"/>
                    <a:pt x="0" y="270186"/>
                    <a:pt x="0" y="264621"/>
                  </a:cubicBezTo>
                  <a:lnTo>
                    <a:pt x="0" y="10077"/>
                  </a:lnTo>
                  <a:cubicBezTo>
                    <a:pt x="0" y="4512"/>
                    <a:pt x="4512" y="0"/>
                    <a:pt x="10077" y="0"/>
                  </a:cubicBezTo>
                  <a:close/>
                </a:path>
              </a:pathLst>
            </a:custGeom>
            <a:solidFill>
              <a:srgbClr val="22D3EE"/>
            </a:solidFill>
          </p:spPr>
        </p:sp>
        <p:sp>
          <p:nvSpPr>
            <p:cNvPr name="TextBox 24" id="24"/>
            <p:cNvSpPr txBox="true"/>
            <p:nvPr/>
          </p:nvSpPr>
          <p:spPr>
            <a:xfrm>
              <a:off x="0" y="-47625"/>
              <a:ext cx="2023406" cy="322323"/>
            </a:xfrm>
            <a:prstGeom prst="rect">
              <a:avLst/>
            </a:prstGeom>
          </p:spPr>
          <p:txBody>
            <a:bodyPr anchor="ctr" rtlCol="false" tIns="50800" lIns="50800" bIns="50800" rIns="50800"/>
            <a:lstStyle/>
            <a:p>
              <a:pPr algn="ctr">
                <a:lnSpc>
                  <a:spcPts val="3500"/>
                </a:lnSpc>
              </a:pPr>
            </a:p>
          </p:txBody>
        </p:sp>
      </p:grpSp>
      <p:sp>
        <p:nvSpPr>
          <p:cNvPr name="AutoShape 25" id="25"/>
          <p:cNvSpPr/>
          <p:nvPr/>
        </p:nvSpPr>
        <p:spPr>
          <a:xfrm flipV="true">
            <a:off x="1983592" y="7595819"/>
            <a:ext cx="0" cy="735448"/>
          </a:xfrm>
          <a:prstGeom prst="line">
            <a:avLst/>
          </a:prstGeom>
          <a:ln cap="flat" w="28575">
            <a:solidFill>
              <a:srgbClr val="000000"/>
            </a:solidFill>
            <a:prstDash val="solid"/>
            <a:headEnd type="none" len="sm" w="sm"/>
            <a:tailEnd type="none" len="sm" w="sm"/>
          </a:ln>
        </p:spPr>
      </p:sp>
      <p:sp>
        <p:nvSpPr>
          <p:cNvPr name="TextBox 26" id="26"/>
          <p:cNvSpPr txBox="true"/>
          <p:nvPr/>
        </p:nvSpPr>
        <p:spPr>
          <a:xfrm rot="0">
            <a:off x="2184595" y="7728593"/>
            <a:ext cx="6526725" cy="422275"/>
          </a:xfrm>
          <a:prstGeom prst="rect">
            <a:avLst/>
          </a:prstGeom>
        </p:spPr>
        <p:txBody>
          <a:bodyPr anchor="t" rtlCol="false" tIns="0" lIns="0" bIns="0" rIns="0">
            <a:spAutoFit/>
          </a:bodyPr>
          <a:lstStyle/>
          <a:p>
            <a:pPr algn="l" marL="0" indent="0" lvl="1">
              <a:lnSpc>
                <a:spcPts val="3500"/>
              </a:lnSpc>
              <a:spcBef>
                <a:spcPct val="0"/>
              </a:spcBef>
            </a:pPr>
            <a:r>
              <a:rPr lang="en-US" b="true" sz="2500" spc="-92">
                <a:solidFill>
                  <a:srgbClr val="000101"/>
                </a:solidFill>
                <a:latin typeface="Montserrat Bold"/>
                <a:ea typeface="Montserrat Bold"/>
                <a:cs typeface="Montserrat Bold"/>
                <a:sym typeface="Montserrat Bold"/>
              </a:rPr>
              <a:t>Cal</a:t>
            </a:r>
            <a:r>
              <a:rPr lang="en-US" b="true" sz="2500" spc="-92" strike="noStrike" u="none">
                <a:solidFill>
                  <a:srgbClr val="000101"/>
                </a:solidFill>
                <a:latin typeface="Montserrat Bold"/>
                <a:ea typeface="Montserrat Bold"/>
                <a:cs typeface="Montserrat Bold"/>
                <a:sym typeface="Montserrat Bold"/>
              </a:rPr>
              <a:t>lback n</a:t>
            </a:r>
            <a:r>
              <a:rPr lang="en-US" b="true" sz="2500" spc="-92" strike="noStrike" u="none">
                <a:solidFill>
                  <a:srgbClr val="000101"/>
                </a:solidFill>
                <a:latin typeface="Montserrat Bold"/>
                <a:ea typeface="Montserrat Bold"/>
                <a:cs typeface="Montserrat Bold"/>
                <a:sym typeface="Montserrat Bold"/>
              </a:rPr>
              <a:t>g</a:t>
            </a:r>
            <a:r>
              <a:rPr lang="en-US" b="true" sz="2500" spc="-92" strike="noStrike" u="none">
                <a:solidFill>
                  <a:srgbClr val="000101"/>
                </a:solidFill>
                <a:latin typeface="Montserrat Bold"/>
                <a:ea typeface="Montserrat Bold"/>
                <a:cs typeface="Montserrat Bold"/>
                <a:sym typeface="Montserrat Bold"/>
              </a:rPr>
              <a:t>oài h</a:t>
            </a:r>
            <a:r>
              <a:rPr lang="en-US" b="true" sz="2500" spc="-92" strike="noStrike" u="none">
                <a:solidFill>
                  <a:srgbClr val="000101"/>
                </a:solidFill>
                <a:latin typeface="Montserrat Bold"/>
                <a:ea typeface="Montserrat Bold"/>
                <a:cs typeface="Montserrat Bold"/>
                <a:sym typeface="Montserrat Bold"/>
              </a:rPr>
              <a:t>ệ</a:t>
            </a:r>
            <a:r>
              <a:rPr lang="en-US" b="true" sz="2500" spc="-92" strike="noStrike" u="none">
                <a:solidFill>
                  <a:srgbClr val="000101"/>
                </a:solidFill>
                <a:latin typeface="Montserrat Bold"/>
                <a:ea typeface="Montserrat Bold"/>
                <a:cs typeface="Montserrat Bold"/>
                <a:sym typeface="Montserrat Bold"/>
              </a:rPr>
              <a:t> thốn</a:t>
            </a:r>
            <a:r>
              <a:rPr lang="en-US" b="true" sz="2500" spc="-92" strike="noStrike" u="none">
                <a:solidFill>
                  <a:srgbClr val="000101"/>
                </a:solidFill>
                <a:latin typeface="Montserrat Bold"/>
                <a:ea typeface="Montserrat Bold"/>
                <a:cs typeface="Montserrat Bold"/>
                <a:sym typeface="Montserrat Bold"/>
              </a:rPr>
              <a:t>g </a:t>
            </a:r>
          </a:p>
        </p:txBody>
      </p:sp>
      <p:grpSp>
        <p:nvGrpSpPr>
          <p:cNvPr name="Group 27" id="27"/>
          <p:cNvGrpSpPr/>
          <p:nvPr/>
        </p:nvGrpSpPr>
        <p:grpSpPr>
          <a:xfrm rot="0">
            <a:off x="9262559" y="2846069"/>
            <a:ext cx="2930410" cy="1042994"/>
            <a:chOff x="0" y="0"/>
            <a:chExt cx="771795" cy="274698"/>
          </a:xfrm>
        </p:grpSpPr>
        <p:sp>
          <p:nvSpPr>
            <p:cNvPr name="Freeform 28" id="28"/>
            <p:cNvSpPr/>
            <p:nvPr/>
          </p:nvSpPr>
          <p:spPr>
            <a:xfrm flipH="false" flipV="false" rot="0">
              <a:off x="0" y="0"/>
              <a:ext cx="771795" cy="274698"/>
            </a:xfrm>
            <a:custGeom>
              <a:avLst/>
              <a:gdLst/>
              <a:ahLst/>
              <a:cxnLst/>
              <a:rect r="r" b="b" t="t" l="l"/>
              <a:pathLst>
                <a:path h="274698" w="771795">
                  <a:moveTo>
                    <a:pt x="26419" y="0"/>
                  </a:moveTo>
                  <a:lnTo>
                    <a:pt x="745376" y="0"/>
                  </a:lnTo>
                  <a:cubicBezTo>
                    <a:pt x="752383" y="0"/>
                    <a:pt x="759103" y="2783"/>
                    <a:pt x="764057" y="7738"/>
                  </a:cubicBezTo>
                  <a:cubicBezTo>
                    <a:pt x="769012" y="12693"/>
                    <a:pt x="771795" y="19412"/>
                    <a:pt x="771795" y="26419"/>
                  </a:cubicBezTo>
                  <a:lnTo>
                    <a:pt x="771795" y="248279"/>
                  </a:lnTo>
                  <a:cubicBezTo>
                    <a:pt x="771795" y="262870"/>
                    <a:pt x="759967" y="274698"/>
                    <a:pt x="745376" y="274698"/>
                  </a:cubicBezTo>
                  <a:lnTo>
                    <a:pt x="26419" y="274698"/>
                  </a:lnTo>
                  <a:cubicBezTo>
                    <a:pt x="19412" y="274698"/>
                    <a:pt x="12693" y="271915"/>
                    <a:pt x="7738" y="266960"/>
                  </a:cubicBezTo>
                  <a:cubicBezTo>
                    <a:pt x="2783" y="262005"/>
                    <a:pt x="0" y="255286"/>
                    <a:pt x="0" y="248279"/>
                  </a:cubicBezTo>
                  <a:lnTo>
                    <a:pt x="0" y="26419"/>
                  </a:lnTo>
                  <a:cubicBezTo>
                    <a:pt x="0" y="19412"/>
                    <a:pt x="2783" y="12693"/>
                    <a:pt x="7738" y="7738"/>
                  </a:cubicBezTo>
                  <a:cubicBezTo>
                    <a:pt x="12693" y="2783"/>
                    <a:pt x="19412" y="0"/>
                    <a:pt x="26419" y="0"/>
                  </a:cubicBezTo>
                  <a:close/>
                </a:path>
              </a:pathLst>
            </a:custGeom>
            <a:solidFill>
              <a:srgbClr val="FFFFFF"/>
            </a:solidFill>
            <a:ln w="38100" cap="sq">
              <a:solidFill>
                <a:srgbClr val="000000"/>
              </a:solidFill>
              <a:prstDash val="lgDash"/>
              <a:miter/>
            </a:ln>
          </p:spPr>
        </p:sp>
        <p:sp>
          <p:nvSpPr>
            <p:cNvPr name="TextBox 29" id="29"/>
            <p:cNvSpPr txBox="true"/>
            <p:nvPr/>
          </p:nvSpPr>
          <p:spPr>
            <a:xfrm>
              <a:off x="0" y="-47625"/>
              <a:ext cx="771795" cy="322323"/>
            </a:xfrm>
            <a:prstGeom prst="rect">
              <a:avLst/>
            </a:prstGeom>
          </p:spPr>
          <p:txBody>
            <a:bodyPr anchor="ctr" rtlCol="false" tIns="50800" lIns="50800" bIns="50800" rIns="50800"/>
            <a:lstStyle/>
            <a:p>
              <a:pPr algn="ctr">
                <a:lnSpc>
                  <a:spcPts val="3500"/>
                </a:lnSpc>
              </a:pPr>
              <a:r>
                <a:rPr lang="en-US" b="true" sz="2500" spc="-92">
                  <a:solidFill>
                    <a:srgbClr val="000000"/>
                  </a:solidFill>
                  <a:latin typeface="Montserrat Bold"/>
                  <a:ea typeface="Montserrat Bold"/>
                  <a:cs typeface="Montserrat Bold"/>
                  <a:sym typeface="Montserrat Bold"/>
                </a:rPr>
                <a:t>TCP/gRPC</a:t>
              </a:r>
            </a:p>
          </p:txBody>
        </p:sp>
      </p:grpSp>
      <p:sp>
        <p:nvSpPr>
          <p:cNvPr name="AutoShape 30" id="30"/>
          <p:cNvSpPr/>
          <p:nvPr/>
        </p:nvSpPr>
        <p:spPr>
          <a:xfrm>
            <a:off x="8685772" y="3367566"/>
            <a:ext cx="576787" cy="0"/>
          </a:xfrm>
          <a:prstGeom prst="line">
            <a:avLst/>
          </a:prstGeom>
          <a:ln cap="flat" w="38100">
            <a:solidFill>
              <a:srgbClr val="000000"/>
            </a:solidFill>
            <a:prstDash val="solid"/>
            <a:headEnd type="none" len="sm" w="sm"/>
            <a:tailEnd type="triangle" len="med" w="lg"/>
          </a:ln>
        </p:spPr>
      </p:sp>
      <p:grpSp>
        <p:nvGrpSpPr>
          <p:cNvPr name="Group 31" id="31"/>
          <p:cNvGrpSpPr/>
          <p:nvPr/>
        </p:nvGrpSpPr>
        <p:grpSpPr>
          <a:xfrm rot="0">
            <a:off x="9237010" y="4361019"/>
            <a:ext cx="2955959" cy="1042994"/>
            <a:chOff x="0" y="0"/>
            <a:chExt cx="778524" cy="274698"/>
          </a:xfrm>
        </p:grpSpPr>
        <p:sp>
          <p:nvSpPr>
            <p:cNvPr name="Freeform 32" id="32"/>
            <p:cNvSpPr/>
            <p:nvPr/>
          </p:nvSpPr>
          <p:spPr>
            <a:xfrm flipH="false" flipV="false" rot="0">
              <a:off x="0" y="0"/>
              <a:ext cx="778524" cy="274698"/>
            </a:xfrm>
            <a:custGeom>
              <a:avLst/>
              <a:gdLst/>
              <a:ahLst/>
              <a:cxnLst/>
              <a:rect r="r" b="b" t="t" l="l"/>
              <a:pathLst>
                <a:path h="274698" w="778524">
                  <a:moveTo>
                    <a:pt x="26191" y="0"/>
                  </a:moveTo>
                  <a:lnTo>
                    <a:pt x="752333" y="0"/>
                  </a:lnTo>
                  <a:cubicBezTo>
                    <a:pt x="766798" y="0"/>
                    <a:pt x="778524" y="11726"/>
                    <a:pt x="778524" y="26191"/>
                  </a:cubicBezTo>
                  <a:lnTo>
                    <a:pt x="778524" y="248507"/>
                  </a:lnTo>
                  <a:cubicBezTo>
                    <a:pt x="778524" y="255453"/>
                    <a:pt x="775765" y="262115"/>
                    <a:pt x="770853" y="267027"/>
                  </a:cubicBezTo>
                  <a:cubicBezTo>
                    <a:pt x="765941" y="271939"/>
                    <a:pt x="759279" y="274698"/>
                    <a:pt x="752333" y="274698"/>
                  </a:cubicBezTo>
                  <a:lnTo>
                    <a:pt x="26191" y="274698"/>
                  </a:lnTo>
                  <a:cubicBezTo>
                    <a:pt x="19245" y="274698"/>
                    <a:pt x="12583" y="271939"/>
                    <a:pt x="7671" y="267027"/>
                  </a:cubicBezTo>
                  <a:cubicBezTo>
                    <a:pt x="2759" y="262115"/>
                    <a:pt x="0" y="255453"/>
                    <a:pt x="0" y="248507"/>
                  </a:cubicBezTo>
                  <a:lnTo>
                    <a:pt x="0" y="26191"/>
                  </a:lnTo>
                  <a:cubicBezTo>
                    <a:pt x="0" y="19245"/>
                    <a:pt x="2759" y="12583"/>
                    <a:pt x="7671" y="7671"/>
                  </a:cubicBezTo>
                  <a:cubicBezTo>
                    <a:pt x="12583" y="2759"/>
                    <a:pt x="19245" y="0"/>
                    <a:pt x="26191" y="0"/>
                  </a:cubicBezTo>
                  <a:close/>
                </a:path>
              </a:pathLst>
            </a:custGeom>
            <a:solidFill>
              <a:srgbClr val="FFFFFF"/>
            </a:solidFill>
            <a:ln w="38100" cap="sq">
              <a:solidFill>
                <a:srgbClr val="000000"/>
              </a:solidFill>
              <a:prstDash val="lgDash"/>
              <a:miter/>
            </a:ln>
          </p:spPr>
        </p:sp>
        <p:sp>
          <p:nvSpPr>
            <p:cNvPr name="TextBox 33" id="33"/>
            <p:cNvSpPr txBox="true"/>
            <p:nvPr/>
          </p:nvSpPr>
          <p:spPr>
            <a:xfrm>
              <a:off x="0" y="-47625"/>
              <a:ext cx="778524" cy="322323"/>
            </a:xfrm>
            <a:prstGeom prst="rect">
              <a:avLst/>
            </a:prstGeom>
          </p:spPr>
          <p:txBody>
            <a:bodyPr anchor="ctr" rtlCol="false" tIns="50800" lIns="50800" bIns="50800" rIns="50800"/>
            <a:lstStyle/>
            <a:p>
              <a:pPr algn="ctr">
                <a:lnSpc>
                  <a:spcPts val="3500"/>
                </a:lnSpc>
              </a:pPr>
              <a:r>
                <a:rPr lang="en-US" b="true" sz="2500" spc="-92">
                  <a:solidFill>
                    <a:srgbClr val="000000"/>
                  </a:solidFill>
                  <a:latin typeface="Montserrat Bold"/>
                  <a:ea typeface="Montserrat Bold"/>
                  <a:cs typeface="Montserrat Bold"/>
                  <a:sym typeface="Montserrat Bold"/>
                </a:rPr>
                <a:t>Kafka</a:t>
              </a:r>
            </a:p>
          </p:txBody>
        </p:sp>
      </p:grpSp>
      <p:sp>
        <p:nvSpPr>
          <p:cNvPr name="AutoShape 34" id="34"/>
          <p:cNvSpPr/>
          <p:nvPr/>
        </p:nvSpPr>
        <p:spPr>
          <a:xfrm flipV="true">
            <a:off x="8685772" y="4882516"/>
            <a:ext cx="551238" cy="0"/>
          </a:xfrm>
          <a:prstGeom prst="line">
            <a:avLst/>
          </a:prstGeom>
          <a:ln cap="flat" w="38100">
            <a:solidFill>
              <a:srgbClr val="000000"/>
            </a:solidFill>
            <a:prstDash val="solid"/>
            <a:headEnd type="none" len="sm" w="sm"/>
            <a:tailEnd type="triangle" len="med" w="lg"/>
          </a:ln>
        </p:spPr>
      </p:sp>
      <p:grpSp>
        <p:nvGrpSpPr>
          <p:cNvPr name="Group 35" id="35"/>
          <p:cNvGrpSpPr/>
          <p:nvPr/>
        </p:nvGrpSpPr>
        <p:grpSpPr>
          <a:xfrm rot="0">
            <a:off x="9237010" y="5880263"/>
            <a:ext cx="2955959" cy="1042994"/>
            <a:chOff x="0" y="0"/>
            <a:chExt cx="778524" cy="274698"/>
          </a:xfrm>
        </p:grpSpPr>
        <p:sp>
          <p:nvSpPr>
            <p:cNvPr name="Freeform 36" id="36"/>
            <p:cNvSpPr/>
            <p:nvPr/>
          </p:nvSpPr>
          <p:spPr>
            <a:xfrm flipH="false" flipV="false" rot="0">
              <a:off x="0" y="0"/>
              <a:ext cx="778524" cy="274698"/>
            </a:xfrm>
            <a:custGeom>
              <a:avLst/>
              <a:gdLst/>
              <a:ahLst/>
              <a:cxnLst/>
              <a:rect r="r" b="b" t="t" l="l"/>
              <a:pathLst>
                <a:path h="274698" w="778524">
                  <a:moveTo>
                    <a:pt x="26191" y="0"/>
                  </a:moveTo>
                  <a:lnTo>
                    <a:pt x="752333" y="0"/>
                  </a:lnTo>
                  <a:cubicBezTo>
                    <a:pt x="766798" y="0"/>
                    <a:pt x="778524" y="11726"/>
                    <a:pt x="778524" y="26191"/>
                  </a:cubicBezTo>
                  <a:lnTo>
                    <a:pt x="778524" y="248507"/>
                  </a:lnTo>
                  <a:cubicBezTo>
                    <a:pt x="778524" y="255453"/>
                    <a:pt x="775765" y="262115"/>
                    <a:pt x="770853" y="267027"/>
                  </a:cubicBezTo>
                  <a:cubicBezTo>
                    <a:pt x="765941" y="271939"/>
                    <a:pt x="759279" y="274698"/>
                    <a:pt x="752333" y="274698"/>
                  </a:cubicBezTo>
                  <a:lnTo>
                    <a:pt x="26191" y="274698"/>
                  </a:lnTo>
                  <a:cubicBezTo>
                    <a:pt x="19245" y="274698"/>
                    <a:pt x="12583" y="271939"/>
                    <a:pt x="7671" y="267027"/>
                  </a:cubicBezTo>
                  <a:cubicBezTo>
                    <a:pt x="2759" y="262115"/>
                    <a:pt x="0" y="255453"/>
                    <a:pt x="0" y="248507"/>
                  </a:cubicBezTo>
                  <a:lnTo>
                    <a:pt x="0" y="26191"/>
                  </a:lnTo>
                  <a:cubicBezTo>
                    <a:pt x="0" y="19245"/>
                    <a:pt x="2759" y="12583"/>
                    <a:pt x="7671" y="7671"/>
                  </a:cubicBezTo>
                  <a:cubicBezTo>
                    <a:pt x="12583" y="2759"/>
                    <a:pt x="19245" y="0"/>
                    <a:pt x="26191" y="0"/>
                  </a:cubicBezTo>
                  <a:close/>
                </a:path>
              </a:pathLst>
            </a:custGeom>
            <a:solidFill>
              <a:srgbClr val="FFFFFF"/>
            </a:solidFill>
            <a:ln w="38100" cap="sq">
              <a:solidFill>
                <a:srgbClr val="000000"/>
              </a:solidFill>
              <a:prstDash val="lgDash"/>
              <a:miter/>
            </a:ln>
          </p:spPr>
        </p:sp>
        <p:sp>
          <p:nvSpPr>
            <p:cNvPr name="TextBox 37" id="37"/>
            <p:cNvSpPr txBox="true"/>
            <p:nvPr/>
          </p:nvSpPr>
          <p:spPr>
            <a:xfrm>
              <a:off x="0" y="-47625"/>
              <a:ext cx="778524" cy="322323"/>
            </a:xfrm>
            <a:prstGeom prst="rect">
              <a:avLst/>
            </a:prstGeom>
          </p:spPr>
          <p:txBody>
            <a:bodyPr anchor="ctr" rtlCol="false" tIns="50800" lIns="50800" bIns="50800" rIns="50800"/>
            <a:lstStyle/>
            <a:p>
              <a:pPr algn="ctr">
                <a:lnSpc>
                  <a:spcPts val="3500"/>
                </a:lnSpc>
              </a:pPr>
              <a:r>
                <a:rPr lang="en-US" b="true" sz="2500" spc="-92">
                  <a:solidFill>
                    <a:srgbClr val="000000"/>
                  </a:solidFill>
                  <a:latin typeface="Montserrat Bold"/>
                  <a:ea typeface="Montserrat Bold"/>
                  <a:cs typeface="Montserrat Bold"/>
                  <a:sym typeface="Montserrat Bold"/>
                </a:rPr>
                <a:t>WebSocket</a:t>
              </a:r>
            </a:p>
          </p:txBody>
        </p:sp>
      </p:grpSp>
      <p:sp>
        <p:nvSpPr>
          <p:cNvPr name="AutoShape 38" id="38"/>
          <p:cNvSpPr/>
          <p:nvPr/>
        </p:nvSpPr>
        <p:spPr>
          <a:xfrm>
            <a:off x="8685772" y="6401760"/>
            <a:ext cx="551238" cy="0"/>
          </a:xfrm>
          <a:prstGeom prst="line">
            <a:avLst/>
          </a:prstGeom>
          <a:ln cap="flat" w="38100">
            <a:solidFill>
              <a:srgbClr val="000000"/>
            </a:solidFill>
            <a:prstDash val="solid"/>
            <a:headEnd type="none" len="sm" w="sm"/>
            <a:tailEnd type="triangle" len="med" w="lg"/>
          </a:ln>
        </p:spPr>
      </p:sp>
      <p:grpSp>
        <p:nvGrpSpPr>
          <p:cNvPr name="Group 39" id="39"/>
          <p:cNvGrpSpPr/>
          <p:nvPr/>
        </p:nvGrpSpPr>
        <p:grpSpPr>
          <a:xfrm rot="0">
            <a:off x="9262559" y="7399507"/>
            <a:ext cx="2955959" cy="1085533"/>
            <a:chOff x="0" y="0"/>
            <a:chExt cx="778524" cy="285902"/>
          </a:xfrm>
        </p:grpSpPr>
        <p:sp>
          <p:nvSpPr>
            <p:cNvPr name="Freeform 40" id="40"/>
            <p:cNvSpPr/>
            <p:nvPr/>
          </p:nvSpPr>
          <p:spPr>
            <a:xfrm flipH="false" flipV="false" rot="0">
              <a:off x="0" y="0"/>
              <a:ext cx="778524" cy="285902"/>
            </a:xfrm>
            <a:custGeom>
              <a:avLst/>
              <a:gdLst/>
              <a:ahLst/>
              <a:cxnLst/>
              <a:rect r="r" b="b" t="t" l="l"/>
              <a:pathLst>
                <a:path h="285902" w="778524">
                  <a:moveTo>
                    <a:pt x="26191" y="0"/>
                  </a:moveTo>
                  <a:lnTo>
                    <a:pt x="752333" y="0"/>
                  </a:lnTo>
                  <a:cubicBezTo>
                    <a:pt x="766798" y="0"/>
                    <a:pt x="778524" y="11726"/>
                    <a:pt x="778524" y="26191"/>
                  </a:cubicBezTo>
                  <a:lnTo>
                    <a:pt x="778524" y="259711"/>
                  </a:lnTo>
                  <a:cubicBezTo>
                    <a:pt x="778524" y="266657"/>
                    <a:pt x="775765" y="273319"/>
                    <a:pt x="770853" y="278230"/>
                  </a:cubicBezTo>
                  <a:cubicBezTo>
                    <a:pt x="765941" y="283142"/>
                    <a:pt x="759279" y="285902"/>
                    <a:pt x="752333" y="285902"/>
                  </a:cubicBezTo>
                  <a:lnTo>
                    <a:pt x="26191" y="285902"/>
                  </a:lnTo>
                  <a:cubicBezTo>
                    <a:pt x="11726" y="285902"/>
                    <a:pt x="0" y="274176"/>
                    <a:pt x="0" y="259711"/>
                  </a:cubicBezTo>
                  <a:lnTo>
                    <a:pt x="0" y="26191"/>
                  </a:lnTo>
                  <a:cubicBezTo>
                    <a:pt x="0" y="19245"/>
                    <a:pt x="2759" y="12583"/>
                    <a:pt x="7671" y="7671"/>
                  </a:cubicBezTo>
                  <a:cubicBezTo>
                    <a:pt x="12583" y="2759"/>
                    <a:pt x="19245" y="0"/>
                    <a:pt x="26191" y="0"/>
                  </a:cubicBezTo>
                  <a:close/>
                </a:path>
              </a:pathLst>
            </a:custGeom>
            <a:solidFill>
              <a:srgbClr val="FFFFFF"/>
            </a:solidFill>
            <a:ln w="38100" cap="sq">
              <a:solidFill>
                <a:srgbClr val="000000"/>
              </a:solidFill>
              <a:prstDash val="lgDash"/>
              <a:miter/>
            </a:ln>
          </p:spPr>
        </p:sp>
        <p:sp>
          <p:nvSpPr>
            <p:cNvPr name="TextBox 41" id="41"/>
            <p:cNvSpPr txBox="true"/>
            <p:nvPr/>
          </p:nvSpPr>
          <p:spPr>
            <a:xfrm>
              <a:off x="0" y="-47625"/>
              <a:ext cx="778524" cy="333527"/>
            </a:xfrm>
            <a:prstGeom prst="rect">
              <a:avLst/>
            </a:prstGeom>
          </p:spPr>
          <p:txBody>
            <a:bodyPr anchor="ctr" rtlCol="false" tIns="50800" lIns="50800" bIns="50800" rIns="50800"/>
            <a:lstStyle/>
            <a:p>
              <a:pPr algn="ctr">
                <a:lnSpc>
                  <a:spcPts val="3500"/>
                </a:lnSpc>
              </a:pPr>
              <a:r>
                <a:rPr lang="en-US" b="true" sz="2500" spc="-92">
                  <a:solidFill>
                    <a:srgbClr val="000000"/>
                  </a:solidFill>
                  <a:latin typeface="Montserrat Bold"/>
                  <a:ea typeface="Montserrat Bold"/>
                  <a:cs typeface="Montserrat Bold"/>
                  <a:sym typeface="Montserrat Bold"/>
                </a:rPr>
                <a:t>webhook qua BFF</a:t>
              </a:r>
            </a:p>
          </p:txBody>
        </p:sp>
      </p:grpSp>
      <p:sp>
        <p:nvSpPr>
          <p:cNvPr name="AutoShape 42" id="42"/>
          <p:cNvSpPr/>
          <p:nvPr/>
        </p:nvSpPr>
        <p:spPr>
          <a:xfrm flipV="true">
            <a:off x="8711320" y="7942273"/>
            <a:ext cx="551238" cy="21269"/>
          </a:xfrm>
          <a:prstGeom prst="line">
            <a:avLst/>
          </a:prstGeom>
          <a:ln cap="flat" w="38100">
            <a:solidFill>
              <a:srgbClr val="000000"/>
            </a:solidFill>
            <a:prstDash val="solid"/>
            <a:headEnd type="none" len="sm" w="sm"/>
            <a:tailEnd type="triangle" len="med" w="lg"/>
          </a:ln>
        </p:spPr>
      </p:sp>
      <p:sp>
        <p:nvSpPr>
          <p:cNvPr name="Freeform 43" id="43"/>
          <p:cNvSpPr/>
          <p:nvPr/>
        </p:nvSpPr>
        <p:spPr>
          <a:xfrm flipH="false" flipV="false" rot="0">
            <a:off x="12607422" y="2386224"/>
            <a:ext cx="1080439" cy="1410035"/>
          </a:xfrm>
          <a:custGeom>
            <a:avLst/>
            <a:gdLst/>
            <a:ahLst/>
            <a:cxnLst/>
            <a:rect r="r" b="b" t="t" l="l"/>
            <a:pathLst>
              <a:path h="1410035" w="1080439">
                <a:moveTo>
                  <a:pt x="0" y="0"/>
                </a:moveTo>
                <a:lnTo>
                  <a:pt x="1080439" y="0"/>
                </a:lnTo>
                <a:lnTo>
                  <a:pt x="1080439" y="1410035"/>
                </a:lnTo>
                <a:lnTo>
                  <a:pt x="0" y="1410035"/>
                </a:lnTo>
                <a:lnTo>
                  <a:pt x="0" y="0"/>
                </a:lnTo>
                <a:close/>
              </a:path>
            </a:pathLst>
          </a:custGeom>
          <a:blipFill>
            <a:blip r:embed="rId4"/>
            <a:stretch>
              <a:fillRect l="0" t="0" r="0" b="0"/>
            </a:stretch>
          </a:blipFill>
        </p:spPr>
      </p:sp>
      <p:sp>
        <p:nvSpPr>
          <p:cNvPr name="Freeform 44" id="44"/>
          <p:cNvSpPr/>
          <p:nvPr/>
        </p:nvSpPr>
        <p:spPr>
          <a:xfrm flipH="false" flipV="false" rot="0">
            <a:off x="15814911" y="2475942"/>
            <a:ext cx="1250354" cy="1282414"/>
          </a:xfrm>
          <a:custGeom>
            <a:avLst/>
            <a:gdLst/>
            <a:ahLst/>
            <a:cxnLst/>
            <a:rect r="r" b="b" t="t" l="l"/>
            <a:pathLst>
              <a:path h="1282414" w="1250354">
                <a:moveTo>
                  <a:pt x="0" y="0"/>
                </a:moveTo>
                <a:lnTo>
                  <a:pt x="1250354" y="0"/>
                </a:lnTo>
                <a:lnTo>
                  <a:pt x="1250354" y="1282414"/>
                </a:lnTo>
                <a:lnTo>
                  <a:pt x="0" y="1282414"/>
                </a:lnTo>
                <a:lnTo>
                  <a:pt x="0" y="0"/>
                </a:lnTo>
                <a:close/>
              </a:path>
            </a:pathLst>
          </a:custGeom>
          <a:blipFill>
            <a:blip r:embed="rId5"/>
            <a:stretch>
              <a:fillRect l="0" t="0" r="0" b="0"/>
            </a:stretch>
          </a:blipFill>
        </p:spPr>
      </p:sp>
      <p:sp>
        <p:nvSpPr>
          <p:cNvPr name="AutoShape 45" id="45"/>
          <p:cNvSpPr/>
          <p:nvPr/>
        </p:nvSpPr>
        <p:spPr>
          <a:xfrm flipV="true">
            <a:off x="13953395" y="3117149"/>
            <a:ext cx="1861517" cy="34660"/>
          </a:xfrm>
          <a:prstGeom prst="line">
            <a:avLst/>
          </a:prstGeom>
          <a:ln cap="flat" w="38100">
            <a:solidFill>
              <a:srgbClr val="000000"/>
            </a:solidFill>
            <a:prstDash val="solid"/>
            <a:headEnd type="none" len="sm" w="sm"/>
            <a:tailEnd type="triangle" len="med" w="lg"/>
          </a:ln>
        </p:spPr>
      </p:sp>
      <p:sp>
        <p:nvSpPr>
          <p:cNvPr name="Freeform 46" id="46"/>
          <p:cNvSpPr/>
          <p:nvPr/>
        </p:nvSpPr>
        <p:spPr>
          <a:xfrm flipH="false" flipV="false" rot="0">
            <a:off x="12607422" y="4514746"/>
            <a:ext cx="1331289" cy="956864"/>
          </a:xfrm>
          <a:custGeom>
            <a:avLst/>
            <a:gdLst/>
            <a:ahLst/>
            <a:cxnLst/>
            <a:rect r="r" b="b" t="t" l="l"/>
            <a:pathLst>
              <a:path h="956864" w="1331289">
                <a:moveTo>
                  <a:pt x="0" y="0"/>
                </a:moveTo>
                <a:lnTo>
                  <a:pt x="1331288" y="0"/>
                </a:lnTo>
                <a:lnTo>
                  <a:pt x="1331288" y="956863"/>
                </a:lnTo>
                <a:lnTo>
                  <a:pt x="0" y="956863"/>
                </a:lnTo>
                <a:lnTo>
                  <a:pt x="0" y="0"/>
                </a:lnTo>
                <a:close/>
              </a:path>
            </a:pathLst>
          </a:custGeom>
          <a:blipFill>
            <a:blip r:embed="rId6"/>
            <a:stretch>
              <a:fillRect l="0" t="0" r="0" b="0"/>
            </a:stretch>
          </a:blipFill>
        </p:spPr>
      </p:sp>
      <p:sp>
        <p:nvSpPr>
          <p:cNvPr name="Freeform 47" id="47"/>
          <p:cNvSpPr/>
          <p:nvPr/>
        </p:nvSpPr>
        <p:spPr>
          <a:xfrm flipH="false" flipV="false" rot="0">
            <a:off x="15957285" y="4398790"/>
            <a:ext cx="1107980" cy="1122558"/>
          </a:xfrm>
          <a:custGeom>
            <a:avLst/>
            <a:gdLst/>
            <a:ahLst/>
            <a:cxnLst/>
            <a:rect r="r" b="b" t="t" l="l"/>
            <a:pathLst>
              <a:path h="1122558" w="1107980">
                <a:moveTo>
                  <a:pt x="0" y="0"/>
                </a:moveTo>
                <a:lnTo>
                  <a:pt x="1107980" y="0"/>
                </a:lnTo>
                <a:lnTo>
                  <a:pt x="1107980" y="1122558"/>
                </a:lnTo>
                <a:lnTo>
                  <a:pt x="0" y="1122558"/>
                </a:lnTo>
                <a:lnTo>
                  <a:pt x="0" y="0"/>
                </a:lnTo>
                <a:close/>
              </a:path>
            </a:pathLst>
          </a:custGeom>
          <a:blipFill>
            <a:blip r:embed="rId7"/>
            <a:stretch>
              <a:fillRect l="0" t="0" r="0" b="-1926"/>
            </a:stretch>
          </a:blipFill>
        </p:spPr>
      </p:sp>
      <p:sp>
        <p:nvSpPr>
          <p:cNvPr name="Freeform 48" id="48"/>
          <p:cNvSpPr/>
          <p:nvPr/>
        </p:nvSpPr>
        <p:spPr>
          <a:xfrm flipH="false" flipV="false" rot="0">
            <a:off x="12759822" y="6249062"/>
            <a:ext cx="1080439" cy="1410035"/>
          </a:xfrm>
          <a:custGeom>
            <a:avLst/>
            <a:gdLst/>
            <a:ahLst/>
            <a:cxnLst/>
            <a:rect r="r" b="b" t="t" l="l"/>
            <a:pathLst>
              <a:path h="1410035" w="1080439">
                <a:moveTo>
                  <a:pt x="0" y="0"/>
                </a:moveTo>
                <a:lnTo>
                  <a:pt x="1080439" y="0"/>
                </a:lnTo>
                <a:lnTo>
                  <a:pt x="1080439" y="1410035"/>
                </a:lnTo>
                <a:lnTo>
                  <a:pt x="0" y="1410035"/>
                </a:lnTo>
                <a:lnTo>
                  <a:pt x="0" y="0"/>
                </a:lnTo>
                <a:close/>
              </a:path>
            </a:pathLst>
          </a:custGeom>
          <a:blipFill>
            <a:blip r:embed="rId4"/>
            <a:stretch>
              <a:fillRect l="0" t="0" r="0" b="0"/>
            </a:stretch>
          </a:blipFill>
        </p:spPr>
      </p:sp>
      <p:sp>
        <p:nvSpPr>
          <p:cNvPr name="Freeform 49" id="49"/>
          <p:cNvSpPr/>
          <p:nvPr/>
        </p:nvSpPr>
        <p:spPr>
          <a:xfrm flipH="false" flipV="false" rot="0">
            <a:off x="12759822" y="2538624"/>
            <a:ext cx="1080439" cy="1410035"/>
          </a:xfrm>
          <a:custGeom>
            <a:avLst/>
            <a:gdLst/>
            <a:ahLst/>
            <a:cxnLst/>
            <a:rect r="r" b="b" t="t" l="l"/>
            <a:pathLst>
              <a:path h="1410035" w="1080439">
                <a:moveTo>
                  <a:pt x="0" y="0"/>
                </a:moveTo>
                <a:lnTo>
                  <a:pt x="1080439" y="0"/>
                </a:lnTo>
                <a:lnTo>
                  <a:pt x="1080439" y="1410035"/>
                </a:lnTo>
                <a:lnTo>
                  <a:pt x="0" y="1410035"/>
                </a:lnTo>
                <a:lnTo>
                  <a:pt x="0" y="0"/>
                </a:lnTo>
                <a:close/>
              </a:path>
            </a:pathLst>
          </a:custGeom>
          <a:blipFill>
            <a:blip r:embed="rId4"/>
            <a:stretch>
              <a:fillRect l="0" t="0" r="0" b="0"/>
            </a:stretch>
          </a:blipFill>
        </p:spPr>
      </p:sp>
      <p:sp>
        <p:nvSpPr>
          <p:cNvPr name="Freeform 50" id="50"/>
          <p:cNvSpPr/>
          <p:nvPr/>
        </p:nvSpPr>
        <p:spPr>
          <a:xfrm flipH="false" flipV="false" rot="0">
            <a:off x="15814911" y="6383747"/>
            <a:ext cx="1289168" cy="1115130"/>
          </a:xfrm>
          <a:custGeom>
            <a:avLst/>
            <a:gdLst/>
            <a:ahLst/>
            <a:cxnLst/>
            <a:rect r="r" b="b" t="t" l="l"/>
            <a:pathLst>
              <a:path h="1115130" w="1289168">
                <a:moveTo>
                  <a:pt x="0" y="0"/>
                </a:moveTo>
                <a:lnTo>
                  <a:pt x="1289168" y="0"/>
                </a:lnTo>
                <a:lnTo>
                  <a:pt x="1289168" y="1115129"/>
                </a:lnTo>
                <a:lnTo>
                  <a:pt x="0" y="1115129"/>
                </a:lnTo>
                <a:lnTo>
                  <a:pt x="0" y="0"/>
                </a:lnTo>
                <a:close/>
              </a:path>
            </a:pathLst>
          </a:custGeom>
          <a:blipFill>
            <a:blip r:embed="rId8"/>
            <a:stretch>
              <a:fillRect l="0" t="0" r="0" b="0"/>
            </a:stretch>
          </a:blipFill>
        </p:spPr>
      </p:sp>
      <p:sp>
        <p:nvSpPr>
          <p:cNvPr name="TextBox 51" id="51"/>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MÔ HÌNH GIAO TIẾP GIỮA CÁC SERVICE VÀ ỨNG DỤNG</a:t>
            </a:r>
          </a:p>
        </p:txBody>
      </p:sp>
      <p:sp>
        <p:nvSpPr>
          <p:cNvPr name="TextBox 52" id="52"/>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53" id="53"/>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
        <p:nvSpPr>
          <p:cNvPr name="TextBox 54" id="54"/>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16</a:t>
            </a:r>
          </a:p>
        </p:txBody>
      </p:sp>
      <p:sp>
        <p:nvSpPr>
          <p:cNvPr name="TextBox 55" id="55"/>
          <p:cNvSpPr txBox="true"/>
          <p:nvPr/>
        </p:nvSpPr>
        <p:spPr>
          <a:xfrm rot="0">
            <a:off x="2159046" y="2913541"/>
            <a:ext cx="6526725" cy="860425"/>
          </a:xfrm>
          <a:prstGeom prst="rect">
            <a:avLst/>
          </a:prstGeom>
        </p:spPr>
        <p:txBody>
          <a:bodyPr anchor="t" rtlCol="false" tIns="0" lIns="0" bIns="0" rIns="0">
            <a:spAutoFit/>
          </a:bodyPr>
          <a:lstStyle/>
          <a:p>
            <a:pPr algn="l" marL="0" indent="0" lvl="1">
              <a:lnSpc>
                <a:spcPts val="3500"/>
              </a:lnSpc>
              <a:spcBef>
                <a:spcPct val="0"/>
              </a:spcBef>
            </a:pPr>
            <a:r>
              <a:rPr lang="en-US" b="true" sz="2500" spc="-92">
                <a:solidFill>
                  <a:srgbClr val="000101"/>
                </a:solidFill>
                <a:latin typeface="Montserrat Bold"/>
                <a:ea typeface="Montserrat Bold"/>
                <a:cs typeface="Montserrat Bold"/>
                <a:sym typeface="Montserrat Bold"/>
              </a:rPr>
              <a:t>Cần</a:t>
            </a:r>
            <a:r>
              <a:rPr lang="en-US" b="true" sz="2500" spc="-92" strike="noStrike" u="none">
                <a:solidFill>
                  <a:srgbClr val="000101"/>
                </a:solidFill>
                <a:latin typeface="Montserrat Bold"/>
                <a:ea typeface="Montserrat Bold"/>
                <a:cs typeface="Montserrat Bold"/>
                <a:sym typeface="Montserrat Bold"/>
              </a:rPr>
              <a:t> phản hồi ngay cho người dùng hoặc </a:t>
            </a:r>
            <a:r>
              <a:rPr lang="en-US" b="true" sz="2500" spc="-92" strike="noStrike" u="none">
                <a:solidFill>
                  <a:srgbClr val="000101"/>
                </a:solidFill>
                <a:latin typeface="Montserrat Bold"/>
                <a:ea typeface="Montserrat Bold"/>
                <a:cs typeface="Montserrat Bold"/>
                <a:sym typeface="Montserrat Bold"/>
              </a:rPr>
              <a:t>cầ</a:t>
            </a:r>
            <a:r>
              <a:rPr lang="en-US" b="true" sz="2500" spc="-92" strike="noStrike" u="none">
                <a:solidFill>
                  <a:srgbClr val="000101"/>
                </a:solidFill>
                <a:latin typeface="Montserrat Bold"/>
                <a:ea typeface="Montserrat Bold"/>
                <a:cs typeface="Montserrat Bold"/>
                <a:sym typeface="Montserrat Bold"/>
              </a:rPr>
              <a:t>n kết </a:t>
            </a:r>
            <a:r>
              <a:rPr lang="en-US" b="true" sz="2500" spc="-92" strike="noStrike" u="none">
                <a:solidFill>
                  <a:srgbClr val="000101"/>
                </a:solidFill>
                <a:latin typeface="Montserrat Bold"/>
                <a:ea typeface="Montserrat Bold"/>
                <a:cs typeface="Montserrat Bold"/>
                <a:sym typeface="Montserrat Bold"/>
              </a:rPr>
              <a:t>q</a:t>
            </a:r>
            <a:r>
              <a:rPr lang="en-US" b="true" sz="2500" spc="-92" strike="noStrike" u="none">
                <a:solidFill>
                  <a:srgbClr val="000101"/>
                </a:solidFill>
                <a:latin typeface="Montserrat Bold"/>
                <a:ea typeface="Montserrat Bold"/>
                <a:cs typeface="Montserrat Bold"/>
                <a:sym typeface="Montserrat Bold"/>
              </a:rPr>
              <a:t>uả để tiếp tục giao </a:t>
            </a:r>
            <a:r>
              <a:rPr lang="en-US" b="true" sz="2500" spc="-92" strike="noStrike" u="none">
                <a:solidFill>
                  <a:srgbClr val="000101"/>
                </a:solidFill>
                <a:latin typeface="Montserrat Bold"/>
                <a:ea typeface="Montserrat Bold"/>
                <a:cs typeface="Montserrat Bold"/>
                <a:sym typeface="Montserrat Bold"/>
              </a:rPr>
              <a:t>dịc</a:t>
            </a:r>
            <a:r>
              <a:rPr lang="en-US" b="true" sz="2500" spc="-92" strike="noStrike" u="none">
                <a:solidFill>
                  <a:srgbClr val="000101"/>
                </a:solidFill>
                <a:latin typeface="Montserrat Bold"/>
                <a:ea typeface="Montserrat Bold"/>
                <a:cs typeface="Montserrat Bold"/>
                <a:sym typeface="Montserrat Bold"/>
              </a:rPr>
              <a:t>h</a:t>
            </a:r>
          </a:p>
        </p:txBody>
      </p:sp>
      <p:sp>
        <p:nvSpPr>
          <p:cNvPr name="TextBox 56" id="56"/>
          <p:cNvSpPr txBox="true"/>
          <p:nvPr/>
        </p:nvSpPr>
        <p:spPr>
          <a:xfrm rot="0">
            <a:off x="1193724" y="2999266"/>
            <a:ext cx="789867" cy="784225"/>
          </a:xfrm>
          <a:prstGeom prst="rect">
            <a:avLst/>
          </a:prstGeom>
        </p:spPr>
        <p:txBody>
          <a:bodyPr anchor="t" rtlCol="false" tIns="0" lIns="0" bIns="0" rIns="0">
            <a:spAutoFit/>
          </a:bodyPr>
          <a:lstStyle/>
          <a:p>
            <a:pPr algn="l" marL="0" indent="0" lvl="0">
              <a:lnSpc>
                <a:spcPts val="6049"/>
              </a:lnSpc>
            </a:pPr>
            <a:r>
              <a:rPr lang="en-US" sz="5499" spc="-203">
                <a:solidFill>
                  <a:srgbClr val="000101"/>
                </a:solidFill>
                <a:latin typeface="Montserrat"/>
                <a:ea typeface="Montserrat"/>
                <a:cs typeface="Montserrat"/>
                <a:sym typeface="Montserrat"/>
              </a:rPr>
              <a:t>01</a:t>
            </a:r>
          </a:p>
        </p:txBody>
      </p:sp>
      <p:sp>
        <p:nvSpPr>
          <p:cNvPr name="TextBox 57" id="57"/>
          <p:cNvSpPr txBox="true"/>
          <p:nvPr/>
        </p:nvSpPr>
        <p:spPr>
          <a:xfrm rot="0">
            <a:off x="1093223" y="4514216"/>
            <a:ext cx="965322" cy="784225"/>
          </a:xfrm>
          <a:prstGeom prst="rect">
            <a:avLst/>
          </a:prstGeom>
        </p:spPr>
        <p:txBody>
          <a:bodyPr anchor="t" rtlCol="false" tIns="0" lIns="0" bIns="0" rIns="0">
            <a:spAutoFit/>
          </a:bodyPr>
          <a:lstStyle/>
          <a:p>
            <a:pPr algn="l" marL="0" indent="0" lvl="0">
              <a:lnSpc>
                <a:spcPts val="6049"/>
              </a:lnSpc>
            </a:pPr>
            <a:r>
              <a:rPr lang="en-US" sz="5499" spc="-203">
                <a:solidFill>
                  <a:srgbClr val="000101"/>
                </a:solidFill>
                <a:latin typeface="Montserrat"/>
                <a:ea typeface="Montserrat"/>
                <a:cs typeface="Montserrat"/>
                <a:sym typeface="Montserrat"/>
              </a:rPr>
              <a:t>02</a:t>
            </a:r>
          </a:p>
        </p:txBody>
      </p:sp>
      <p:sp>
        <p:nvSpPr>
          <p:cNvPr name="TextBox 58" id="58"/>
          <p:cNvSpPr txBox="true"/>
          <p:nvPr/>
        </p:nvSpPr>
        <p:spPr>
          <a:xfrm rot="0">
            <a:off x="2159046" y="6096555"/>
            <a:ext cx="6526725" cy="422275"/>
          </a:xfrm>
          <a:prstGeom prst="rect">
            <a:avLst/>
          </a:prstGeom>
        </p:spPr>
        <p:txBody>
          <a:bodyPr anchor="t" rtlCol="false" tIns="0" lIns="0" bIns="0" rIns="0">
            <a:spAutoFit/>
          </a:bodyPr>
          <a:lstStyle/>
          <a:p>
            <a:pPr algn="l" marL="0" indent="0" lvl="1">
              <a:lnSpc>
                <a:spcPts val="3500"/>
              </a:lnSpc>
              <a:spcBef>
                <a:spcPct val="0"/>
              </a:spcBef>
            </a:pPr>
            <a:r>
              <a:rPr lang="en-US" b="true" sz="2500" spc="-92">
                <a:solidFill>
                  <a:srgbClr val="000101"/>
                </a:solidFill>
                <a:latin typeface="Montserrat Bold"/>
                <a:ea typeface="Montserrat Bold"/>
                <a:cs typeface="Montserrat Bold"/>
                <a:sym typeface="Montserrat Bold"/>
              </a:rPr>
              <a:t>Cập</a:t>
            </a:r>
            <a:r>
              <a:rPr lang="en-US" b="true" sz="2500" spc="-92" strike="noStrike" u="none">
                <a:solidFill>
                  <a:srgbClr val="000101"/>
                </a:solidFill>
                <a:latin typeface="Montserrat Bold"/>
                <a:ea typeface="Montserrat Bold"/>
                <a:cs typeface="Montserrat Bold"/>
                <a:sym typeface="Montserrat Bold"/>
              </a:rPr>
              <a:t> nhật giao diện gần thời gian thự</a:t>
            </a:r>
            <a:r>
              <a:rPr lang="en-US" b="true" sz="2500" spc="-92" strike="noStrike" u="none">
                <a:solidFill>
                  <a:srgbClr val="000101"/>
                </a:solidFill>
                <a:latin typeface="Montserrat Bold"/>
                <a:ea typeface="Montserrat Bold"/>
                <a:cs typeface="Montserrat Bold"/>
                <a:sym typeface="Montserrat Bold"/>
              </a:rPr>
              <a:t>c</a:t>
            </a:r>
          </a:p>
        </p:txBody>
      </p:sp>
      <p:sp>
        <p:nvSpPr>
          <p:cNvPr name="TextBox 59" id="59"/>
          <p:cNvSpPr txBox="true"/>
          <p:nvPr/>
        </p:nvSpPr>
        <p:spPr>
          <a:xfrm rot="0">
            <a:off x="1111026" y="6033460"/>
            <a:ext cx="990871" cy="784225"/>
          </a:xfrm>
          <a:prstGeom prst="rect">
            <a:avLst/>
          </a:prstGeom>
        </p:spPr>
        <p:txBody>
          <a:bodyPr anchor="t" rtlCol="false" tIns="0" lIns="0" bIns="0" rIns="0">
            <a:spAutoFit/>
          </a:bodyPr>
          <a:lstStyle/>
          <a:p>
            <a:pPr algn="l" marL="0" indent="0" lvl="0">
              <a:lnSpc>
                <a:spcPts val="6049"/>
              </a:lnSpc>
            </a:pPr>
            <a:r>
              <a:rPr lang="en-US" sz="5499" spc="-203">
                <a:solidFill>
                  <a:srgbClr val="000101"/>
                </a:solidFill>
                <a:latin typeface="Montserrat"/>
                <a:ea typeface="Montserrat"/>
                <a:cs typeface="Montserrat"/>
                <a:sym typeface="Montserrat"/>
              </a:rPr>
              <a:t>03</a:t>
            </a:r>
          </a:p>
        </p:txBody>
      </p:sp>
      <p:sp>
        <p:nvSpPr>
          <p:cNvPr name="TextBox 60" id="60"/>
          <p:cNvSpPr txBox="true"/>
          <p:nvPr/>
        </p:nvSpPr>
        <p:spPr>
          <a:xfrm rot="0">
            <a:off x="1093223" y="7595243"/>
            <a:ext cx="990871" cy="784225"/>
          </a:xfrm>
          <a:prstGeom prst="rect">
            <a:avLst/>
          </a:prstGeom>
        </p:spPr>
        <p:txBody>
          <a:bodyPr anchor="t" rtlCol="false" tIns="0" lIns="0" bIns="0" rIns="0">
            <a:spAutoFit/>
          </a:bodyPr>
          <a:lstStyle/>
          <a:p>
            <a:pPr algn="l" marL="0" indent="0" lvl="0">
              <a:lnSpc>
                <a:spcPts val="6049"/>
              </a:lnSpc>
            </a:pPr>
            <a:r>
              <a:rPr lang="en-US" sz="5499" spc="-203">
                <a:solidFill>
                  <a:srgbClr val="000101"/>
                </a:solidFill>
                <a:latin typeface="Montserrat"/>
                <a:ea typeface="Montserrat"/>
                <a:cs typeface="Montserrat"/>
                <a:sym typeface="Montserrat"/>
              </a:rPr>
              <a:t>04</a:t>
            </a:r>
          </a:p>
        </p:txBody>
      </p:sp>
      <p:sp>
        <p:nvSpPr>
          <p:cNvPr name="AutoShape 61" id="61"/>
          <p:cNvSpPr/>
          <p:nvPr/>
        </p:nvSpPr>
        <p:spPr>
          <a:xfrm flipV="true">
            <a:off x="13938710" y="4960069"/>
            <a:ext cx="2018575" cy="33108"/>
          </a:xfrm>
          <a:prstGeom prst="line">
            <a:avLst/>
          </a:prstGeom>
          <a:ln cap="flat" w="38100">
            <a:solidFill>
              <a:srgbClr val="000000"/>
            </a:solidFill>
            <a:prstDash val="solid"/>
            <a:headEnd type="none" len="sm" w="sm"/>
            <a:tailEnd type="triangle" len="med" w="lg"/>
          </a:ln>
        </p:spPr>
      </p:sp>
      <p:sp>
        <p:nvSpPr>
          <p:cNvPr name="AutoShape 62" id="62"/>
          <p:cNvSpPr/>
          <p:nvPr/>
        </p:nvSpPr>
        <p:spPr>
          <a:xfrm flipV="true">
            <a:off x="13840261" y="6941312"/>
            <a:ext cx="1974650" cy="12768"/>
          </a:xfrm>
          <a:prstGeom prst="line">
            <a:avLst/>
          </a:prstGeom>
          <a:ln cap="flat" w="38100">
            <a:solidFill>
              <a:srgbClr val="000000"/>
            </a:solidFill>
            <a:prstDash val="solid"/>
            <a:headEnd type="none" len="sm" w="sm"/>
            <a:tailEnd type="triangle" len="med" w="lg"/>
          </a:ln>
        </p:spPr>
      </p:sp>
      <p:sp>
        <p:nvSpPr>
          <p:cNvPr name="TextBox 63" id="63"/>
          <p:cNvSpPr txBox="true"/>
          <p:nvPr/>
        </p:nvSpPr>
        <p:spPr>
          <a:xfrm rot="0">
            <a:off x="12759822" y="1963949"/>
            <a:ext cx="900038"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Order</a:t>
            </a:r>
          </a:p>
        </p:txBody>
      </p:sp>
      <p:sp>
        <p:nvSpPr>
          <p:cNvPr name="TextBox 64" id="64"/>
          <p:cNvSpPr txBox="true"/>
          <p:nvPr/>
        </p:nvSpPr>
        <p:spPr>
          <a:xfrm rot="0">
            <a:off x="15908856" y="1951181"/>
            <a:ext cx="1204838"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Catalog</a:t>
            </a:r>
          </a:p>
        </p:txBody>
      </p:sp>
      <p:sp>
        <p:nvSpPr>
          <p:cNvPr name="TextBox 65" id="65"/>
          <p:cNvSpPr txBox="true"/>
          <p:nvPr/>
        </p:nvSpPr>
        <p:spPr>
          <a:xfrm rot="0">
            <a:off x="12823047" y="5785347"/>
            <a:ext cx="900038"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Order</a:t>
            </a:r>
          </a:p>
        </p:txBody>
      </p:sp>
      <p:sp>
        <p:nvSpPr>
          <p:cNvPr name="TextBox 66" id="66"/>
          <p:cNvSpPr txBox="true"/>
          <p:nvPr/>
        </p:nvSpPr>
        <p:spPr>
          <a:xfrm rot="0">
            <a:off x="15804736" y="5878151"/>
            <a:ext cx="1205136"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Kitchen</a:t>
            </a:r>
          </a:p>
        </p:txBody>
      </p:sp>
      <p:sp>
        <p:nvSpPr>
          <p:cNvPr name="TextBox 67" id="67"/>
          <p:cNvSpPr txBox="true"/>
          <p:nvPr/>
        </p:nvSpPr>
        <p:spPr>
          <a:xfrm rot="0">
            <a:off x="12931144" y="4161904"/>
            <a:ext cx="613395"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BFF</a:t>
            </a:r>
          </a:p>
        </p:txBody>
      </p:sp>
      <p:sp>
        <p:nvSpPr>
          <p:cNvPr name="TextBox 68" id="68"/>
          <p:cNvSpPr txBox="true"/>
          <p:nvPr/>
        </p:nvSpPr>
        <p:spPr>
          <a:xfrm rot="0">
            <a:off x="15688069" y="4110459"/>
            <a:ext cx="1646411"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Authorizer</a:t>
            </a:r>
          </a:p>
        </p:txBody>
      </p:sp>
      <p:sp>
        <p:nvSpPr>
          <p:cNvPr name="Freeform 69" id="69"/>
          <p:cNvSpPr/>
          <p:nvPr/>
        </p:nvSpPr>
        <p:spPr>
          <a:xfrm flipH="false" flipV="false" rot="0">
            <a:off x="12697622" y="8259172"/>
            <a:ext cx="1289168" cy="1115130"/>
          </a:xfrm>
          <a:custGeom>
            <a:avLst/>
            <a:gdLst/>
            <a:ahLst/>
            <a:cxnLst/>
            <a:rect r="r" b="b" t="t" l="l"/>
            <a:pathLst>
              <a:path h="1115130" w="1289168">
                <a:moveTo>
                  <a:pt x="0" y="0"/>
                </a:moveTo>
                <a:lnTo>
                  <a:pt x="1289168" y="0"/>
                </a:lnTo>
                <a:lnTo>
                  <a:pt x="1289168" y="1115130"/>
                </a:lnTo>
                <a:lnTo>
                  <a:pt x="0" y="1115130"/>
                </a:lnTo>
                <a:lnTo>
                  <a:pt x="0" y="0"/>
                </a:lnTo>
                <a:close/>
              </a:path>
            </a:pathLst>
          </a:custGeom>
          <a:blipFill>
            <a:blip r:embed="rId8"/>
            <a:stretch>
              <a:fillRect l="0" t="0" r="0" b="0"/>
            </a:stretch>
          </a:blipFill>
        </p:spPr>
      </p:sp>
      <p:sp>
        <p:nvSpPr>
          <p:cNvPr name="Freeform 70" id="70"/>
          <p:cNvSpPr/>
          <p:nvPr/>
        </p:nvSpPr>
        <p:spPr>
          <a:xfrm flipH="false" flipV="false" rot="0">
            <a:off x="15862536" y="8338305"/>
            <a:ext cx="1331289" cy="956864"/>
          </a:xfrm>
          <a:custGeom>
            <a:avLst/>
            <a:gdLst/>
            <a:ahLst/>
            <a:cxnLst/>
            <a:rect r="r" b="b" t="t" l="l"/>
            <a:pathLst>
              <a:path h="956864" w="1331289">
                <a:moveTo>
                  <a:pt x="0" y="0"/>
                </a:moveTo>
                <a:lnTo>
                  <a:pt x="1331289" y="0"/>
                </a:lnTo>
                <a:lnTo>
                  <a:pt x="1331289" y="956864"/>
                </a:lnTo>
                <a:lnTo>
                  <a:pt x="0" y="956864"/>
                </a:lnTo>
                <a:lnTo>
                  <a:pt x="0" y="0"/>
                </a:lnTo>
                <a:close/>
              </a:path>
            </a:pathLst>
          </a:custGeom>
          <a:blipFill>
            <a:blip r:embed="rId6"/>
            <a:stretch>
              <a:fillRect l="0" t="0" r="0" b="0"/>
            </a:stretch>
          </a:blipFill>
        </p:spPr>
      </p:sp>
      <p:sp>
        <p:nvSpPr>
          <p:cNvPr name="TextBox 71" id="71"/>
          <p:cNvSpPr txBox="true"/>
          <p:nvPr/>
        </p:nvSpPr>
        <p:spPr>
          <a:xfrm rot="0">
            <a:off x="12759822" y="7798797"/>
            <a:ext cx="1205136"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Kitchen</a:t>
            </a:r>
          </a:p>
        </p:txBody>
      </p:sp>
      <p:sp>
        <p:nvSpPr>
          <p:cNvPr name="TextBox 72" id="72"/>
          <p:cNvSpPr txBox="true"/>
          <p:nvPr/>
        </p:nvSpPr>
        <p:spPr>
          <a:xfrm rot="0">
            <a:off x="16204577" y="7851301"/>
            <a:ext cx="613395" cy="422275"/>
          </a:xfrm>
          <a:prstGeom prst="rect">
            <a:avLst/>
          </a:prstGeom>
        </p:spPr>
        <p:txBody>
          <a:bodyPr anchor="t" rtlCol="false" tIns="0" lIns="0" bIns="0" rIns="0">
            <a:spAutoFit/>
          </a:bodyPr>
          <a:lstStyle/>
          <a:p>
            <a:pPr algn="ctr">
              <a:lnSpc>
                <a:spcPts val="3500"/>
              </a:lnSpc>
              <a:spcBef>
                <a:spcPct val="0"/>
              </a:spcBef>
            </a:pPr>
            <a:r>
              <a:rPr lang="en-US" b="true" sz="2500" spc="-92">
                <a:solidFill>
                  <a:srgbClr val="000000"/>
                </a:solidFill>
                <a:latin typeface="Montserrat Bold"/>
                <a:ea typeface="Montserrat Bold"/>
                <a:cs typeface="Montserrat Bold"/>
                <a:sym typeface="Montserrat Bold"/>
              </a:rPr>
              <a:t>BFF</a:t>
            </a:r>
          </a:p>
        </p:txBody>
      </p:sp>
      <p:sp>
        <p:nvSpPr>
          <p:cNvPr name="AutoShape 73" id="73"/>
          <p:cNvSpPr/>
          <p:nvPr/>
        </p:nvSpPr>
        <p:spPr>
          <a:xfrm>
            <a:off x="13986790" y="8816737"/>
            <a:ext cx="1875747" cy="0"/>
          </a:xfrm>
          <a:prstGeom prst="line">
            <a:avLst/>
          </a:prstGeom>
          <a:ln cap="flat" w="38100">
            <a:solidFill>
              <a:srgbClr val="000000"/>
            </a:solidFill>
            <a:prstDash val="solid"/>
            <a:headEnd type="none" len="sm" w="sm"/>
            <a:tailEnd type="triangle" len="med" w="lg"/>
          </a:ln>
        </p:spPr>
      </p:sp>
      <p:sp>
        <p:nvSpPr>
          <p:cNvPr name="TextBox 74" id="74"/>
          <p:cNvSpPr txBox="true"/>
          <p:nvPr/>
        </p:nvSpPr>
        <p:spPr>
          <a:xfrm rot="0">
            <a:off x="14555798" y="2754358"/>
            <a:ext cx="523803" cy="339725"/>
          </a:xfrm>
          <a:prstGeom prst="rect">
            <a:avLst/>
          </a:prstGeom>
        </p:spPr>
        <p:txBody>
          <a:bodyPr anchor="t" rtlCol="false" tIns="0" lIns="0" bIns="0" rIns="0">
            <a:spAutoFit/>
          </a:bodyPr>
          <a:lstStyle/>
          <a:p>
            <a:pPr algn="ctr">
              <a:lnSpc>
                <a:spcPts val="2800"/>
              </a:lnSpc>
              <a:spcBef>
                <a:spcPct val="0"/>
              </a:spcBef>
            </a:pPr>
            <a:r>
              <a:rPr lang="en-US" b="true" sz="2000" spc="-74">
                <a:solidFill>
                  <a:srgbClr val="000000"/>
                </a:solidFill>
                <a:latin typeface="Montserrat Bold"/>
                <a:ea typeface="Montserrat Bold"/>
                <a:cs typeface="Montserrat Bold"/>
                <a:sym typeface="Montserrat Bold"/>
              </a:rPr>
              <a:t>TCP</a:t>
            </a:r>
          </a:p>
        </p:txBody>
      </p:sp>
      <p:sp>
        <p:nvSpPr>
          <p:cNvPr name="TextBox 75" id="75"/>
          <p:cNvSpPr txBox="true"/>
          <p:nvPr/>
        </p:nvSpPr>
        <p:spPr>
          <a:xfrm rot="0">
            <a:off x="14375694" y="4548920"/>
            <a:ext cx="1049024" cy="339725"/>
          </a:xfrm>
          <a:prstGeom prst="rect">
            <a:avLst/>
          </a:prstGeom>
        </p:spPr>
        <p:txBody>
          <a:bodyPr anchor="t" rtlCol="false" tIns="0" lIns="0" bIns="0" rIns="0">
            <a:spAutoFit/>
          </a:bodyPr>
          <a:lstStyle/>
          <a:p>
            <a:pPr algn="ctr">
              <a:lnSpc>
                <a:spcPts val="2800"/>
              </a:lnSpc>
              <a:spcBef>
                <a:spcPct val="0"/>
              </a:spcBef>
            </a:pPr>
            <a:r>
              <a:rPr lang="en-US" b="true" sz="2000" spc="-74">
                <a:solidFill>
                  <a:srgbClr val="000000"/>
                </a:solidFill>
                <a:latin typeface="Montserrat Bold"/>
                <a:ea typeface="Montserrat Bold"/>
                <a:cs typeface="Montserrat Bold"/>
                <a:sym typeface="Montserrat Bold"/>
              </a:rPr>
              <a:t>gRPC</a:t>
            </a:r>
          </a:p>
        </p:txBody>
      </p:sp>
      <p:sp>
        <p:nvSpPr>
          <p:cNvPr name="TextBox 76" id="76"/>
          <p:cNvSpPr txBox="true"/>
          <p:nvPr/>
        </p:nvSpPr>
        <p:spPr>
          <a:xfrm rot="0">
            <a:off x="13964957" y="6480730"/>
            <a:ext cx="1780552" cy="339725"/>
          </a:xfrm>
          <a:prstGeom prst="rect">
            <a:avLst/>
          </a:prstGeom>
        </p:spPr>
        <p:txBody>
          <a:bodyPr anchor="t" rtlCol="false" tIns="0" lIns="0" bIns="0" rIns="0">
            <a:spAutoFit/>
          </a:bodyPr>
          <a:lstStyle/>
          <a:p>
            <a:pPr algn="ctr">
              <a:lnSpc>
                <a:spcPts val="2800"/>
              </a:lnSpc>
              <a:spcBef>
                <a:spcPct val="0"/>
              </a:spcBef>
            </a:pPr>
            <a:r>
              <a:rPr lang="en-US" b="true" sz="2000" spc="-74">
                <a:solidFill>
                  <a:srgbClr val="000000"/>
                </a:solidFill>
                <a:latin typeface="Montserrat Bold"/>
                <a:ea typeface="Montserrat Bold"/>
                <a:cs typeface="Montserrat Bold"/>
                <a:sym typeface="Montserrat Bold"/>
              </a:rPr>
              <a:t>Kafka</a:t>
            </a:r>
          </a:p>
        </p:txBody>
      </p:sp>
      <p:sp>
        <p:nvSpPr>
          <p:cNvPr name="TextBox 77" id="77"/>
          <p:cNvSpPr txBox="true"/>
          <p:nvPr/>
        </p:nvSpPr>
        <p:spPr>
          <a:xfrm rot="0">
            <a:off x="14034360" y="8375176"/>
            <a:ext cx="1780552" cy="339725"/>
          </a:xfrm>
          <a:prstGeom prst="rect">
            <a:avLst/>
          </a:prstGeom>
        </p:spPr>
        <p:txBody>
          <a:bodyPr anchor="t" rtlCol="false" tIns="0" lIns="0" bIns="0" rIns="0">
            <a:spAutoFit/>
          </a:bodyPr>
          <a:lstStyle/>
          <a:p>
            <a:pPr algn="ctr">
              <a:lnSpc>
                <a:spcPts val="2800"/>
              </a:lnSpc>
              <a:spcBef>
                <a:spcPct val="0"/>
              </a:spcBef>
            </a:pPr>
            <a:r>
              <a:rPr lang="en-US" b="true" sz="2000" spc="-74">
                <a:solidFill>
                  <a:srgbClr val="000000"/>
                </a:solidFill>
                <a:latin typeface="Montserrat Bold"/>
                <a:ea typeface="Montserrat Bold"/>
                <a:cs typeface="Montserrat Bold"/>
                <a:sym typeface="Montserrat Bold"/>
              </a:rPr>
              <a:t>Websocket + </a:t>
            </a:r>
          </a:p>
        </p:txBody>
      </p:sp>
      <p:sp>
        <p:nvSpPr>
          <p:cNvPr name="TextBox 78" id="78"/>
          <p:cNvSpPr txBox="true"/>
          <p:nvPr/>
        </p:nvSpPr>
        <p:spPr>
          <a:xfrm rot="0">
            <a:off x="14009930" y="8854836"/>
            <a:ext cx="1991662" cy="339725"/>
          </a:xfrm>
          <a:prstGeom prst="rect">
            <a:avLst/>
          </a:prstGeom>
        </p:spPr>
        <p:txBody>
          <a:bodyPr anchor="t" rtlCol="false" tIns="0" lIns="0" bIns="0" rIns="0">
            <a:spAutoFit/>
          </a:bodyPr>
          <a:lstStyle/>
          <a:p>
            <a:pPr algn="ctr">
              <a:lnSpc>
                <a:spcPts val="2800"/>
              </a:lnSpc>
              <a:spcBef>
                <a:spcPct val="0"/>
              </a:spcBef>
            </a:pPr>
            <a:r>
              <a:rPr lang="en-US" b="true" sz="2000" spc="-74">
                <a:solidFill>
                  <a:srgbClr val="000000"/>
                </a:solidFill>
                <a:latin typeface="Montserrat Bold"/>
                <a:ea typeface="Montserrat Bold"/>
                <a:cs typeface="Montserrat Bold"/>
                <a:sym typeface="Montserrat Bold"/>
              </a:rPr>
              <a:t>Redis Pub/Sub</a:t>
            </a:r>
          </a:p>
        </p:txBody>
      </p:sp>
      <p:sp>
        <p:nvSpPr>
          <p:cNvPr name="Freeform 79" id="79"/>
          <p:cNvSpPr/>
          <p:nvPr/>
        </p:nvSpPr>
        <p:spPr>
          <a:xfrm flipH="false" flipV="false" rot="-401527">
            <a:off x="15631647" y="-395092"/>
            <a:ext cx="3124356" cy="1999588"/>
          </a:xfrm>
          <a:custGeom>
            <a:avLst/>
            <a:gdLst/>
            <a:ahLst/>
            <a:cxnLst/>
            <a:rect r="r" b="b" t="t" l="l"/>
            <a:pathLst>
              <a:path h="1999588" w="3124356">
                <a:moveTo>
                  <a:pt x="0" y="0"/>
                </a:moveTo>
                <a:lnTo>
                  <a:pt x="3124356" y="0"/>
                </a:lnTo>
                <a:lnTo>
                  <a:pt x="3124356" y="1999587"/>
                </a:lnTo>
                <a:lnTo>
                  <a:pt x="0" y="19995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7"/>
            <a:stretch>
              <a:fillRect l="0" t="0" r="0" b="0"/>
            </a:stretch>
          </a:blipFill>
        </p:spPr>
      </p:sp>
      <p:sp>
        <p:nvSpPr>
          <p:cNvPr name="Freeform 5" id="5"/>
          <p:cNvSpPr/>
          <p:nvPr/>
        </p:nvSpPr>
        <p:spPr>
          <a:xfrm flipH="false" flipV="false" rot="-762504">
            <a:off x="17575259" y="5583356"/>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8"/>
            <a:stretch>
              <a:fillRect l="0" t="0" r="0" b="0"/>
            </a:stretch>
          </a:blipFill>
        </p:spPr>
      </p:sp>
      <p:sp>
        <p:nvSpPr>
          <p:cNvPr name="Freeform 6" id="6"/>
          <p:cNvSpPr/>
          <p:nvPr/>
        </p:nvSpPr>
        <p:spPr>
          <a:xfrm flipH="false" flipV="false" rot="0">
            <a:off x="1502507" y="2419164"/>
            <a:ext cx="15282986" cy="6839136"/>
          </a:xfrm>
          <a:custGeom>
            <a:avLst/>
            <a:gdLst/>
            <a:ahLst/>
            <a:cxnLst/>
            <a:rect r="r" b="b" t="t" l="l"/>
            <a:pathLst>
              <a:path h="6839136" w="15282986">
                <a:moveTo>
                  <a:pt x="0" y="0"/>
                </a:moveTo>
                <a:lnTo>
                  <a:pt x="15282986" y="0"/>
                </a:lnTo>
                <a:lnTo>
                  <a:pt x="15282986" y="6839136"/>
                </a:lnTo>
                <a:lnTo>
                  <a:pt x="0" y="6839136"/>
                </a:lnTo>
                <a:lnTo>
                  <a:pt x="0" y="0"/>
                </a:lnTo>
                <a:close/>
              </a:path>
            </a:pathLst>
          </a:custGeom>
          <a:blipFill>
            <a:blip r:embed="rId9"/>
            <a:stretch>
              <a:fillRect l="0" t="0" r="0" b="0"/>
            </a:stretch>
          </a:blipFill>
        </p:spPr>
      </p:sp>
      <p:sp>
        <p:nvSpPr>
          <p:cNvPr name="TextBox 7" id="7"/>
          <p:cNvSpPr txBox="true"/>
          <p:nvPr/>
        </p:nvSpPr>
        <p:spPr>
          <a:xfrm rot="0">
            <a:off x="333018" y="9669403"/>
            <a:ext cx="1682265"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16</a:t>
            </a:r>
          </a:p>
        </p:txBody>
      </p:sp>
      <p:sp>
        <p:nvSpPr>
          <p:cNvPr name="TextBox 8" id="8"/>
          <p:cNvSpPr txBox="true"/>
          <p:nvPr/>
        </p:nvSpPr>
        <p:spPr>
          <a:xfrm rot="0">
            <a:off x="1028700" y="1265381"/>
            <a:ext cx="14900842"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MÔ HÌNH GIAO TIẾP GIỮA</a:t>
            </a:r>
            <a:r>
              <a:rPr lang="en-US" b="true" sz="3999" spc="-147" strike="noStrike" u="none">
                <a:solidFill>
                  <a:srgbClr val="000101"/>
                </a:solidFill>
                <a:latin typeface="Montserrat Ultra-Bold"/>
                <a:ea typeface="Montserrat Ultra-Bold"/>
                <a:cs typeface="Montserrat Ultra-Bold"/>
                <a:sym typeface="Montserrat Ultra-Bold"/>
              </a:rPr>
              <a:t> CÁC SERVICE VÀ ỨNG DỤNG</a:t>
            </a:r>
          </a:p>
        </p:txBody>
      </p:sp>
      <p:sp>
        <p:nvSpPr>
          <p:cNvPr name="TextBox 9" id="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grpSp>
        <p:nvGrpSpPr>
          <p:cNvPr name="Group 10" id="10"/>
          <p:cNvGrpSpPr/>
          <p:nvPr/>
        </p:nvGrpSpPr>
        <p:grpSpPr>
          <a:xfrm rot="-131315">
            <a:off x="1031270" y="9695400"/>
            <a:ext cx="6007888" cy="346177"/>
            <a:chOff x="0" y="0"/>
            <a:chExt cx="5075683" cy="292463"/>
          </a:xfrm>
        </p:grpSpPr>
        <p:sp>
          <p:nvSpPr>
            <p:cNvPr name="Freeform 11" id="11"/>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12" id="12"/>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3" id="13"/>
          <p:cNvGrpSpPr/>
          <p:nvPr/>
        </p:nvGrpSpPr>
        <p:grpSpPr>
          <a:xfrm rot="-131315">
            <a:off x="932267" y="9664429"/>
            <a:ext cx="6007888" cy="346177"/>
            <a:chOff x="0" y="0"/>
            <a:chExt cx="5075683" cy="292463"/>
          </a:xfrm>
        </p:grpSpPr>
        <p:sp>
          <p:nvSpPr>
            <p:cNvPr name="Freeform 14" id="14"/>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15" id="15"/>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401527">
            <a:off x="15631647" y="-395092"/>
            <a:ext cx="3124356" cy="1999588"/>
          </a:xfrm>
          <a:custGeom>
            <a:avLst/>
            <a:gdLst/>
            <a:ahLst/>
            <a:cxnLst/>
            <a:rect r="r" b="b" t="t" l="l"/>
            <a:pathLst>
              <a:path h="1999588" w="3124356">
                <a:moveTo>
                  <a:pt x="0" y="0"/>
                </a:moveTo>
                <a:lnTo>
                  <a:pt x="3124356" y="0"/>
                </a:lnTo>
                <a:lnTo>
                  <a:pt x="3124356" y="1999587"/>
                </a:lnTo>
                <a:lnTo>
                  <a:pt x="0" y="19995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NHẤT QUÁN DỮ LIỆU PHÂN TÁN TRÊN NHIỀU LOCAL TRANSACTION</a:t>
            </a:r>
          </a:p>
        </p:txBody>
      </p:sp>
      <p:sp>
        <p:nvSpPr>
          <p:cNvPr name="TextBox 5" id="5"/>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6" id="6"/>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17</a:t>
            </a:r>
          </a:p>
        </p:txBody>
      </p:sp>
      <p:graphicFrame>
        <p:nvGraphicFramePr>
          <p:cNvPr name="Table 7" id="7"/>
          <p:cNvGraphicFramePr>
            <a:graphicFrameLocks noGrp="true"/>
          </p:cNvGraphicFramePr>
          <p:nvPr/>
        </p:nvGraphicFramePr>
        <p:xfrm>
          <a:off x="1003151" y="3169922"/>
          <a:ext cx="5895203" cy="2347051"/>
        </p:xfrm>
        <a:graphic>
          <a:graphicData uri="http://schemas.openxmlformats.org/drawingml/2006/table">
            <a:tbl>
              <a:tblPr/>
              <a:tblGrid>
                <a:gridCol w="2982346"/>
              </a:tblGrid>
              <a:tr h="54220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Một giao dịch cục bộ (1 Database)</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900442">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Cùng ghi nhận hoặc cùng hoàn tác các thay đổi.</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4407">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ACID bảo vệ giao dịch cục bộ.</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aphicFrame>
        <p:nvGraphicFramePr>
          <p:cNvPr name="Table 8" id="8"/>
          <p:cNvGraphicFramePr>
            <a:graphicFrameLocks noGrp="true"/>
          </p:cNvGraphicFramePr>
          <p:nvPr/>
        </p:nvGraphicFramePr>
        <p:xfrm>
          <a:off x="1003151" y="5999181"/>
          <a:ext cx="5895203" cy="2884305"/>
        </p:xfrm>
        <a:graphic>
          <a:graphicData uri="http://schemas.openxmlformats.org/drawingml/2006/table">
            <a:tbl>
              <a:tblPr/>
              <a:tblGrid>
                <a:gridCol w="2982346"/>
              </a:tblGrid>
              <a:tr h="540540">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Nhiều giao dịch cục bộ (N database)</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540540">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Mỗi dịch vụ ghi nhận thay đổi riêng.</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05542">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Có thể xảy ra lỗi từng phần hoặc xử lý lặp.</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7683">
                <a:tc>
                  <a:txBody>
                    <a:bodyPr anchor="t" rtlCol="false"/>
                    <a:lstStyle/>
                    <a:p>
                      <a:pPr algn="l">
                        <a:lnSpc>
                          <a:spcPts val="2800"/>
                        </a:lnSpc>
                        <a:defRPr/>
                      </a:pPr>
                      <a:r>
                        <a:rPr lang="en-US" sz="2000" b="true">
                          <a:solidFill>
                            <a:srgbClr val="000000"/>
                          </a:solidFill>
                          <a:latin typeface="Montserrat Bold"/>
                          <a:ea typeface="Montserrat Bold"/>
                          <a:cs typeface="Montserrat Bold"/>
                          <a:sym typeface="Montserrat Bold"/>
                        </a:rPr>
                        <a:t>Trạng thái giữa các dịch vụ có thể tạm thời chưa đồng bộ.</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9" id="9"/>
          <p:cNvSpPr/>
          <p:nvPr/>
        </p:nvSpPr>
        <p:spPr>
          <a:xfrm flipH="false" flipV="false" rot="0">
            <a:off x="8723582" y="3169922"/>
            <a:ext cx="8470243" cy="5713564"/>
          </a:xfrm>
          <a:custGeom>
            <a:avLst/>
            <a:gdLst/>
            <a:ahLst/>
            <a:cxnLst/>
            <a:rect r="r" b="b" t="t" l="l"/>
            <a:pathLst>
              <a:path h="5713564" w="8470243">
                <a:moveTo>
                  <a:pt x="0" y="0"/>
                </a:moveTo>
                <a:lnTo>
                  <a:pt x="8470243" y="0"/>
                </a:lnTo>
                <a:lnTo>
                  <a:pt x="8470243" y="5713564"/>
                </a:lnTo>
                <a:lnTo>
                  <a:pt x="0" y="57135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0" id="10"/>
          <p:cNvSpPr txBox="true"/>
          <p:nvPr/>
        </p:nvSpPr>
        <p:spPr>
          <a:xfrm rot="0">
            <a:off x="8875944" y="4245167"/>
            <a:ext cx="7843261" cy="3967631"/>
          </a:xfrm>
          <a:prstGeom prst="rect">
            <a:avLst/>
          </a:prstGeom>
        </p:spPr>
        <p:txBody>
          <a:bodyPr anchor="t" rtlCol="false" tIns="0" lIns="0" bIns="0" rIns="0">
            <a:spAutoFit/>
          </a:bodyPr>
          <a:lstStyle/>
          <a:p>
            <a:pPr algn="just" marL="441309" indent="-220654" lvl="1">
              <a:lnSpc>
                <a:spcPts val="2861"/>
              </a:lnSpc>
              <a:buFont typeface="Arial"/>
              <a:buChar char="•"/>
            </a:pPr>
            <a:r>
              <a:rPr lang="en-US" b="true" sz="2044" spc="-75">
                <a:solidFill>
                  <a:srgbClr val="000101"/>
                </a:solidFill>
                <a:latin typeface="Montserrat Bold"/>
                <a:ea typeface="Montserrat Bold"/>
                <a:cs typeface="Montserrat Bold"/>
                <a:sym typeface="Montserrat Bold"/>
              </a:rPr>
              <a:t>Tính lũy đẳng (idempotenc</a:t>
            </a:r>
            <a:r>
              <a:rPr lang="en-US" b="true" sz="2044" spc="-75">
                <a:solidFill>
                  <a:srgbClr val="000101"/>
                </a:solidFill>
                <a:latin typeface="Montserrat Bold"/>
                <a:ea typeface="Montserrat Bold"/>
                <a:cs typeface="Montserrat Bold"/>
                <a:sym typeface="Montserrat Bold"/>
              </a:rPr>
              <a:t>y) – </a:t>
            </a:r>
            <a:r>
              <a:rPr lang="en-US" b="true" sz="2044" spc="-75">
                <a:solidFill>
                  <a:srgbClr val="FFFFFF"/>
                </a:solidFill>
                <a:latin typeface="Montserrat Bold"/>
                <a:ea typeface="Montserrat Bold"/>
                <a:cs typeface="Montserrat Bold"/>
                <a:sym typeface="Montserrat Bold"/>
              </a:rPr>
              <a:t>thuộc tính hành vi</a:t>
            </a:r>
            <a:r>
              <a:rPr lang="en-US" b="true" sz="2044" spc="-75">
                <a:solidFill>
                  <a:srgbClr val="000101"/>
                </a:solidFill>
                <a:latin typeface="Montserrat Bold"/>
                <a:ea typeface="Montserrat Bold"/>
                <a:cs typeface="Montserrat Bold"/>
                <a:sym typeface="Montserrat Bold"/>
              </a:rPr>
              <a:t>: thực hiện lại cùng một thao tác không tạo thêm kết quả nghiệp vụ ngoài ý muốn.</a:t>
            </a:r>
          </a:p>
          <a:p>
            <a:pPr algn="just">
              <a:lnSpc>
                <a:spcPts val="2861"/>
              </a:lnSpc>
            </a:pPr>
          </a:p>
          <a:p>
            <a:pPr algn="just" marL="441309" indent="-220654" lvl="1">
              <a:lnSpc>
                <a:spcPts val="2861"/>
              </a:lnSpc>
              <a:buFont typeface="Arial"/>
              <a:buChar char="•"/>
            </a:pPr>
            <a:r>
              <a:rPr lang="en-US" b="true" sz="2044" spc="-75">
                <a:solidFill>
                  <a:srgbClr val="000101"/>
                </a:solidFill>
                <a:latin typeface="Montserrat Bold"/>
                <a:ea typeface="Montserrat Bold"/>
                <a:cs typeface="Montserrat Bold"/>
                <a:sym typeface="Montserrat Bold"/>
              </a:rPr>
              <a:t>Outbox giao dịch (transactional o</a:t>
            </a:r>
            <a:r>
              <a:rPr lang="en-US" b="true" sz="2044" spc="-75">
                <a:solidFill>
                  <a:srgbClr val="000101"/>
                </a:solidFill>
                <a:latin typeface="Montserrat Bold"/>
                <a:ea typeface="Montserrat Bold"/>
                <a:cs typeface="Montserrat Bold"/>
                <a:sym typeface="Montserrat Bold"/>
              </a:rPr>
              <a:t>utbox) - </a:t>
            </a:r>
            <a:r>
              <a:rPr lang="en-US" b="true" sz="2044" spc="-75">
                <a:solidFill>
                  <a:srgbClr val="FFFFFF"/>
                </a:solidFill>
                <a:latin typeface="Montserrat Bold"/>
                <a:ea typeface="Montserrat Bold"/>
                <a:cs typeface="Montserrat Bold"/>
                <a:sym typeface="Montserrat Bold"/>
              </a:rPr>
              <a:t>mẫu thiết kế</a:t>
            </a:r>
            <a:r>
              <a:rPr lang="en-US" b="true" sz="2044" spc="-75">
                <a:solidFill>
                  <a:srgbClr val="000101"/>
                </a:solidFill>
                <a:latin typeface="Montserrat Bold"/>
                <a:ea typeface="Montserrat Bold"/>
                <a:cs typeface="Montserrat Bold"/>
                <a:sym typeface="Montserrat Bold"/>
              </a:rPr>
              <a:t>: trạng thái nghiệp vụ và ý định phát sự kiện được ghi trong cùng một giao dịch cục bộ.</a:t>
            </a:r>
          </a:p>
          <a:p>
            <a:pPr algn="just">
              <a:lnSpc>
                <a:spcPts val="2861"/>
              </a:lnSpc>
            </a:pPr>
          </a:p>
          <a:p>
            <a:pPr algn="just" marL="441309" indent="-220654" lvl="1">
              <a:lnSpc>
                <a:spcPts val="2861"/>
              </a:lnSpc>
              <a:buFont typeface="Arial"/>
              <a:buChar char="•"/>
            </a:pPr>
            <a:r>
              <a:rPr lang="en-US" b="true" sz="2044" spc="-75">
                <a:solidFill>
                  <a:srgbClr val="000101"/>
                </a:solidFill>
                <a:latin typeface="Montserrat Bold"/>
                <a:ea typeface="Montserrat Bold"/>
                <a:cs typeface="Montserrat Bold"/>
                <a:sym typeface="Montserrat Bold"/>
              </a:rPr>
              <a:t>Khử trùng lặp (deduplication) - </a:t>
            </a:r>
            <a:r>
              <a:rPr lang="en-US" b="true" sz="2044" spc="-75">
                <a:solidFill>
                  <a:srgbClr val="FFFFFF"/>
                </a:solidFill>
                <a:latin typeface="Montserrat Bold"/>
                <a:ea typeface="Montserrat Bold"/>
                <a:cs typeface="Montserrat Bold"/>
                <a:sym typeface="Montserrat Bold"/>
              </a:rPr>
              <a:t>kỹ thuật phía nhận</a:t>
            </a:r>
            <a:r>
              <a:rPr lang="en-US" b="true" sz="2044" spc="-75">
                <a:solidFill>
                  <a:srgbClr val="000101"/>
                </a:solidFill>
                <a:latin typeface="Montserrat Bold"/>
                <a:ea typeface="Montserrat Bold"/>
                <a:cs typeface="Montserrat Bold"/>
                <a:sym typeface="Montserrat Bold"/>
              </a:rPr>
              <a:t>: bên nhận phát hiện và bỏ qua lệnh hoặc sự kiện đã được xử lý.</a:t>
            </a:r>
          </a:p>
          <a:p>
            <a:pPr algn="just">
              <a:lnSpc>
                <a:spcPts val="2861"/>
              </a:lnSpc>
            </a:pPr>
          </a:p>
        </p:txBody>
      </p:sp>
      <p:sp>
        <p:nvSpPr>
          <p:cNvPr name="TextBox 11" id="11"/>
          <p:cNvSpPr txBox="true"/>
          <p:nvPr/>
        </p:nvSpPr>
        <p:spPr>
          <a:xfrm rot="0">
            <a:off x="11176471" y="3277934"/>
            <a:ext cx="3564465" cy="412750"/>
          </a:xfrm>
          <a:prstGeom prst="rect">
            <a:avLst/>
          </a:prstGeom>
        </p:spPr>
        <p:txBody>
          <a:bodyPr anchor="t" rtlCol="false" tIns="0" lIns="0" bIns="0" rIns="0">
            <a:spAutoFit/>
          </a:bodyPr>
          <a:lstStyle/>
          <a:p>
            <a:pPr algn="l">
              <a:lnSpc>
                <a:spcPts val="3499"/>
              </a:lnSpc>
            </a:pPr>
            <a:r>
              <a:rPr lang="en-US" b="true" sz="2499" spc="-92">
                <a:solidFill>
                  <a:srgbClr val="000101"/>
                </a:solidFill>
                <a:latin typeface="Montserrat Bold"/>
                <a:ea typeface="Montserrat Bold"/>
                <a:cs typeface="Montserrat Bold"/>
                <a:sym typeface="Montserrat Bold"/>
              </a:rPr>
              <a:t>BA CƠ</a:t>
            </a:r>
            <a:r>
              <a:rPr lang="en-US" b="true" sz="2499" spc="-92">
                <a:solidFill>
                  <a:srgbClr val="000101"/>
                </a:solidFill>
                <a:latin typeface="Montserrat Bold"/>
                <a:ea typeface="Montserrat Bold"/>
                <a:cs typeface="Montserrat Bold"/>
                <a:sym typeface="Montserrat Bold"/>
              </a:rPr>
              <a:t> CHẾ NỀN TẢNG</a:t>
            </a:r>
          </a:p>
        </p:txBody>
      </p:sp>
      <p:sp>
        <p:nvSpPr>
          <p:cNvPr name="Freeform 12" id="12"/>
          <p:cNvSpPr/>
          <p:nvPr/>
        </p:nvSpPr>
        <p:spPr>
          <a:xfrm flipH="false" flipV="false" rot="-762504">
            <a:off x="13962122" y="8572062"/>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8"/>
            <a:stretch>
              <a:fillRect l="0" t="0" r="0" b="0"/>
            </a:stretch>
          </a:blipFill>
        </p:spPr>
      </p:sp>
      <p:sp>
        <p:nvSpPr>
          <p:cNvPr name="Freeform 13" id="13"/>
          <p:cNvSpPr/>
          <p:nvPr/>
        </p:nvSpPr>
        <p:spPr>
          <a:xfrm flipH="false" flipV="false" rot="-666000">
            <a:off x="16074670" y="8905755"/>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9"/>
            <a:stretch>
              <a:fillRect l="-209" t="0" r="-209" b="0"/>
            </a:stretch>
          </a:blipFill>
        </p:spPr>
      </p:sp>
      <p:grpSp>
        <p:nvGrpSpPr>
          <p:cNvPr name="Group 14" id="14"/>
          <p:cNvGrpSpPr/>
          <p:nvPr/>
        </p:nvGrpSpPr>
        <p:grpSpPr>
          <a:xfrm rot="-131315">
            <a:off x="1031270" y="9695400"/>
            <a:ext cx="6007888" cy="346177"/>
            <a:chOff x="0" y="0"/>
            <a:chExt cx="5075683" cy="292463"/>
          </a:xfrm>
        </p:grpSpPr>
        <p:sp>
          <p:nvSpPr>
            <p:cNvPr name="Freeform 15" id="15"/>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16" id="16"/>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7" id="17"/>
          <p:cNvGrpSpPr/>
          <p:nvPr/>
        </p:nvGrpSpPr>
        <p:grpSpPr>
          <a:xfrm rot="-131315">
            <a:off x="932267" y="9664429"/>
            <a:ext cx="6007888" cy="346177"/>
            <a:chOff x="0" y="0"/>
            <a:chExt cx="5075683" cy="292463"/>
          </a:xfrm>
        </p:grpSpPr>
        <p:sp>
          <p:nvSpPr>
            <p:cNvPr name="Freeform 18" id="18"/>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19" id="19"/>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6081959" y="8639580"/>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graphicFrame>
        <p:nvGraphicFramePr>
          <p:cNvPr name="Table 4" id="4"/>
          <p:cNvGraphicFramePr>
            <a:graphicFrameLocks noGrp="true"/>
          </p:cNvGraphicFramePr>
          <p:nvPr/>
        </p:nvGraphicFramePr>
        <p:xfrm>
          <a:off x="976371" y="2845116"/>
          <a:ext cx="16682979" cy="5581982"/>
        </p:xfrm>
        <a:graphic>
          <a:graphicData uri="http://schemas.openxmlformats.org/drawingml/2006/table">
            <a:tbl>
              <a:tblPr/>
              <a:tblGrid>
                <a:gridCol w="3155984"/>
                <a:gridCol w="6262817"/>
                <a:gridCol w="7264178"/>
              </a:tblGrid>
              <a:tr h="632970">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Luồng</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Rủi ro</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Giải pháp áp dụng &amp; Điểm giới hạn</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98781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Giỏ món dùng chung</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Cập nhật trên phiên bản đã cũ</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cartVersion hỗ trợ kiểm soát truy cập đồng thời lạc quan (optimistic concurrency control)</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9774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Gửi đơn</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Tạo lặp đơn hàng hoặc hóa đơn</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Khóa lũy đẳng (Idempotency key) nhận diện cùng một lần gửi</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781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KDS</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Xử lý lại cùng một event hoặc command</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Khử trùng lặp (Deduplication) ngăn tạo phiếu hoặc cập nhật lặp</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781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Thanh toán</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Bản ghi thanh toán, nhật ký audit, cấu hình thanh toán, outbox</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Khóa cấp dòng (Row-level locking), kiểm tra trạng thái và Outbox giao dịch (Transactional Outbox)</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781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Xác nhận đơn</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Mất phản hồi sau Catalog commit; Order commit thất bại</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Giữ chỗ bền vững (Persistent reservation) chống trừ lặp; </a:t>
                      </a:r>
                      <a:r>
                        <a:rPr lang="en-US" sz="2000" b="true">
                          <a:solidFill>
                            <a:srgbClr val="FF3131"/>
                          </a:solidFill>
                          <a:latin typeface="Montserrat Bold"/>
                          <a:ea typeface="Montserrat Bold"/>
                          <a:cs typeface="Montserrat Bold"/>
                          <a:sym typeface="Montserrat Bold"/>
                        </a:rPr>
                        <a:t>lỗi cục bộ (Partial failure) </a:t>
                      </a:r>
                      <a:r>
                        <a:rPr lang="en-US" sz="2000" b="true">
                          <a:solidFill>
                            <a:srgbClr val="000000"/>
                          </a:solidFill>
                          <a:latin typeface="Montserrat Bold"/>
                          <a:ea typeface="Montserrat Bold"/>
                          <a:cs typeface="Montserrat Bold"/>
                          <a:sym typeface="Montserrat Bold"/>
                        </a:rPr>
                        <a:t>vẫn cần phối hợp</a:t>
                      </a:r>
                      <a:endParaRPr lang="en-US" sz="1100"/>
                    </a:p>
                  </a:txBody>
                  <a:tcPr marL="95250" marR="95250" marT="95250" marB="9525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5" id="5"/>
          <p:cNvSpPr/>
          <p:nvPr/>
        </p:nvSpPr>
        <p:spPr>
          <a:xfrm flipH="false" flipV="false" rot="-762504">
            <a:off x="14161044" y="8875050"/>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5"/>
            <a:stretch>
              <a:fillRect l="0" t="0" r="0" b="0"/>
            </a:stretch>
          </a:blipFill>
        </p:spPr>
      </p:sp>
      <p:sp>
        <p:nvSpPr>
          <p:cNvPr name="TextBox 6" id="6"/>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NHẤT QUÁ</a:t>
            </a:r>
            <a:r>
              <a:rPr lang="en-US" b="true" sz="3999" spc="-147" strike="noStrike" u="none">
                <a:solidFill>
                  <a:srgbClr val="000101"/>
                </a:solidFill>
                <a:latin typeface="Montserrat Ultra-Bold"/>
                <a:ea typeface="Montserrat Ultra-Bold"/>
                <a:cs typeface="Montserrat Ultra-Bold"/>
                <a:sym typeface="Montserrat Ultra-Bold"/>
              </a:rPr>
              <a:t>N DỮ LIỆU PHÂN TÁN TRÊN NHIỀU LOCAL TRANSACTION</a:t>
            </a:r>
          </a:p>
        </p:txBody>
      </p:sp>
      <p:sp>
        <p:nvSpPr>
          <p:cNvPr name="TextBox 7" id="7"/>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8" id="8"/>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17</a:t>
            </a:r>
          </a:p>
        </p:txBody>
      </p:sp>
      <p:sp>
        <p:nvSpPr>
          <p:cNvPr name="Freeform 9" id="9"/>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131315">
            <a:off x="1031270" y="9695400"/>
            <a:ext cx="6007888" cy="346177"/>
            <a:chOff x="0" y="0"/>
            <a:chExt cx="5075683" cy="292463"/>
          </a:xfrm>
        </p:grpSpPr>
        <p:sp>
          <p:nvSpPr>
            <p:cNvPr name="Freeform 12" id="12"/>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13" id="13"/>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4" id="14"/>
          <p:cNvGrpSpPr/>
          <p:nvPr/>
        </p:nvGrpSpPr>
        <p:grpSpPr>
          <a:xfrm rot="-131315">
            <a:off x="932267" y="9664429"/>
            <a:ext cx="6007888" cy="346177"/>
            <a:chOff x="0" y="0"/>
            <a:chExt cx="5075683" cy="292463"/>
          </a:xfrm>
        </p:grpSpPr>
        <p:sp>
          <p:nvSpPr>
            <p:cNvPr name="Freeform 15" id="15"/>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16" id="16"/>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grpSp>
        <p:nvGrpSpPr>
          <p:cNvPr name="Group 3" id="3"/>
          <p:cNvGrpSpPr/>
          <p:nvPr/>
        </p:nvGrpSpPr>
        <p:grpSpPr>
          <a:xfrm rot="0">
            <a:off x="1410069" y="4560096"/>
            <a:ext cx="7301568" cy="4703491"/>
            <a:chOff x="0" y="0"/>
            <a:chExt cx="2328753" cy="1500126"/>
          </a:xfrm>
        </p:grpSpPr>
        <p:sp>
          <p:nvSpPr>
            <p:cNvPr name="Freeform 4" id="4"/>
            <p:cNvSpPr/>
            <p:nvPr/>
          </p:nvSpPr>
          <p:spPr>
            <a:xfrm flipH="false" flipV="false" rot="0">
              <a:off x="0" y="0"/>
              <a:ext cx="2328753" cy="1500126"/>
            </a:xfrm>
            <a:custGeom>
              <a:avLst/>
              <a:gdLst/>
              <a:ahLst/>
              <a:cxnLst/>
              <a:rect r="r" b="b" t="t" l="l"/>
              <a:pathLst>
                <a:path h="1500126" w="2328753">
                  <a:moveTo>
                    <a:pt x="18025" y="0"/>
                  </a:moveTo>
                  <a:lnTo>
                    <a:pt x="2310728" y="0"/>
                  </a:lnTo>
                  <a:cubicBezTo>
                    <a:pt x="2315509" y="0"/>
                    <a:pt x="2320093" y="1899"/>
                    <a:pt x="2323474" y="5279"/>
                  </a:cubicBezTo>
                  <a:cubicBezTo>
                    <a:pt x="2326854" y="8660"/>
                    <a:pt x="2328753" y="13245"/>
                    <a:pt x="2328753" y="18025"/>
                  </a:cubicBezTo>
                  <a:lnTo>
                    <a:pt x="2328753" y="1482101"/>
                  </a:lnTo>
                  <a:cubicBezTo>
                    <a:pt x="2328753" y="1486881"/>
                    <a:pt x="2326854" y="1491466"/>
                    <a:pt x="2323474" y="1494846"/>
                  </a:cubicBezTo>
                  <a:cubicBezTo>
                    <a:pt x="2320093" y="1498227"/>
                    <a:pt x="2315509" y="1500126"/>
                    <a:pt x="2310728" y="1500126"/>
                  </a:cubicBezTo>
                  <a:lnTo>
                    <a:pt x="18025" y="1500126"/>
                  </a:lnTo>
                  <a:cubicBezTo>
                    <a:pt x="13245" y="1500126"/>
                    <a:pt x="8660" y="1498227"/>
                    <a:pt x="5279" y="1494846"/>
                  </a:cubicBezTo>
                  <a:cubicBezTo>
                    <a:pt x="1899" y="1491466"/>
                    <a:pt x="0" y="1486881"/>
                    <a:pt x="0" y="1482101"/>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5" id="5"/>
            <p:cNvSpPr txBox="true"/>
            <p:nvPr/>
          </p:nvSpPr>
          <p:spPr>
            <a:xfrm>
              <a:off x="0" y="-47625"/>
              <a:ext cx="2328753" cy="1547751"/>
            </a:xfrm>
            <a:prstGeom prst="rect">
              <a:avLst/>
            </a:prstGeom>
          </p:spPr>
          <p:txBody>
            <a:bodyPr anchor="ctr" rtlCol="false" tIns="50800" lIns="50800" bIns="50800" rIns="50800"/>
            <a:lstStyle/>
            <a:p>
              <a:pPr algn="ctr">
                <a:lnSpc>
                  <a:spcPts val="3500"/>
                </a:lnSpc>
              </a:pPr>
            </a:p>
          </p:txBody>
        </p:sp>
      </p:grpSp>
      <p:sp>
        <p:nvSpPr>
          <p:cNvPr name="AutoShape 6" id="6"/>
          <p:cNvSpPr/>
          <p:nvPr/>
        </p:nvSpPr>
        <p:spPr>
          <a:xfrm flipH="true">
            <a:off x="2467625" y="7170140"/>
            <a:ext cx="5281763" cy="0"/>
          </a:xfrm>
          <a:prstGeom prst="line">
            <a:avLst/>
          </a:prstGeom>
          <a:ln cap="flat" w="19050">
            <a:solidFill>
              <a:srgbClr val="000000"/>
            </a:solidFill>
            <a:prstDash val="solid"/>
            <a:headEnd type="none" len="sm" w="sm"/>
            <a:tailEnd type="none" len="sm" w="sm"/>
          </a:ln>
        </p:spPr>
      </p:sp>
      <p:sp>
        <p:nvSpPr>
          <p:cNvPr name="Freeform 7" id="7"/>
          <p:cNvSpPr/>
          <p:nvPr/>
        </p:nvSpPr>
        <p:spPr>
          <a:xfrm flipH="false" flipV="false" rot="0">
            <a:off x="1528151" y="7536372"/>
            <a:ext cx="498725" cy="548597"/>
          </a:xfrm>
          <a:custGeom>
            <a:avLst/>
            <a:gdLst/>
            <a:ahLst/>
            <a:cxnLst/>
            <a:rect r="r" b="b" t="t" l="l"/>
            <a:pathLst>
              <a:path h="548597" w="498725">
                <a:moveTo>
                  <a:pt x="0" y="0"/>
                </a:moveTo>
                <a:lnTo>
                  <a:pt x="498725" y="0"/>
                </a:lnTo>
                <a:lnTo>
                  <a:pt x="498725" y="548598"/>
                </a:lnTo>
                <a:lnTo>
                  <a:pt x="0" y="5485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39573" y="8508968"/>
            <a:ext cx="475881" cy="428293"/>
          </a:xfrm>
          <a:custGeom>
            <a:avLst/>
            <a:gdLst/>
            <a:ahLst/>
            <a:cxnLst/>
            <a:rect r="r" b="b" t="t" l="l"/>
            <a:pathLst>
              <a:path h="428293" w="475881">
                <a:moveTo>
                  <a:pt x="0" y="0"/>
                </a:moveTo>
                <a:lnTo>
                  <a:pt x="475881" y="0"/>
                </a:lnTo>
                <a:lnTo>
                  <a:pt x="475881" y="428293"/>
                </a:lnTo>
                <a:lnTo>
                  <a:pt x="0" y="428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9576981" y="4560096"/>
            <a:ext cx="7300950" cy="4703491"/>
            <a:chOff x="0" y="0"/>
            <a:chExt cx="2328556" cy="1500126"/>
          </a:xfrm>
        </p:grpSpPr>
        <p:sp>
          <p:nvSpPr>
            <p:cNvPr name="Freeform 10" id="10"/>
            <p:cNvSpPr/>
            <p:nvPr/>
          </p:nvSpPr>
          <p:spPr>
            <a:xfrm flipH="false" flipV="false" rot="0">
              <a:off x="0" y="0"/>
              <a:ext cx="2328556" cy="1500126"/>
            </a:xfrm>
            <a:custGeom>
              <a:avLst/>
              <a:gdLst/>
              <a:ahLst/>
              <a:cxnLst/>
              <a:rect r="r" b="b" t="t" l="l"/>
              <a:pathLst>
                <a:path h="1500126" w="2328556">
                  <a:moveTo>
                    <a:pt x="18027" y="0"/>
                  </a:moveTo>
                  <a:lnTo>
                    <a:pt x="2310529" y="0"/>
                  </a:lnTo>
                  <a:cubicBezTo>
                    <a:pt x="2320485" y="0"/>
                    <a:pt x="2328556" y="8071"/>
                    <a:pt x="2328556" y="18027"/>
                  </a:cubicBezTo>
                  <a:lnTo>
                    <a:pt x="2328556" y="1482099"/>
                  </a:lnTo>
                  <a:cubicBezTo>
                    <a:pt x="2328556" y="1492055"/>
                    <a:pt x="2320485" y="1500126"/>
                    <a:pt x="2310529" y="1500126"/>
                  </a:cubicBezTo>
                  <a:lnTo>
                    <a:pt x="18027" y="1500126"/>
                  </a:lnTo>
                  <a:cubicBezTo>
                    <a:pt x="8071" y="1500126"/>
                    <a:pt x="0" y="1492055"/>
                    <a:pt x="0" y="1482099"/>
                  </a:cubicBezTo>
                  <a:lnTo>
                    <a:pt x="0" y="18027"/>
                  </a:lnTo>
                  <a:cubicBezTo>
                    <a:pt x="0" y="8071"/>
                    <a:pt x="8071" y="0"/>
                    <a:pt x="18027" y="0"/>
                  </a:cubicBezTo>
                  <a:close/>
                </a:path>
              </a:pathLst>
            </a:custGeom>
            <a:solidFill>
              <a:srgbClr val="22D3EE"/>
            </a:solidFill>
          </p:spPr>
        </p:sp>
        <p:sp>
          <p:nvSpPr>
            <p:cNvPr name="TextBox 11" id="11"/>
            <p:cNvSpPr txBox="true"/>
            <p:nvPr/>
          </p:nvSpPr>
          <p:spPr>
            <a:xfrm>
              <a:off x="0" y="-47625"/>
              <a:ext cx="2328556" cy="1547751"/>
            </a:xfrm>
            <a:prstGeom prst="rect">
              <a:avLst/>
            </a:prstGeom>
          </p:spPr>
          <p:txBody>
            <a:bodyPr anchor="ctr" rtlCol="false" tIns="50800" lIns="50800" bIns="50800" rIns="50800"/>
            <a:lstStyle/>
            <a:p>
              <a:pPr algn="ctr">
                <a:lnSpc>
                  <a:spcPts val="3500"/>
                </a:lnSpc>
              </a:pPr>
            </a:p>
          </p:txBody>
        </p:sp>
      </p:grpSp>
      <p:sp>
        <p:nvSpPr>
          <p:cNvPr name="AutoShape 12" id="12"/>
          <p:cNvSpPr/>
          <p:nvPr/>
        </p:nvSpPr>
        <p:spPr>
          <a:xfrm flipH="true">
            <a:off x="10570046" y="7222047"/>
            <a:ext cx="5281763" cy="0"/>
          </a:xfrm>
          <a:prstGeom prst="line">
            <a:avLst/>
          </a:prstGeom>
          <a:ln cap="flat" w="19050">
            <a:solidFill>
              <a:srgbClr val="000000"/>
            </a:solidFill>
            <a:prstDash val="solid"/>
            <a:headEnd type="none" len="sm" w="sm"/>
            <a:tailEnd type="none" len="sm" w="sm"/>
          </a:ln>
        </p:spPr>
      </p:sp>
      <p:sp>
        <p:nvSpPr>
          <p:cNvPr name="Freeform 13" id="13"/>
          <p:cNvSpPr/>
          <p:nvPr/>
        </p:nvSpPr>
        <p:spPr>
          <a:xfrm flipH="false" flipV="false" rot="0">
            <a:off x="9839647" y="8508968"/>
            <a:ext cx="475881" cy="428293"/>
          </a:xfrm>
          <a:custGeom>
            <a:avLst/>
            <a:gdLst/>
            <a:ahLst/>
            <a:cxnLst/>
            <a:rect r="r" b="b" t="t" l="l"/>
            <a:pathLst>
              <a:path h="428293" w="475881">
                <a:moveTo>
                  <a:pt x="0" y="0"/>
                </a:moveTo>
                <a:lnTo>
                  <a:pt x="475881" y="0"/>
                </a:lnTo>
                <a:lnTo>
                  <a:pt x="475881" y="428293"/>
                </a:lnTo>
                <a:lnTo>
                  <a:pt x="0" y="4282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1402903" y="2846069"/>
            <a:ext cx="15467863" cy="1409227"/>
            <a:chOff x="0" y="0"/>
            <a:chExt cx="4073840" cy="371154"/>
          </a:xfrm>
        </p:grpSpPr>
        <p:sp>
          <p:nvSpPr>
            <p:cNvPr name="Freeform 15" id="15"/>
            <p:cNvSpPr/>
            <p:nvPr/>
          </p:nvSpPr>
          <p:spPr>
            <a:xfrm flipH="false" flipV="false" rot="0">
              <a:off x="0" y="0"/>
              <a:ext cx="4073840" cy="371154"/>
            </a:xfrm>
            <a:custGeom>
              <a:avLst/>
              <a:gdLst/>
              <a:ahLst/>
              <a:cxnLst/>
              <a:rect r="r" b="b" t="t" l="l"/>
              <a:pathLst>
                <a:path h="371154" w="4073840">
                  <a:moveTo>
                    <a:pt x="5005" y="0"/>
                  </a:moveTo>
                  <a:lnTo>
                    <a:pt x="4068835" y="0"/>
                  </a:lnTo>
                  <a:cubicBezTo>
                    <a:pt x="4071600" y="0"/>
                    <a:pt x="4073840" y="2241"/>
                    <a:pt x="4073840" y="5005"/>
                  </a:cubicBezTo>
                  <a:lnTo>
                    <a:pt x="4073840" y="366149"/>
                  </a:lnTo>
                  <a:cubicBezTo>
                    <a:pt x="4073840" y="368914"/>
                    <a:pt x="4071600" y="371154"/>
                    <a:pt x="4068835" y="371154"/>
                  </a:cubicBezTo>
                  <a:lnTo>
                    <a:pt x="5005" y="371154"/>
                  </a:lnTo>
                  <a:cubicBezTo>
                    <a:pt x="2241" y="371154"/>
                    <a:pt x="0" y="368914"/>
                    <a:pt x="0" y="366149"/>
                  </a:cubicBezTo>
                  <a:lnTo>
                    <a:pt x="0" y="5005"/>
                  </a:lnTo>
                  <a:cubicBezTo>
                    <a:pt x="0" y="2241"/>
                    <a:pt x="2241" y="0"/>
                    <a:pt x="5005" y="0"/>
                  </a:cubicBezTo>
                  <a:close/>
                </a:path>
              </a:pathLst>
            </a:custGeom>
            <a:solidFill>
              <a:srgbClr val="FFFFFF"/>
            </a:solidFill>
            <a:ln w="38100" cap="sq">
              <a:solidFill>
                <a:srgbClr val="000000"/>
              </a:solidFill>
              <a:prstDash val="lgDash"/>
              <a:miter/>
            </a:ln>
          </p:spPr>
        </p:sp>
        <p:sp>
          <p:nvSpPr>
            <p:cNvPr name="TextBox 16" id="16"/>
            <p:cNvSpPr txBox="true"/>
            <p:nvPr/>
          </p:nvSpPr>
          <p:spPr>
            <a:xfrm>
              <a:off x="0" y="-38100"/>
              <a:ext cx="4073840" cy="409254"/>
            </a:xfrm>
            <a:prstGeom prst="rect">
              <a:avLst/>
            </a:prstGeom>
          </p:spPr>
          <p:txBody>
            <a:bodyPr anchor="ctr" rtlCol="false" tIns="50800" lIns="50800" bIns="50800" rIns="50800"/>
            <a:lstStyle/>
            <a:p>
              <a:pPr algn="ctr">
                <a:lnSpc>
                  <a:spcPts val="2800"/>
                </a:lnSpc>
              </a:pPr>
            </a:p>
          </p:txBody>
        </p:sp>
      </p:grpSp>
      <p:sp>
        <p:nvSpPr>
          <p:cNvPr name="Freeform 17" id="17"/>
          <p:cNvSpPr/>
          <p:nvPr/>
        </p:nvSpPr>
        <p:spPr>
          <a:xfrm flipH="false" flipV="false" rot="0">
            <a:off x="9752647" y="4705632"/>
            <a:ext cx="817399" cy="835146"/>
          </a:xfrm>
          <a:custGeom>
            <a:avLst/>
            <a:gdLst/>
            <a:ahLst/>
            <a:cxnLst/>
            <a:rect r="r" b="b" t="t" l="l"/>
            <a:pathLst>
              <a:path h="835146" w="817399">
                <a:moveTo>
                  <a:pt x="0" y="0"/>
                </a:moveTo>
                <a:lnTo>
                  <a:pt x="817399" y="0"/>
                </a:lnTo>
                <a:lnTo>
                  <a:pt x="817399" y="835146"/>
                </a:lnTo>
                <a:lnTo>
                  <a:pt x="0" y="835146"/>
                </a:lnTo>
                <a:lnTo>
                  <a:pt x="0" y="0"/>
                </a:lnTo>
                <a:close/>
              </a:path>
            </a:pathLst>
          </a:custGeom>
          <a:blipFill>
            <a:blip r:embed="rId8"/>
            <a:stretch>
              <a:fillRect l="0" t="0" r="0" b="0"/>
            </a:stretch>
          </a:blipFill>
        </p:spPr>
      </p:sp>
      <p:sp>
        <p:nvSpPr>
          <p:cNvPr name="Freeform 18" id="18"/>
          <p:cNvSpPr/>
          <p:nvPr/>
        </p:nvSpPr>
        <p:spPr>
          <a:xfrm flipH="false" flipV="false" rot="0">
            <a:off x="1528151" y="4645286"/>
            <a:ext cx="791057" cy="810302"/>
          </a:xfrm>
          <a:custGeom>
            <a:avLst/>
            <a:gdLst/>
            <a:ahLst/>
            <a:cxnLst/>
            <a:rect r="r" b="b" t="t" l="l"/>
            <a:pathLst>
              <a:path h="810302" w="791057">
                <a:moveTo>
                  <a:pt x="0" y="0"/>
                </a:moveTo>
                <a:lnTo>
                  <a:pt x="791057" y="0"/>
                </a:lnTo>
                <a:lnTo>
                  <a:pt x="791057" y="810302"/>
                </a:lnTo>
                <a:lnTo>
                  <a:pt x="0" y="810302"/>
                </a:lnTo>
                <a:lnTo>
                  <a:pt x="0" y="0"/>
                </a:lnTo>
                <a:close/>
              </a:path>
            </a:pathLst>
          </a:custGeom>
          <a:blipFill>
            <a:blip r:embed="rId9"/>
            <a:stretch>
              <a:fillRect l="0" t="0" r="0" b="0"/>
            </a:stretch>
          </a:blipFill>
        </p:spPr>
      </p:sp>
      <p:sp>
        <p:nvSpPr>
          <p:cNvPr name="Freeform 19" id="19"/>
          <p:cNvSpPr/>
          <p:nvPr/>
        </p:nvSpPr>
        <p:spPr>
          <a:xfrm flipH="false" flipV="false" rot="0">
            <a:off x="2158923" y="5646335"/>
            <a:ext cx="5676900" cy="1385212"/>
          </a:xfrm>
          <a:custGeom>
            <a:avLst/>
            <a:gdLst/>
            <a:ahLst/>
            <a:cxnLst/>
            <a:rect r="r" b="b" t="t" l="l"/>
            <a:pathLst>
              <a:path h="1385212" w="5676900">
                <a:moveTo>
                  <a:pt x="0" y="0"/>
                </a:moveTo>
                <a:lnTo>
                  <a:pt x="5676900" y="0"/>
                </a:lnTo>
                <a:lnTo>
                  <a:pt x="5676900" y="1385212"/>
                </a:lnTo>
                <a:lnTo>
                  <a:pt x="0" y="1385212"/>
                </a:lnTo>
                <a:lnTo>
                  <a:pt x="0" y="0"/>
                </a:lnTo>
                <a:close/>
              </a:path>
            </a:pathLst>
          </a:custGeom>
          <a:blipFill>
            <a:blip r:embed="rId10"/>
            <a:stretch>
              <a:fillRect l="-3409" t="-67910" r="-2284" b="-75984"/>
            </a:stretch>
          </a:blipFill>
        </p:spPr>
      </p:sp>
      <p:sp>
        <p:nvSpPr>
          <p:cNvPr name="Freeform 20" id="20"/>
          <p:cNvSpPr/>
          <p:nvPr/>
        </p:nvSpPr>
        <p:spPr>
          <a:xfrm flipH="false" flipV="false" rot="0">
            <a:off x="11465810" y="5455588"/>
            <a:ext cx="3855222" cy="1681269"/>
          </a:xfrm>
          <a:custGeom>
            <a:avLst/>
            <a:gdLst/>
            <a:ahLst/>
            <a:cxnLst/>
            <a:rect r="r" b="b" t="t" l="l"/>
            <a:pathLst>
              <a:path h="1681269" w="3855222">
                <a:moveTo>
                  <a:pt x="0" y="0"/>
                </a:moveTo>
                <a:lnTo>
                  <a:pt x="3855222" y="0"/>
                </a:lnTo>
                <a:lnTo>
                  <a:pt x="3855222" y="1681269"/>
                </a:lnTo>
                <a:lnTo>
                  <a:pt x="0" y="1681269"/>
                </a:lnTo>
                <a:lnTo>
                  <a:pt x="0" y="0"/>
                </a:lnTo>
                <a:close/>
              </a:path>
            </a:pathLst>
          </a:custGeom>
          <a:blipFill>
            <a:blip r:embed="rId11"/>
            <a:stretch>
              <a:fillRect l="-3971" t="-11468" r="-5053" b="-29297"/>
            </a:stretch>
          </a:blipFill>
        </p:spPr>
      </p:sp>
      <p:sp>
        <p:nvSpPr>
          <p:cNvPr name="Freeform 21" id="21"/>
          <p:cNvSpPr/>
          <p:nvPr/>
        </p:nvSpPr>
        <p:spPr>
          <a:xfrm flipH="false" flipV="false" rot="-401527">
            <a:off x="15891140" y="28906"/>
            <a:ext cx="3124356" cy="1999588"/>
          </a:xfrm>
          <a:custGeom>
            <a:avLst/>
            <a:gdLst/>
            <a:ahLst/>
            <a:cxnLst/>
            <a:rect r="r" b="b" t="t" l="l"/>
            <a:pathLst>
              <a:path h="1999588" w="3124356">
                <a:moveTo>
                  <a:pt x="0" y="0"/>
                </a:moveTo>
                <a:lnTo>
                  <a:pt x="3124356" y="0"/>
                </a:lnTo>
                <a:lnTo>
                  <a:pt x="3124356" y="1999588"/>
                </a:lnTo>
                <a:lnTo>
                  <a:pt x="0" y="19995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9712388" y="7506403"/>
            <a:ext cx="730399" cy="731730"/>
          </a:xfrm>
          <a:custGeom>
            <a:avLst/>
            <a:gdLst/>
            <a:ahLst/>
            <a:cxnLst/>
            <a:rect r="r" b="b" t="t" l="l"/>
            <a:pathLst>
              <a:path h="731730" w="730399">
                <a:moveTo>
                  <a:pt x="0" y="0"/>
                </a:moveTo>
                <a:lnTo>
                  <a:pt x="730399" y="0"/>
                </a:lnTo>
                <a:lnTo>
                  <a:pt x="730399" y="731729"/>
                </a:lnTo>
                <a:lnTo>
                  <a:pt x="0" y="73172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GIẢI PHÁP </a:t>
            </a:r>
            <a:r>
              <a:rPr lang="en-US" b="true" sz="3999" spc="-147" strike="noStrike" u="none">
                <a:solidFill>
                  <a:srgbClr val="000101"/>
                </a:solidFill>
                <a:latin typeface="Montserrat Ultra-Bold"/>
                <a:ea typeface="Montserrat Ultra-Bold"/>
                <a:cs typeface="Montserrat Ultra-Bold"/>
                <a:sym typeface="Montserrat Ultra-Bold"/>
              </a:rPr>
              <a:t>SAGA PATTERN TRONG TRANSACTION PHÂN TÁN</a:t>
            </a:r>
          </a:p>
        </p:txBody>
      </p:sp>
      <p:sp>
        <p:nvSpPr>
          <p:cNvPr name="TextBox 24" id="24"/>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5" id="25"/>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18</a:t>
            </a:r>
          </a:p>
        </p:txBody>
      </p:sp>
      <p:sp>
        <p:nvSpPr>
          <p:cNvPr name="TextBox 26" id="26"/>
          <p:cNvSpPr txBox="true"/>
          <p:nvPr/>
        </p:nvSpPr>
        <p:spPr>
          <a:xfrm rot="0">
            <a:off x="2158923" y="7498272"/>
            <a:ext cx="5624945" cy="70989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Cá</a:t>
            </a:r>
            <a:r>
              <a:rPr lang="en-US" sz="2051" spc="-75" b="true">
                <a:solidFill>
                  <a:srgbClr val="000101"/>
                </a:solidFill>
                <a:latin typeface="Montserrat Bold"/>
                <a:ea typeface="Montserrat Bold"/>
                <a:cs typeface="Montserrat Bold"/>
                <a:sym typeface="Montserrat Bold"/>
              </a:rPr>
              <a:t>c service phản ứng với event và phát event cho bước tiếp theo</a:t>
            </a:r>
          </a:p>
        </p:txBody>
      </p:sp>
      <p:sp>
        <p:nvSpPr>
          <p:cNvPr name="TextBox 27" id="27"/>
          <p:cNvSpPr txBox="true"/>
          <p:nvPr/>
        </p:nvSpPr>
        <p:spPr>
          <a:xfrm rot="0">
            <a:off x="4648016" y="4667532"/>
            <a:ext cx="3195682" cy="727710"/>
          </a:xfrm>
          <a:prstGeom prst="rect">
            <a:avLst/>
          </a:prstGeom>
        </p:spPr>
        <p:txBody>
          <a:bodyPr anchor="t" rtlCol="false" tIns="0" lIns="0" bIns="0" rIns="0">
            <a:spAutoFit/>
          </a:bodyPr>
          <a:lstStyle/>
          <a:p>
            <a:pPr algn="ctr" marL="0" indent="0" lvl="1">
              <a:lnSpc>
                <a:spcPts val="2940"/>
              </a:lnSpc>
              <a:spcBef>
                <a:spcPct val="0"/>
              </a:spcBef>
            </a:pPr>
            <a:r>
              <a:rPr lang="en-US" b="true" sz="2100" spc="-77">
                <a:solidFill>
                  <a:srgbClr val="000101"/>
                </a:solidFill>
                <a:latin typeface="Montserrat Bold"/>
                <a:ea typeface="Montserrat Bold"/>
                <a:cs typeface="Montserrat Bold"/>
                <a:sym typeface="Montserrat Bold"/>
              </a:rPr>
              <a:t>CHOREOGRAPHY (PHỐI HỢP PHÂN TÁN)</a:t>
            </a:r>
          </a:p>
        </p:txBody>
      </p:sp>
      <p:sp>
        <p:nvSpPr>
          <p:cNvPr name="TextBox 28" id="28"/>
          <p:cNvSpPr txBox="true"/>
          <p:nvPr/>
        </p:nvSpPr>
        <p:spPr>
          <a:xfrm rot="0">
            <a:off x="2158923" y="8349120"/>
            <a:ext cx="5971145" cy="70989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Không </a:t>
            </a:r>
            <a:r>
              <a:rPr lang="en-US" sz="2051" spc="-75" b="true">
                <a:solidFill>
                  <a:srgbClr val="000101"/>
                </a:solidFill>
                <a:latin typeface="Montserrat Bold"/>
                <a:ea typeface="Montserrat Bold"/>
                <a:cs typeface="Montserrat Bold"/>
                <a:sym typeface="Montserrat Bold"/>
              </a:rPr>
              <a:t>cần orchestrator trung tâm, nhưng luồng và compensation bị phân tán</a:t>
            </a:r>
          </a:p>
        </p:txBody>
      </p:sp>
      <p:sp>
        <p:nvSpPr>
          <p:cNvPr name="TextBox 29" id="29"/>
          <p:cNvSpPr txBox="true"/>
          <p:nvPr/>
        </p:nvSpPr>
        <p:spPr>
          <a:xfrm rot="0">
            <a:off x="10570046" y="7498272"/>
            <a:ext cx="5968014" cy="70989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Một</a:t>
            </a:r>
            <a:r>
              <a:rPr lang="en-US" sz="2051" spc="-75" b="true">
                <a:solidFill>
                  <a:srgbClr val="000101"/>
                </a:solidFill>
                <a:latin typeface="Montserrat Bold"/>
                <a:ea typeface="Montserrat Bold"/>
                <a:cs typeface="Montserrat Bold"/>
                <a:sym typeface="Montserrat Bold"/>
              </a:rPr>
              <a:t> bộ điều phối (orchestrator) quyết định trình tự gọi service và thời điểm compensation</a:t>
            </a:r>
          </a:p>
        </p:txBody>
      </p:sp>
      <p:sp>
        <p:nvSpPr>
          <p:cNvPr name="TextBox 30" id="30"/>
          <p:cNvSpPr txBox="true"/>
          <p:nvPr/>
        </p:nvSpPr>
        <p:spPr>
          <a:xfrm rot="0">
            <a:off x="13161005" y="4667532"/>
            <a:ext cx="3230290" cy="727710"/>
          </a:xfrm>
          <a:prstGeom prst="rect">
            <a:avLst/>
          </a:prstGeom>
        </p:spPr>
        <p:txBody>
          <a:bodyPr anchor="t" rtlCol="false" tIns="0" lIns="0" bIns="0" rIns="0">
            <a:spAutoFit/>
          </a:bodyPr>
          <a:lstStyle/>
          <a:p>
            <a:pPr algn="ctr" marL="0" indent="0" lvl="1">
              <a:lnSpc>
                <a:spcPts val="2940"/>
              </a:lnSpc>
              <a:spcBef>
                <a:spcPct val="0"/>
              </a:spcBef>
            </a:pPr>
            <a:r>
              <a:rPr lang="en-US" b="true" sz="2100" spc="-77">
                <a:solidFill>
                  <a:srgbClr val="000101"/>
                </a:solidFill>
                <a:latin typeface="Montserrat Bold"/>
                <a:ea typeface="Montserrat Bold"/>
                <a:cs typeface="Montserrat Bold"/>
                <a:sym typeface="Montserrat Bold"/>
              </a:rPr>
              <a:t>ORCHESTRATION (ĐIỀU PHỐI TRUNG TÂM)</a:t>
            </a:r>
          </a:p>
        </p:txBody>
      </p:sp>
      <p:sp>
        <p:nvSpPr>
          <p:cNvPr name="TextBox 31" id="31"/>
          <p:cNvSpPr txBox="true"/>
          <p:nvPr/>
        </p:nvSpPr>
        <p:spPr>
          <a:xfrm rot="0">
            <a:off x="10570046" y="8349120"/>
            <a:ext cx="6107619" cy="709890"/>
          </a:xfrm>
          <a:prstGeom prst="rect">
            <a:avLst/>
          </a:prstGeom>
        </p:spPr>
        <p:txBody>
          <a:bodyPr anchor="t" rtlCol="false" tIns="0" lIns="0" bIns="0" rIns="0">
            <a:spAutoFit/>
          </a:bodyPr>
          <a:lstStyle/>
          <a:p>
            <a:pPr algn="l">
              <a:lnSpc>
                <a:spcPts val="2872"/>
              </a:lnSpc>
            </a:pPr>
            <a:r>
              <a:rPr lang="en-US" sz="2051" spc="-75" b="true">
                <a:solidFill>
                  <a:srgbClr val="000101"/>
                </a:solidFill>
                <a:latin typeface="Montserrat Bold"/>
                <a:ea typeface="Montserrat Bold"/>
                <a:cs typeface="Montserrat Bold"/>
                <a:sym typeface="Montserrat Bold"/>
              </a:rPr>
              <a:t>Luồng </a:t>
            </a:r>
            <a:r>
              <a:rPr lang="en-US" sz="2051" spc="-75" b="true">
                <a:solidFill>
                  <a:srgbClr val="000101"/>
                </a:solidFill>
                <a:latin typeface="Montserrat Bold"/>
                <a:ea typeface="Montserrat Bold"/>
                <a:cs typeface="Montserrat Bold"/>
                <a:sym typeface="Montserrat Bold"/>
              </a:rPr>
              <a:t>rõ ràng hơn, nhưng trách nhiệm phối hợp tập trung tại orchestrator</a:t>
            </a:r>
          </a:p>
        </p:txBody>
      </p:sp>
      <p:sp>
        <p:nvSpPr>
          <p:cNvPr name="AutoShape 32" id="32"/>
          <p:cNvSpPr/>
          <p:nvPr/>
        </p:nvSpPr>
        <p:spPr>
          <a:xfrm>
            <a:off x="9144000" y="3072220"/>
            <a:ext cx="0" cy="919925"/>
          </a:xfrm>
          <a:prstGeom prst="line">
            <a:avLst/>
          </a:prstGeom>
          <a:ln cap="flat" w="19050">
            <a:solidFill>
              <a:srgbClr val="000000"/>
            </a:solidFill>
            <a:prstDash val="solid"/>
            <a:headEnd type="none" len="sm" w="sm"/>
            <a:tailEnd type="none" len="sm" w="sm"/>
          </a:ln>
        </p:spPr>
      </p:sp>
      <p:sp>
        <p:nvSpPr>
          <p:cNvPr name="TextBox 33" id="33"/>
          <p:cNvSpPr txBox="true"/>
          <p:nvPr/>
        </p:nvSpPr>
        <p:spPr>
          <a:xfrm rot="0">
            <a:off x="1618221" y="2977126"/>
            <a:ext cx="7275576" cy="1099185"/>
          </a:xfrm>
          <a:prstGeom prst="rect">
            <a:avLst/>
          </a:prstGeom>
        </p:spPr>
        <p:txBody>
          <a:bodyPr anchor="t" rtlCol="false" tIns="0" lIns="0" bIns="0" rIns="0">
            <a:spAutoFit/>
          </a:bodyPr>
          <a:lstStyle/>
          <a:p>
            <a:pPr algn="l" marL="0" indent="0" lvl="1">
              <a:lnSpc>
                <a:spcPts val="2940"/>
              </a:lnSpc>
              <a:spcBef>
                <a:spcPct val="0"/>
              </a:spcBef>
            </a:pPr>
            <a:r>
              <a:rPr lang="en-US" b="true" sz="2100" spc="-77">
                <a:solidFill>
                  <a:srgbClr val="000101"/>
                </a:solidFill>
                <a:latin typeface="Montserrat Bold"/>
                <a:ea typeface="Montserrat Bold"/>
                <a:cs typeface="Montserrat Bold"/>
                <a:sym typeface="Montserrat Bold"/>
              </a:rPr>
              <a:t>Saga: Mẫu giao dịch phân tán phân rã một nghiệp vụ thành chuỗi giao dịch cục bộ; mỗi service tự commit phần trạng thái mình sở hữu.</a:t>
            </a:r>
          </a:p>
        </p:txBody>
      </p:sp>
      <p:sp>
        <p:nvSpPr>
          <p:cNvPr name="TextBox 34" id="34"/>
          <p:cNvSpPr txBox="true"/>
          <p:nvPr/>
        </p:nvSpPr>
        <p:spPr>
          <a:xfrm rot="0">
            <a:off x="9516052" y="2984661"/>
            <a:ext cx="7275576" cy="1099185"/>
          </a:xfrm>
          <a:prstGeom prst="rect">
            <a:avLst/>
          </a:prstGeom>
        </p:spPr>
        <p:txBody>
          <a:bodyPr anchor="t" rtlCol="false" tIns="0" lIns="0" bIns="0" rIns="0">
            <a:spAutoFit/>
          </a:bodyPr>
          <a:lstStyle/>
          <a:p>
            <a:pPr algn="l" marL="0" indent="0" lvl="1">
              <a:lnSpc>
                <a:spcPts val="2940"/>
              </a:lnSpc>
              <a:spcBef>
                <a:spcPct val="0"/>
              </a:spcBef>
            </a:pPr>
            <a:r>
              <a:rPr lang="en-US" b="true" sz="2100" spc="-77">
                <a:solidFill>
                  <a:srgbClr val="000101"/>
                </a:solidFill>
                <a:latin typeface="Montserrat Bold"/>
                <a:ea typeface="Montserrat Bold"/>
                <a:cs typeface="Montserrat Bold"/>
                <a:sym typeface="Montserrat Bold"/>
              </a:rPr>
              <a:t>Compensation: Giao dịch nghiệp vụ mới dùng để đảo ngược hoặc trung hòa tác dụng của bước đã commit khi bước sau thất bại</a:t>
            </a:r>
          </a:p>
        </p:txBody>
      </p:sp>
      <p:sp>
        <p:nvSpPr>
          <p:cNvPr name="Freeform 35" id="35"/>
          <p:cNvSpPr/>
          <p:nvPr/>
        </p:nvSpPr>
        <p:spPr>
          <a:xfrm flipH="false" flipV="false" rot="-762504">
            <a:off x="17608429" y="7440869"/>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6"/>
            <a:stretch>
              <a:fillRect l="0" t="0" r="0" b="0"/>
            </a:stretch>
          </a:blipFill>
        </p:spPr>
      </p:sp>
      <p:grpSp>
        <p:nvGrpSpPr>
          <p:cNvPr name="Group 36" id="36"/>
          <p:cNvGrpSpPr/>
          <p:nvPr/>
        </p:nvGrpSpPr>
        <p:grpSpPr>
          <a:xfrm rot="-131315">
            <a:off x="1031270" y="9695400"/>
            <a:ext cx="6007888" cy="346177"/>
            <a:chOff x="0" y="0"/>
            <a:chExt cx="5075683" cy="292463"/>
          </a:xfrm>
        </p:grpSpPr>
        <p:sp>
          <p:nvSpPr>
            <p:cNvPr name="Freeform 37" id="37"/>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38" id="38"/>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39" id="39"/>
          <p:cNvGrpSpPr/>
          <p:nvPr/>
        </p:nvGrpSpPr>
        <p:grpSpPr>
          <a:xfrm rot="-131315">
            <a:off x="932267" y="9664429"/>
            <a:ext cx="6007888" cy="346177"/>
            <a:chOff x="0" y="0"/>
            <a:chExt cx="5075683" cy="292463"/>
          </a:xfrm>
        </p:grpSpPr>
        <p:sp>
          <p:nvSpPr>
            <p:cNvPr name="Freeform 40" id="40"/>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41" id="41"/>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42" id="42"/>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7"/>
            <a:stretch>
              <a:fillRect l="0" t="0" r="0" b="0"/>
            </a:stretch>
          </a:blipFill>
        </p:spPr>
      </p:sp>
      <p:sp>
        <p:nvSpPr>
          <p:cNvPr name="Freeform 5" id="5"/>
          <p:cNvSpPr/>
          <p:nvPr/>
        </p:nvSpPr>
        <p:spPr>
          <a:xfrm flipH="false" flipV="false" rot="-762504">
            <a:off x="17575259" y="5583356"/>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8"/>
            <a:stretch>
              <a:fillRect l="0" t="0" r="0" b="0"/>
            </a:stretch>
          </a:blipFill>
        </p:spPr>
      </p:sp>
      <p:sp>
        <p:nvSpPr>
          <p:cNvPr name="TextBox 6" id="6"/>
          <p:cNvSpPr txBox="true"/>
          <p:nvPr/>
        </p:nvSpPr>
        <p:spPr>
          <a:xfrm rot="0">
            <a:off x="333018" y="9669403"/>
            <a:ext cx="1682265"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19</a:t>
            </a:r>
          </a:p>
        </p:txBody>
      </p:sp>
      <p:grpSp>
        <p:nvGrpSpPr>
          <p:cNvPr name="Group 7" id="7"/>
          <p:cNvGrpSpPr/>
          <p:nvPr/>
        </p:nvGrpSpPr>
        <p:grpSpPr>
          <a:xfrm rot="-131315">
            <a:off x="1008096" y="9695400"/>
            <a:ext cx="4566539" cy="346177"/>
            <a:chOff x="0" y="0"/>
            <a:chExt cx="3857979" cy="292463"/>
          </a:xfrm>
        </p:grpSpPr>
        <p:sp>
          <p:nvSpPr>
            <p:cNvPr name="Freeform 8" id="8"/>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9" id="9"/>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0" id="10"/>
          <p:cNvGrpSpPr/>
          <p:nvPr/>
        </p:nvGrpSpPr>
        <p:grpSpPr>
          <a:xfrm rot="-131315">
            <a:off x="932793" y="9664429"/>
            <a:ext cx="4566539" cy="346177"/>
            <a:chOff x="0" y="0"/>
            <a:chExt cx="3857979" cy="292463"/>
          </a:xfrm>
        </p:grpSpPr>
        <p:sp>
          <p:nvSpPr>
            <p:cNvPr name="Freeform 11" id="11"/>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2" id="12"/>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false" flipV="false" rot="0">
            <a:off x="7926646" y="2601656"/>
            <a:ext cx="9257894" cy="6688829"/>
          </a:xfrm>
          <a:custGeom>
            <a:avLst/>
            <a:gdLst/>
            <a:ahLst/>
            <a:cxnLst/>
            <a:rect r="r" b="b" t="t" l="l"/>
            <a:pathLst>
              <a:path h="6688829" w="9257894">
                <a:moveTo>
                  <a:pt x="0" y="0"/>
                </a:moveTo>
                <a:lnTo>
                  <a:pt x="9257895" y="0"/>
                </a:lnTo>
                <a:lnTo>
                  <a:pt x="9257895" y="6688829"/>
                </a:lnTo>
                <a:lnTo>
                  <a:pt x="0" y="6688829"/>
                </a:lnTo>
                <a:lnTo>
                  <a:pt x="0" y="0"/>
                </a:lnTo>
                <a:close/>
              </a:path>
            </a:pathLst>
          </a:custGeom>
          <a:blipFill>
            <a:blip r:embed="rId9"/>
            <a:stretch>
              <a:fillRect l="0" t="0" r="0" b="0"/>
            </a:stretch>
          </a:blipFill>
          <a:ln w="19050" cap="sq">
            <a:solidFill>
              <a:srgbClr val="000000"/>
            </a:solidFill>
            <a:prstDash val="lgDash"/>
            <a:miter/>
          </a:ln>
        </p:spPr>
      </p:sp>
      <p:sp>
        <p:nvSpPr>
          <p:cNvPr name="TextBox 14" id="14"/>
          <p:cNvSpPr txBox="true"/>
          <p:nvPr/>
        </p:nvSpPr>
        <p:spPr>
          <a:xfrm rot="0">
            <a:off x="1028700" y="1265381"/>
            <a:ext cx="14900842"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ÁP DỤNG ORCHESTRATION SAGA TRONG LUỒNG XÁC NHẬN ĐƠN</a:t>
            </a:r>
          </a:p>
        </p:txBody>
      </p:sp>
      <p:sp>
        <p:nvSpPr>
          <p:cNvPr name="TextBox 15" id="15"/>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6" id="16"/>
          <p:cNvSpPr txBox="true"/>
          <p:nvPr/>
        </p:nvSpPr>
        <p:spPr>
          <a:xfrm rot="-114702">
            <a:off x="1142196" y="9716914"/>
            <a:ext cx="4146778"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4 - BÀI TOÁN PHÂN TÁN VÀ CƠ CHẾ XỬ LÝ</a:t>
            </a:r>
          </a:p>
        </p:txBody>
      </p:sp>
      <p:grpSp>
        <p:nvGrpSpPr>
          <p:cNvPr name="Group 17" id="17"/>
          <p:cNvGrpSpPr/>
          <p:nvPr/>
        </p:nvGrpSpPr>
        <p:grpSpPr>
          <a:xfrm rot="0">
            <a:off x="1028700" y="2601656"/>
            <a:ext cx="5926715" cy="2361883"/>
            <a:chOff x="0" y="0"/>
            <a:chExt cx="1560946" cy="622060"/>
          </a:xfrm>
        </p:grpSpPr>
        <p:sp>
          <p:nvSpPr>
            <p:cNvPr name="Freeform 18" id="18"/>
            <p:cNvSpPr/>
            <p:nvPr/>
          </p:nvSpPr>
          <p:spPr>
            <a:xfrm flipH="false" flipV="false" rot="0">
              <a:off x="0" y="0"/>
              <a:ext cx="1560946" cy="622060"/>
            </a:xfrm>
            <a:custGeom>
              <a:avLst/>
              <a:gdLst/>
              <a:ahLst/>
              <a:cxnLst/>
              <a:rect r="r" b="b" t="t" l="l"/>
              <a:pathLst>
                <a:path h="622060" w="1560946">
                  <a:moveTo>
                    <a:pt x="13063" y="0"/>
                  </a:moveTo>
                  <a:lnTo>
                    <a:pt x="1547883" y="0"/>
                  </a:lnTo>
                  <a:cubicBezTo>
                    <a:pt x="1551347" y="0"/>
                    <a:pt x="1554670" y="1376"/>
                    <a:pt x="1557120" y="3826"/>
                  </a:cubicBezTo>
                  <a:cubicBezTo>
                    <a:pt x="1559569" y="6276"/>
                    <a:pt x="1560946" y="9598"/>
                    <a:pt x="1560946" y="13063"/>
                  </a:cubicBezTo>
                  <a:lnTo>
                    <a:pt x="1560946" y="608997"/>
                  </a:lnTo>
                  <a:cubicBezTo>
                    <a:pt x="1560946" y="612461"/>
                    <a:pt x="1559569" y="615784"/>
                    <a:pt x="1557120" y="618234"/>
                  </a:cubicBezTo>
                  <a:cubicBezTo>
                    <a:pt x="1554670" y="620683"/>
                    <a:pt x="1551347" y="622060"/>
                    <a:pt x="1547883" y="622060"/>
                  </a:cubicBezTo>
                  <a:lnTo>
                    <a:pt x="13063" y="622060"/>
                  </a:lnTo>
                  <a:cubicBezTo>
                    <a:pt x="9598" y="622060"/>
                    <a:pt x="6276" y="620683"/>
                    <a:pt x="3826" y="618234"/>
                  </a:cubicBezTo>
                  <a:cubicBezTo>
                    <a:pt x="1376" y="615784"/>
                    <a:pt x="0" y="612461"/>
                    <a:pt x="0" y="608997"/>
                  </a:cubicBezTo>
                  <a:lnTo>
                    <a:pt x="0" y="13063"/>
                  </a:lnTo>
                  <a:cubicBezTo>
                    <a:pt x="0" y="9598"/>
                    <a:pt x="1376" y="6276"/>
                    <a:pt x="3826" y="3826"/>
                  </a:cubicBezTo>
                  <a:cubicBezTo>
                    <a:pt x="6276" y="1376"/>
                    <a:pt x="9598" y="0"/>
                    <a:pt x="13063" y="0"/>
                  </a:cubicBezTo>
                  <a:close/>
                </a:path>
              </a:pathLst>
            </a:custGeom>
            <a:solidFill>
              <a:srgbClr val="FFFFFF"/>
            </a:solidFill>
            <a:ln w="19050" cap="sq">
              <a:solidFill>
                <a:srgbClr val="000000"/>
              </a:solidFill>
              <a:prstDash val="lgDash"/>
              <a:miter/>
            </a:ln>
          </p:spPr>
        </p:sp>
        <p:sp>
          <p:nvSpPr>
            <p:cNvPr name="TextBox 19" id="19"/>
            <p:cNvSpPr txBox="true"/>
            <p:nvPr/>
          </p:nvSpPr>
          <p:spPr>
            <a:xfrm>
              <a:off x="0" y="-47625"/>
              <a:ext cx="1560946" cy="669685"/>
            </a:xfrm>
            <a:prstGeom prst="rect">
              <a:avLst/>
            </a:prstGeom>
          </p:spPr>
          <p:txBody>
            <a:bodyPr anchor="ctr" rtlCol="false" tIns="50800" lIns="50800" bIns="50800" rIns="50800"/>
            <a:lstStyle/>
            <a:p>
              <a:pPr algn="l">
                <a:lnSpc>
                  <a:spcPts val="3500"/>
                </a:lnSpc>
              </a:pPr>
              <a:r>
                <a:rPr lang="en-US" sz="2500" spc="-92" b="true">
                  <a:solidFill>
                    <a:srgbClr val="000000"/>
                  </a:solidFill>
                  <a:latin typeface="Montserrat Bold"/>
                  <a:ea typeface="Montserrat Bold"/>
                  <a:cs typeface="Montserrat Bold"/>
                  <a:sym typeface="Montserrat Bold"/>
                </a:rPr>
                <a:t>cụ thể hóa luồng xác nhận đơn bằng một sequence diagram đã được rút gọn</a:t>
              </a:r>
            </a:p>
            <a:p>
              <a:pPr algn="l" marL="539751" indent="-269876" lvl="1">
                <a:lnSpc>
                  <a:spcPts val="3500"/>
                </a:lnSpc>
                <a:buFont typeface="Arial"/>
                <a:buChar char="•"/>
              </a:pPr>
              <a:r>
                <a:rPr lang="en-US" b="true" sz="2500" spc="-92">
                  <a:solidFill>
                    <a:srgbClr val="000000"/>
                  </a:solidFill>
                  <a:latin typeface="Montserrat Bold"/>
                  <a:ea typeface="Montserrat Bold"/>
                  <a:cs typeface="Montserrat Bold"/>
                  <a:sym typeface="Montserrat Bold"/>
                </a:rPr>
                <a:t>bảo vệ bất biến tồn kho tại mốc xác nhận đơn</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TextBox 3" id="3"/>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strike="noStrike" u="none">
                <a:solidFill>
                  <a:srgbClr val="000101"/>
                </a:solidFill>
                <a:latin typeface="Montserrat Ultra-Bold"/>
                <a:ea typeface="Montserrat Ultra-Bold"/>
                <a:cs typeface="Montserrat Ultra-Bold"/>
                <a:sym typeface="Montserrat Ultra-Bold"/>
              </a:rPr>
              <a:t>CƠ CHẾ BÙ TRỪ CỦA ORCHESTRATION SAGA TRONG VIỆC XỬ LÝ CÁC NHÁNH LỖI</a:t>
            </a:r>
          </a:p>
        </p:txBody>
      </p:sp>
      <p:sp>
        <p:nvSpPr>
          <p:cNvPr name="TextBox 4" id="4"/>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5" id="5"/>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20</a:t>
            </a:r>
          </a:p>
        </p:txBody>
      </p:sp>
      <p:graphicFrame>
        <p:nvGraphicFramePr>
          <p:cNvPr name="Table 6" id="6"/>
          <p:cNvGraphicFramePr>
            <a:graphicFrameLocks noGrp="true"/>
          </p:cNvGraphicFramePr>
          <p:nvPr/>
        </p:nvGraphicFramePr>
        <p:xfrm>
          <a:off x="927848" y="2754456"/>
          <a:ext cx="16230600" cy="5889863"/>
        </p:xfrm>
        <a:graphic>
          <a:graphicData uri="http://schemas.openxmlformats.org/drawingml/2006/table">
            <a:tbl>
              <a:tblPr/>
              <a:tblGrid>
                <a:gridCol w="4155076"/>
                <a:gridCol w="6691647"/>
                <a:gridCol w="5383877"/>
              </a:tblGrid>
              <a:tr h="536873">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Kịch bản lỗi</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Quy trình xử lý ngoại lệ</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Trạng thái / Cơ chế kiểm soát</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89439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Hóa đơn hoặc đơn hàng không hợp lệ</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Từ chối trước khi gọi Catalog</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Không phát sinh tác dụng phụ</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89419">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Lỗi nghiệp vụ từ Catalog</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Không lưu đơn hàng, không hoàn tồn kho</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Rollback giao dịch cục bộ</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159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Catalog trừ kho thành công, Order lỗi commit/outbox</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Gọi Catalog compensation để hoàn tồn kho</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Hoàn trả tồn kho (Compensate)</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4397">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Hoàn tồn kho thất bại</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Ghi log lỗi compensation, giữ nguyên lỗi gốc</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Ghi nhận log lỗi &amp; Rollback</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159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Mất phản hồi TCP từ Catalog, client gửi lại (Retry)</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Trả REPLAYED; tồn kho chỉ giảm một lần</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Xử lý lũy đẳng (Idempotent Deduct)</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159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Yêu cầu bù trừ bị lặp hoặc trễ hạn</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Cùng version trả REPLAYED; version cũ trả STALE</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Từ chối yêu cầu lỗi thời (Stale Release)</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7" id="7"/>
          <p:cNvSpPr/>
          <p:nvPr/>
        </p:nvSpPr>
        <p:spPr>
          <a:xfrm flipH="false" flipV="false" rot="-666000">
            <a:off x="16081959" y="8639580"/>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8" id="8"/>
          <p:cNvSpPr/>
          <p:nvPr/>
        </p:nvSpPr>
        <p:spPr>
          <a:xfrm flipH="false" flipV="false" rot="-762504">
            <a:off x="14161044" y="8875050"/>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5"/>
            <a:stretch>
              <a:fillRect l="0" t="0" r="0" b="0"/>
            </a:stretch>
          </a:blipFill>
        </p:spPr>
      </p:sp>
      <p:sp>
        <p:nvSpPr>
          <p:cNvPr name="Freeform 9" id="9"/>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131315">
            <a:off x="1031270" y="9695400"/>
            <a:ext cx="6007888" cy="346177"/>
            <a:chOff x="0" y="0"/>
            <a:chExt cx="5075683" cy="292463"/>
          </a:xfrm>
        </p:grpSpPr>
        <p:sp>
          <p:nvSpPr>
            <p:cNvPr name="Freeform 12" id="12"/>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13" id="13"/>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4" id="14"/>
          <p:cNvGrpSpPr/>
          <p:nvPr/>
        </p:nvGrpSpPr>
        <p:grpSpPr>
          <a:xfrm rot="-131315">
            <a:off x="932267" y="9664429"/>
            <a:ext cx="6007888" cy="346177"/>
            <a:chOff x="0" y="0"/>
            <a:chExt cx="5075683" cy="292463"/>
          </a:xfrm>
        </p:grpSpPr>
        <p:sp>
          <p:nvSpPr>
            <p:cNvPr name="Freeform 15" id="15"/>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16" id="16"/>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4805295" y="8979012"/>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9"/>
            <a:stretch>
              <a:fillRect l="0" t="0" r="0" b="0"/>
            </a:stretch>
          </a:blipFill>
        </p:spPr>
      </p:sp>
      <p:grpSp>
        <p:nvGrpSpPr>
          <p:cNvPr name="Group 7" id="7"/>
          <p:cNvGrpSpPr/>
          <p:nvPr/>
        </p:nvGrpSpPr>
        <p:grpSpPr>
          <a:xfrm rot="0">
            <a:off x="1028700" y="2645039"/>
            <a:ext cx="6673636" cy="2979166"/>
            <a:chOff x="0" y="0"/>
            <a:chExt cx="1757665" cy="784636"/>
          </a:xfrm>
        </p:grpSpPr>
        <p:sp>
          <p:nvSpPr>
            <p:cNvPr name="Freeform 8" id="8"/>
            <p:cNvSpPr/>
            <p:nvPr/>
          </p:nvSpPr>
          <p:spPr>
            <a:xfrm flipH="false" flipV="false" rot="0">
              <a:off x="0" y="0"/>
              <a:ext cx="1757665" cy="784636"/>
            </a:xfrm>
            <a:custGeom>
              <a:avLst/>
              <a:gdLst/>
              <a:ahLst/>
              <a:cxnLst/>
              <a:rect r="r" b="b" t="t" l="l"/>
              <a:pathLst>
                <a:path h="784636" w="1757665">
                  <a:moveTo>
                    <a:pt x="11601" y="0"/>
                  </a:moveTo>
                  <a:lnTo>
                    <a:pt x="1746065" y="0"/>
                  </a:lnTo>
                  <a:cubicBezTo>
                    <a:pt x="1749141" y="0"/>
                    <a:pt x="1752092" y="1222"/>
                    <a:pt x="1754268" y="3398"/>
                  </a:cubicBezTo>
                  <a:cubicBezTo>
                    <a:pt x="1756443" y="5573"/>
                    <a:pt x="1757665" y="8524"/>
                    <a:pt x="1757665" y="11601"/>
                  </a:cubicBezTo>
                  <a:lnTo>
                    <a:pt x="1757665" y="773036"/>
                  </a:lnTo>
                  <a:cubicBezTo>
                    <a:pt x="1757665" y="776112"/>
                    <a:pt x="1756443" y="779063"/>
                    <a:pt x="1754268" y="781239"/>
                  </a:cubicBezTo>
                  <a:cubicBezTo>
                    <a:pt x="1752092" y="783414"/>
                    <a:pt x="1749141" y="784636"/>
                    <a:pt x="1746065" y="784636"/>
                  </a:cubicBezTo>
                  <a:lnTo>
                    <a:pt x="11601" y="784636"/>
                  </a:lnTo>
                  <a:cubicBezTo>
                    <a:pt x="8524" y="784636"/>
                    <a:pt x="5573" y="783414"/>
                    <a:pt x="3398" y="781239"/>
                  </a:cubicBezTo>
                  <a:cubicBezTo>
                    <a:pt x="1222" y="779063"/>
                    <a:pt x="0" y="776112"/>
                    <a:pt x="0" y="773036"/>
                  </a:cubicBezTo>
                  <a:lnTo>
                    <a:pt x="0" y="11601"/>
                  </a:lnTo>
                  <a:cubicBezTo>
                    <a:pt x="0" y="8524"/>
                    <a:pt x="1222" y="5573"/>
                    <a:pt x="3398" y="3398"/>
                  </a:cubicBezTo>
                  <a:cubicBezTo>
                    <a:pt x="5573" y="1222"/>
                    <a:pt x="8524" y="0"/>
                    <a:pt x="11601" y="0"/>
                  </a:cubicBezTo>
                  <a:close/>
                </a:path>
              </a:pathLst>
            </a:custGeom>
            <a:solidFill>
              <a:srgbClr val="22D3EE"/>
            </a:solidFill>
            <a:ln w="19050" cap="sq">
              <a:solidFill>
                <a:srgbClr val="000000"/>
              </a:solidFill>
              <a:prstDash val="lgDash"/>
              <a:miter/>
            </a:ln>
          </p:spPr>
        </p:sp>
        <p:sp>
          <p:nvSpPr>
            <p:cNvPr name="TextBox 9" id="9"/>
            <p:cNvSpPr txBox="true"/>
            <p:nvPr/>
          </p:nvSpPr>
          <p:spPr>
            <a:xfrm>
              <a:off x="0" y="-38100"/>
              <a:ext cx="1757665" cy="822736"/>
            </a:xfrm>
            <a:prstGeom prst="rect">
              <a:avLst/>
            </a:prstGeom>
          </p:spPr>
          <p:txBody>
            <a:bodyPr anchor="ctr" rtlCol="false" tIns="50800" lIns="50800" bIns="50800" rIns="50800"/>
            <a:lstStyle/>
            <a:p>
              <a:pPr algn="l">
                <a:lnSpc>
                  <a:spcPts val="2800"/>
                </a:lnSpc>
              </a:pPr>
              <a:r>
                <a:rPr lang="en-US" sz="2000" spc="-74" b="true">
                  <a:solidFill>
                    <a:srgbClr val="000000"/>
                  </a:solidFill>
                  <a:latin typeface="Montserrat Bold"/>
                  <a:ea typeface="Montserrat Bold"/>
                  <a:cs typeface="Montserrat Bold"/>
                  <a:sym typeface="Montserrat Bold"/>
                </a:rPr>
                <a:t>Biểu diễn dòng chảy sự kiện từ Order sang Kitchen qua Kafka. </a:t>
              </a:r>
            </a:p>
            <a:p>
              <a:pPr algn="l">
                <a:lnSpc>
                  <a:spcPts val="2800"/>
                </a:lnSpc>
              </a:pPr>
            </a:p>
            <a:p>
              <a:pPr algn="l">
                <a:lnSpc>
                  <a:spcPts val="2800"/>
                </a:lnSpc>
              </a:pPr>
              <a:r>
                <a:rPr lang="en-US" sz="2000" spc="-74" b="true">
                  <a:solidFill>
                    <a:srgbClr val="000000"/>
                  </a:solidFill>
                  <a:latin typeface="Montserrat Bold"/>
                  <a:ea typeface="Montserrat Bold"/>
                  <a:cs typeface="Montserrat Bold"/>
                  <a:sym typeface="Montserrat Bold"/>
                </a:rPr>
                <a:t>Redis tổ chức lưu trữ KDS Projection bằng các cấu trúc dữ liệu tối ưu (Hash, Set, Sorted Set) để quản lý hàng đợi, kết hợp Redis Pub/Sub và WebSocket phát tín hiệu báo thay đổi (Hint) để client tự động lấy lại dữ liệu mới (Refetch).</a:t>
              </a:r>
            </a:p>
          </p:txBody>
        </p:sp>
      </p:grpSp>
      <p:sp>
        <p:nvSpPr>
          <p:cNvPr name="Freeform 10" id="10"/>
          <p:cNvSpPr/>
          <p:nvPr/>
        </p:nvSpPr>
        <p:spPr>
          <a:xfrm flipH="false" flipV="false" rot="0">
            <a:off x="7828658" y="2115160"/>
            <a:ext cx="9793292" cy="6849183"/>
          </a:xfrm>
          <a:custGeom>
            <a:avLst/>
            <a:gdLst/>
            <a:ahLst/>
            <a:cxnLst/>
            <a:rect r="r" b="b" t="t" l="l"/>
            <a:pathLst>
              <a:path h="6849183" w="9793292">
                <a:moveTo>
                  <a:pt x="0" y="0"/>
                </a:moveTo>
                <a:lnTo>
                  <a:pt x="9793292" y="0"/>
                </a:lnTo>
                <a:lnTo>
                  <a:pt x="9793292" y="6849184"/>
                </a:lnTo>
                <a:lnTo>
                  <a:pt x="0" y="6849184"/>
                </a:lnTo>
                <a:lnTo>
                  <a:pt x="0" y="0"/>
                </a:lnTo>
                <a:close/>
              </a:path>
            </a:pathLst>
          </a:custGeom>
          <a:blipFill>
            <a:blip r:embed="rId10"/>
            <a:stretch>
              <a:fillRect l="0" t="0" r="0" b="0"/>
            </a:stretch>
          </a:blipFill>
          <a:ln w="19050" cap="sq">
            <a:solidFill>
              <a:srgbClr val="000000"/>
            </a:solidFill>
            <a:prstDash val="lgDash"/>
            <a:miter/>
          </a:ln>
        </p:spPr>
      </p:sp>
      <p:sp>
        <p:nvSpPr>
          <p:cNvPr name="TextBox 11" id="11"/>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QUẢN LÝ DỮ LIỆU REALTIME TRÊN HỆ THỐNG PHÂN TÁN</a:t>
            </a:r>
          </a:p>
        </p:txBody>
      </p:sp>
      <p:sp>
        <p:nvSpPr>
          <p:cNvPr name="TextBox 12" id="12"/>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3" id="13"/>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21</a:t>
            </a:r>
          </a:p>
        </p:txBody>
      </p:sp>
      <p:grpSp>
        <p:nvGrpSpPr>
          <p:cNvPr name="Group 14" id="14"/>
          <p:cNvGrpSpPr/>
          <p:nvPr/>
        </p:nvGrpSpPr>
        <p:grpSpPr>
          <a:xfrm rot="-131315">
            <a:off x="1031270" y="9695400"/>
            <a:ext cx="6007888" cy="346177"/>
            <a:chOff x="0" y="0"/>
            <a:chExt cx="5075683" cy="292463"/>
          </a:xfrm>
        </p:grpSpPr>
        <p:sp>
          <p:nvSpPr>
            <p:cNvPr name="Freeform 15" id="15"/>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000101"/>
            </a:solidFill>
            <a:ln w="47625" cap="sq">
              <a:solidFill>
                <a:srgbClr val="000000"/>
              </a:solidFill>
              <a:prstDash val="solid"/>
              <a:miter/>
            </a:ln>
          </p:spPr>
        </p:sp>
        <p:sp>
          <p:nvSpPr>
            <p:cNvPr name="TextBox 16" id="16"/>
            <p:cNvSpPr txBox="true"/>
            <p:nvPr/>
          </p:nvSpPr>
          <p:spPr>
            <a:xfrm>
              <a:off x="0" y="-38100"/>
              <a:ext cx="5075683"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7" id="17"/>
          <p:cNvGrpSpPr/>
          <p:nvPr/>
        </p:nvGrpSpPr>
        <p:grpSpPr>
          <a:xfrm rot="-131315">
            <a:off x="932267" y="9664429"/>
            <a:ext cx="6007888" cy="346177"/>
            <a:chOff x="0" y="0"/>
            <a:chExt cx="5075683" cy="292463"/>
          </a:xfrm>
        </p:grpSpPr>
        <p:sp>
          <p:nvSpPr>
            <p:cNvPr name="Freeform 18" id="18"/>
            <p:cNvSpPr/>
            <p:nvPr/>
          </p:nvSpPr>
          <p:spPr>
            <a:xfrm flipH="false" flipV="false" rot="0">
              <a:off x="0" y="0"/>
              <a:ext cx="5075683" cy="292463"/>
            </a:xfrm>
            <a:custGeom>
              <a:avLst/>
              <a:gdLst/>
              <a:ahLst/>
              <a:cxnLst/>
              <a:rect r="r" b="b" t="t" l="l"/>
              <a:pathLst>
                <a:path h="292463" w="5075683">
                  <a:moveTo>
                    <a:pt x="18041" y="0"/>
                  </a:moveTo>
                  <a:lnTo>
                    <a:pt x="5057642" y="0"/>
                  </a:lnTo>
                  <a:cubicBezTo>
                    <a:pt x="5062427" y="0"/>
                    <a:pt x="5067016" y="1901"/>
                    <a:pt x="5070399" y="5284"/>
                  </a:cubicBezTo>
                  <a:cubicBezTo>
                    <a:pt x="5073782" y="8667"/>
                    <a:pt x="5075683" y="13256"/>
                    <a:pt x="5075683" y="18041"/>
                  </a:cubicBezTo>
                  <a:lnTo>
                    <a:pt x="5075683" y="274422"/>
                  </a:lnTo>
                  <a:cubicBezTo>
                    <a:pt x="5075683" y="279207"/>
                    <a:pt x="5073782" y="283796"/>
                    <a:pt x="5070399" y="287179"/>
                  </a:cubicBezTo>
                  <a:cubicBezTo>
                    <a:pt x="5067016" y="290562"/>
                    <a:pt x="5062427" y="292463"/>
                    <a:pt x="5057642" y="292463"/>
                  </a:cubicBezTo>
                  <a:lnTo>
                    <a:pt x="18041" y="292463"/>
                  </a:lnTo>
                  <a:cubicBezTo>
                    <a:pt x="13256" y="292463"/>
                    <a:pt x="8667" y="290562"/>
                    <a:pt x="5284" y="287179"/>
                  </a:cubicBezTo>
                  <a:cubicBezTo>
                    <a:pt x="1901" y="283796"/>
                    <a:pt x="0" y="279207"/>
                    <a:pt x="0" y="274422"/>
                  </a:cubicBezTo>
                  <a:lnTo>
                    <a:pt x="0" y="18041"/>
                  </a:lnTo>
                  <a:cubicBezTo>
                    <a:pt x="0" y="13256"/>
                    <a:pt x="1901" y="8667"/>
                    <a:pt x="5284" y="5284"/>
                  </a:cubicBezTo>
                  <a:cubicBezTo>
                    <a:pt x="8667" y="1901"/>
                    <a:pt x="13256" y="0"/>
                    <a:pt x="18041" y="0"/>
                  </a:cubicBezTo>
                  <a:close/>
                </a:path>
              </a:pathLst>
            </a:custGeom>
            <a:solidFill>
              <a:srgbClr val="FFFFFF"/>
            </a:solidFill>
            <a:ln w="47625" cap="sq">
              <a:solidFill>
                <a:srgbClr val="000000"/>
              </a:solidFill>
              <a:prstDash val="solid"/>
              <a:miter/>
            </a:ln>
          </p:spPr>
        </p:sp>
        <p:sp>
          <p:nvSpPr>
            <p:cNvPr name="TextBox 19" id="19"/>
            <p:cNvSpPr txBox="true"/>
            <p:nvPr/>
          </p:nvSpPr>
          <p:spPr>
            <a:xfrm>
              <a:off x="0" y="-38100"/>
              <a:ext cx="5075683" cy="330563"/>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114702">
            <a:off x="1141770" y="9691382"/>
            <a:ext cx="5677527"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PHỐI HỢP GIỮA CÁC SERVICE VÀ CÁC BÀI TOÁN PHÂN TÁN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2D3EE"/>
        </a:solidFill>
      </p:bgPr>
    </p:bg>
    <p:spTree>
      <p:nvGrpSpPr>
        <p:cNvPr id="1" name=""/>
        <p:cNvGrpSpPr/>
        <p:nvPr/>
      </p:nvGrpSpPr>
      <p:grpSpPr>
        <a:xfrm>
          <a:off x="0" y="0"/>
          <a:ext cx="0" cy="0"/>
          <a:chOff x="0" y="0"/>
          <a:chExt cx="0" cy="0"/>
        </a:xfrm>
      </p:grpSpPr>
      <p:sp>
        <p:nvSpPr>
          <p:cNvPr name="Freeform 2" id="2"/>
          <p:cNvSpPr/>
          <p:nvPr/>
        </p:nvSpPr>
        <p:spPr>
          <a:xfrm flipH="true" flipV="false" rot="1528991">
            <a:off x="14305985" y="-760489"/>
            <a:ext cx="3948810" cy="4487284"/>
          </a:xfrm>
          <a:custGeom>
            <a:avLst/>
            <a:gdLst/>
            <a:ahLst/>
            <a:cxnLst/>
            <a:rect r="r" b="b" t="t" l="l"/>
            <a:pathLst>
              <a:path h="4487284" w="3948810">
                <a:moveTo>
                  <a:pt x="3948810" y="0"/>
                </a:moveTo>
                <a:lnTo>
                  <a:pt x="0" y="0"/>
                </a:lnTo>
                <a:lnTo>
                  <a:pt x="0" y="4487283"/>
                </a:lnTo>
                <a:lnTo>
                  <a:pt x="3948810" y="4487283"/>
                </a:lnTo>
                <a:lnTo>
                  <a:pt x="39488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650978">
            <a:off x="10747665" y="1492736"/>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5">
              <a:alphaModFix amt="7999"/>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4" id="4"/>
          <p:cNvSpPr/>
          <p:nvPr/>
        </p:nvSpPr>
        <p:spPr>
          <a:xfrm flipH="true" flipV="false" rot="-650978">
            <a:off x="10696678" y="1226705"/>
            <a:ext cx="7962553" cy="7079433"/>
          </a:xfrm>
          <a:custGeom>
            <a:avLst/>
            <a:gdLst/>
            <a:ahLst/>
            <a:cxnLst/>
            <a:rect r="r" b="b" t="t" l="l"/>
            <a:pathLst>
              <a:path h="7079433" w="7962553">
                <a:moveTo>
                  <a:pt x="7962553" y="0"/>
                </a:moveTo>
                <a:lnTo>
                  <a:pt x="0" y="0"/>
                </a:lnTo>
                <a:lnTo>
                  <a:pt x="0" y="7079434"/>
                </a:lnTo>
                <a:lnTo>
                  <a:pt x="7962553" y="7079434"/>
                </a:lnTo>
                <a:lnTo>
                  <a:pt x="7962553"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5" id="5"/>
          <p:cNvSpPr/>
          <p:nvPr/>
        </p:nvSpPr>
        <p:spPr>
          <a:xfrm flipH="false" flipV="false" rot="418743">
            <a:off x="11231568" y="3185105"/>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415166" y="3009691"/>
            <a:ext cx="10279875" cy="1803275"/>
          </a:xfrm>
          <a:prstGeom prst="rect">
            <a:avLst/>
          </a:prstGeom>
        </p:spPr>
        <p:txBody>
          <a:bodyPr anchor="t" rtlCol="false" tIns="0" lIns="0" bIns="0" rIns="0">
            <a:spAutoFit/>
          </a:bodyPr>
          <a:lstStyle/>
          <a:p>
            <a:pPr algn="ctr" marL="0" indent="0" lvl="0">
              <a:lnSpc>
                <a:spcPts val="7044"/>
              </a:lnSpc>
            </a:pPr>
            <a:r>
              <a:rPr lang="en-US" b="true" sz="6403" spc="-236">
                <a:solidFill>
                  <a:srgbClr val="000101"/>
                </a:solidFill>
                <a:latin typeface="Montserrat Ultra-Bold"/>
                <a:ea typeface="Montserrat Ultra-Bold"/>
                <a:cs typeface="Montserrat Ultra-Bold"/>
                <a:sym typeface="Montserrat Ultra-Bold"/>
              </a:rPr>
              <a:t>KẾT</a:t>
            </a:r>
            <a:r>
              <a:rPr lang="en-US" b="true" sz="6403" spc="-236" strike="noStrike" u="none">
                <a:solidFill>
                  <a:srgbClr val="000101"/>
                </a:solidFill>
                <a:latin typeface="Montserrat Ultra-Bold"/>
                <a:ea typeface="Montserrat Ultra-Bold"/>
                <a:cs typeface="Montserrat Ultra-Bold"/>
                <a:sym typeface="Montserrat Ultra-Bold"/>
              </a:rPr>
              <a:t> QUẢ KIỂM CHỨNG VÀ HƯỚNG PHÁT TRIỂN</a:t>
            </a:r>
          </a:p>
        </p:txBody>
      </p:sp>
      <p:sp>
        <p:nvSpPr>
          <p:cNvPr name="TextBox 7" id="7"/>
          <p:cNvSpPr txBox="true"/>
          <p:nvPr/>
        </p:nvSpPr>
        <p:spPr>
          <a:xfrm rot="0">
            <a:off x="1028700" y="5892857"/>
            <a:ext cx="9343732" cy="3489325"/>
          </a:xfrm>
          <a:prstGeom prst="rect">
            <a:avLst/>
          </a:prstGeom>
        </p:spPr>
        <p:txBody>
          <a:bodyPr anchor="t" rtlCol="false" tIns="0" lIns="0" bIns="0" rIns="0">
            <a:spAutoFit/>
          </a:bodyPr>
          <a:lstStyle/>
          <a:p>
            <a:pPr algn="just" marL="539751" indent="-269876" lvl="1">
              <a:lnSpc>
                <a:spcPts val="3500"/>
              </a:lnSpc>
              <a:buFont typeface="Arial"/>
              <a:buChar char="•"/>
            </a:pPr>
            <a:r>
              <a:rPr lang="en-US" sz="2500" spc="-92">
                <a:solidFill>
                  <a:srgbClr val="000101"/>
                </a:solidFill>
                <a:latin typeface="Montserrat"/>
                <a:ea typeface="Montserrat"/>
                <a:cs typeface="Montserrat"/>
                <a:sym typeface="Montserrat"/>
              </a:rPr>
              <a:t>Đánh giá mức độ hoàn thiện của hệ thống thông qua </a:t>
            </a:r>
            <a:r>
              <a:rPr lang="en-US" b="true" sz="2500" spc="-92">
                <a:solidFill>
                  <a:srgbClr val="000101"/>
                </a:solidFill>
                <a:latin typeface="Montserrat Bold"/>
                <a:ea typeface="Montserrat Bold"/>
                <a:cs typeface="Montserrat Bold"/>
                <a:sym typeface="Montserrat Bold"/>
              </a:rPr>
              <a:t>ma trận truy vết</a:t>
            </a:r>
            <a:r>
              <a:rPr lang="en-US" sz="2500" spc="-92">
                <a:solidFill>
                  <a:srgbClr val="000101"/>
                </a:solidFill>
                <a:latin typeface="Montserrat"/>
                <a:ea typeface="Montserrat"/>
                <a:cs typeface="Montserrat"/>
                <a:sym typeface="Montserrat"/>
              </a:rPr>
              <a:t> yêu cầu kỹ thuật (Traceability Matrix).</a:t>
            </a:r>
          </a:p>
          <a:p>
            <a:pPr algn="just" marL="539751" indent="-269876" lvl="1">
              <a:lnSpc>
                <a:spcPts val="3500"/>
              </a:lnSpc>
              <a:buFont typeface="Arial"/>
              <a:buChar char="•"/>
            </a:pPr>
            <a:r>
              <a:rPr lang="en-US" sz="2500" spc="-92">
                <a:solidFill>
                  <a:srgbClr val="000101"/>
                </a:solidFill>
                <a:latin typeface="Montserrat"/>
                <a:ea typeface="Montserrat"/>
                <a:cs typeface="Montserrat"/>
                <a:sym typeface="Montserrat"/>
              </a:rPr>
              <a:t>Đối chiếu kết quả </a:t>
            </a:r>
            <a:r>
              <a:rPr lang="en-US" b="true" sz="2500" spc="-92">
                <a:solidFill>
                  <a:srgbClr val="000101"/>
                </a:solidFill>
                <a:latin typeface="Montserrat Bold"/>
                <a:ea typeface="Montserrat Bold"/>
                <a:cs typeface="Montserrat Bold"/>
                <a:sym typeface="Montserrat Bold"/>
              </a:rPr>
              <a:t>kiểm thử tự động</a:t>
            </a:r>
            <a:r>
              <a:rPr lang="en-US" sz="2500" spc="-92">
                <a:solidFill>
                  <a:srgbClr val="000101"/>
                </a:solidFill>
                <a:latin typeface="Montserrat"/>
                <a:ea typeface="Montserrat"/>
                <a:cs typeface="Montserrat"/>
                <a:sym typeface="Montserrat"/>
              </a:rPr>
              <a:t> nhiều lớp (Unit, Contract, Integration) trực tiếp trên codebase.</a:t>
            </a:r>
          </a:p>
          <a:p>
            <a:pPr algn="just" marL="539751" indent="-269876" lvl="1">
              <a:lnSpc>
                <a:spcPts val="3500"/>
              </a:lnSpc>
              <a:spcBef>
                <a:spcPct val="0"/>
              </a:spcBef>
              <a:buFont typeface="Arial"/>
              <a:buChar char="•"/>
            </a:pPr>
            <a:r>
              <a:rPr lang="en-US" sz="2500" spc="-92">
                <a:solidFill>
                  <a:srgbClr val="000101"/>
                </a:solidFill>
                <a:latin typeface="Montserrat"/>
                <a:ea typeface="Montserrat"/>
                <a:cs typeface="Montserrat"/>
                <a:sym typeface="Montserrat"/>
              </a:rPr>
              <a:t>Xác định </a:t>
            </a:r>
            <a:r>
              <a:rPr lang="en-US" b="true" sz="2500" spc="-92">
                <a:solidFill>
                  <a:srgbClr val="000101"/>
                </a:solidFill>
                <a:latin typeface="Montserrat Bold"/>
                <a:ea typeface="Montserrat Bold"/>
                <a:cs typeface="Montserrat Bold"/>
                <a:sym typeface="Montserrat Bold"/>
              </a:rPr>
              <a:t>giới hạn kỹ thuật</a:t>
            </a:r>
            <a:r>
              <a:rPr lang="en-US" sz="2500" spc="-92">
                <a:solidFill>
                  <a:srgbClr val="000101"/>
                </a:solidFill>
                <a:latin typeface="Montserrat"/>
                <a:ea typeface="Montserrat"/>
                <a:cs typeface="Montserrat"/>
                <a:sym typeface="Montserrat"/>
              </a:rPr>
              <a:t> hiện tại và vạch rõ hướng nghiên cứu tiếp theo (Load test, Live payment, Saga hardening).</a:t>
            </a:r>
          </a:p>
          <a:p>
            <a:pPr algn="just">
              <a:lnSpc>
                <a:spcPts val="3500"/>
              </a:lnSpc>
              <a:spcBef>
                <a:spcPct val="0"/>
              </a:spcBef>
            </a:pPr>
          </a:p>
        </p:txBody>
      </p:sp>
      <p:grpSp>
        <p:nvGrpSpPr>
          <p:cNvPr name="Group 8" id="8"/>
          <p:cNvGrpSpPr/>
          <p:nvPr/>
        </p:nvGrpSpPr>
        <p:grpSpPr>
          <a:xfrm rot="-131315">
            <a:off x="3549266" y="1401684"/>
            <a:ext cx="4079435" cy="1085644"/>
            <a:chOff x="0" y="0"/>
            <a:chExt cx="1098964" cy="292463"/>
          </a:xfrm>
        </p:grpSpPr>
        <p:sp>
          <p:nvSpPr>
            <p:cNvPr name="Freeform 9" id="9"/>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1098964"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3481507" y="1304557"/>
            <a:ext cx="4079435" cy="1085644"/>
            <a:chOff x="0" y="0"/>
            <a:chExt cx="1098964" cy="292463"/>
          </a:xfrm>
        </p:grpSpPr>
        <p:sp>
          <p:nvSpPr>
            <p:cNvPr name="Freeform 12" id="12"/>
            <p:cNvSpPr/>
            <p:nvPr/>
          </p:nvSpPr>
          <p:spPr>
            <a:xfrm flipH="false" flipV="false" rot="0">
              <a:off x="0" y="0"/>
              <a:ext cx="1098964" cy="292463"/>
            </a:xfrm>
            <a:custGeom>
              <a:avLst/>
              <a:gdLst/>
              <a:ahLst/>
              <a:cxnLst/>
              <a:rect r="r" b="b" t="t" l="l"/>
              <a:pathLst>
                <a:path h="292463" w="1098964">
                  <a:moveTo>
                    <a:pt x="26569" y="0"/>
                  </a:moveTo>
                  <a:lnTo>
                    <a:pt x="1072395" y="0"/>
                  </a:lnTo>
                  <a:cubicBezTo>
                    <a:pt x="1087068" y="0"/>
                    <a:pt x="1098964" y="11895"/>
                    <a:pt x="1098964" y="26569"/>
                  </a:cubicBezTo>
                  <a:lnTo>
                    <a:pt x="1098964" y="265894"/>
                  </a:lnTo>
                  <a:cubicBezTo>
                    <a:pt x="1098964" y="272940"/>
                    <a:pt x="1096164" y="279698"/>
                    <a:pt x="1091182" y="284681"/>
                  </a:cubicBezTo>
                  <a:cubicBezTo>
                    <a:pt x="1086199" y="289664"/>
                    <a:pt x="1079441" y="292463"/>
                    <a:pt x="1072395" y="292463"/>
                  </a:cubicBezTo>
                  <a:lnTo>
                    <a:pt x="26569" y="292463"/>
                  </a:lnTo>
                  <a:cubicBezTo>
                    <a:pt x="11895" y="292463"/>
                    <a:pt x="0" y="280568"/>
                    <a:pt x="0" y="265894"/>
                  </a:cubicBezTo>
                  <a:lnTo>
                    <a:pt x="0" y="26569"/>
                  </a:lnTo>
                  <a:cubicBezTo>
                    <a:pt x="0" y="19523"/>
                    <a:pt x="2799" y="12765"/>
                    <a:pt x="7782" y="7782"/>
                  </a:cubicBezTo>
                  <a:cubicBezTo>
                    <a:pt x="12765" y="2799"/>
                    <a:pt x="19523" y="0"/>
                    <a:pt x="26569"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1098964" cy="330563"/>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114702">
            <a:off x="3698926" y="1435289"/>
            <a:ext cx="3642779" cy="712471"/>
          </a:xfrm>
          <a:prstGeom prst="rect">
            <a:avLst/>
          </a:prstGeom>
        </p:spPr>
        <p:txBody>
          <a:bodyPr anchor="t" rtlCol="false" tIns="0" lIns="0" bIns="0" rIns="0">
            <a:spAutoFit/>
          </a:bodyPr>
          <a:lstStyle/>
          <a:p>
            <a:pPr algn="ctr" marL="0" indent="0" lvl="0">
              <a:lnSpc>
                <a:spcPts val="5879"/>
              </a:lnSpc>
              <a:spcBef>
                <a:spcPct val="0"/>
              </a:spcBef>
            </a:pPr>
            <a:r>
              <a:rPr lang="en-US" b="true" sz="4199" spc="-155">
                <a:solidFill>
                  <a:srgbClr val="000101"/>
                </a:solidFill>
                <a:latin typeface="Montserrat Bold"/>
                <a:ea typeface="Montserrat Bold"/>
                <a:cs typeface="Montserrat Bold"/>
                <a:sym typeface="Montserrat Bold"/>
              </a:rPr>
              <a:t>PHẦN 5</a:t>
            </a:r>
          </a:p>
        </p:txBody>
      </p:sp>
      <p:sp>
        <p:nvSpPr>
          <p:cNvPr name="Freeform 15" id="15"/>
          <p:cNvSpPr/>
          <p:nvPr/>
        </p:nvSpPr>
        <p:spPr>
          <a:xfrm flipH="false" flipV="false" rot="-762504">
            <a:off x="12630630" y="6957820"/>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11"/>
            <a:stretch>
              <a:fillRect l="0" t="0" r="0" b="0"/>
            </a:stretch>
          </a:blipFill>
        </p:spPr>
      </p:sp>
      <p:sp>
        <p:nvSpPr>
          <p:cNvPr name="Freeform 16" id="16"/>
          <p:cNvSpPr/>
          <p:nvPr/>
        </p:nvSpPr>
        <p:spPr>
          <a:xfrm flipH="false" flipV="false" rot="-666000">
            <a:off x="15031025" y="7797922"/>
            <a:ext cx="3631676" cy="3600721"/>
          </a:xfrm>
          <a:custGeom>
            <a:avLst/>
            <a:gdLst/>
            <a:ahLst/>
            <a:cxnLst/>
            <a:rect r="r" b="b" t="t" l="l"/>
            <a:pathLst>
              <a:path h="3600721" w="3631676">
                <a:moveTo>
                  <a:pt x="589329" y="0"/>
                </a:moveTo>
                <a:lnTo>
                  <a:pt x="3631676" y="596885"/>
                </a:lnTo>
                <a:lnTo>
                  <a:pt x="3042347" y="3600721"/>
                </a:lnTo>
                <a:lnTo>
                  <a:pt x="0" y="3003837"/>
                </a:lnTo>
                <a:lnTo>
                  <a:pt x="589329" y="0"/>
                </a:lnTo>
                <a:close/>
              </a:path>
            </a:pathLst>
          </a:custGeom>
          <a:blipFill>
            <a:blip r:embed="rId12"/>
            <a:stretch>
              <a:fillRect l="-209" t="0" r="-209" b="0"/>
            </a:stretch>
          </a:blipFill>
        </p:spPr>
      </p:sp>
      <p:sp>
        <p:nvSpPr>
          <p:cNvPr name="Freeform 17" id="17"/>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13"/>
            <a:stretch>
              <a:fillRect l="0" t="0" r="0" b="0"/>
            </a:stretch>
          </a:blipFill>
        </p:spPr>
      </p:sp>
      <p:sp>
        <p:nvSpPr>
          <p:cNvPr name="TextBox 18" id="18"/>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9" id="19"/>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22</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4805295" y="8979012"/>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9"/>
            <a:stretch>
              <a:fillRect l="0" t="0" r="0" b="0"/>
            </a:stretch>
          </a:blipFill>
        </p:spPr>
      </p:sp>
      <p:sp>
        <p:nvSpPr>
          <p:cNvPr name="TextBox 7" id="7"/>
          <p:cNvSpPr txBox="true"/>
          <p:nvPr/>
        </p:nvSpPr>
        <p:spPr>
          <a:xfrm rot="0">
            <a:off x="1028700" y="1265381"/>
            <a:ext cx="1359991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CÁC LỚP KIỂM CHỨNG KỸ</a:t>
            </a:r>
            <a:r>
              <a:rPr lang="en-US" b="true" sz="3999" spc="-147" strike="noStrike" u="none">
                <a:solidFill>
                  <a:srgbClr val="000101"/>
                </a:solidFill>
                <a:latin typeface="Montserrat Ultra-Bold"/>
                <a:ea typeface="Montserrat Ultra-Bold"/>
                <a:cs typeface="Montserrat Ultra-Bold"/>
                <a:sym typeface="Montserrat Ultra-Bold"/>
              </a:rPr>
              <a:t> THUẬT</a:t>
            </a:r>
          </a:p>
        </p:txBody>
      </p:sp>
      <p:sp>
        <p:nvSpPr>
          <p:cNvPr name="TextBox 8" id="8"/>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9" id="9"/>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23</a:t>
            </a:r>
          </a:p>
        </p:txBody>
      </p:sp>
      <p:graphicFrame>
        <p:nvGraphicFramePr>
          <p:cNvPr name="Table 10" id="10"/>
          <p:cNvGraphicFramePr>
            <a:graphicFrameLocks noGrp="true"/>
          </p:cNvGraphicFramePr>
          <p:nvPr/>
        </p:nvGraphicFramePr>
        <p:xfrm>
          <a:off x="906319" y="3066081"/>
          <a:ext cx="16230600" cy="4120372"/>
        </p:xfrm>
        <a:graphic>
          <a:graphicData uri="http://schemas.openxmlformats.org/drawingml/2006/table">
            <a:tbl>
              <a:tblPr/>
              <a:tblGrid>
                <a:gridCol w="2768177"/>
                <a:gridCol w="4703440"/>
                <a:gridCol w="8758983"/>
              </a:tblGrid>
              <a:tr h="538378">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Lớp kiểm chứng</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Thành phần hệ thống</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Phương thức xác minh</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22D3EE"/>
                    </a:solidFill>
                  </a:tcPr>
                </a:tc>
              </a:tr>
              <a:tr h="896905">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Sản phẩm</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Customer PWA, POS, KDS và luồng thanh toán</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Hành vi người dùng quan sát được</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409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Kiến trúc</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Sơ đồ, ranh giới service và mã nguồn thể hiện ownership</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Trách nhiệm và nguồn trạng thái theo miền</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4092">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Kiểm thử</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Kiểm thử đơn vị, hợp đồng và tích hợp</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Consistency, yêu cầu lặp và bù trừ</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6905">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Trạng thái hệ thống &amp; vận hành</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Bản ghi PostgreSQL MongoDB, Redis Insight, Kafkio</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Montserrat Bold"/>
                          <a:ea typeface="Montserrat Bold"/>
                          <a:cs typeface="Montserrat Bold"/>
                          <a:sym typeface="Montserrat Bold"/>
                        </a:rPr>
                        <a:t>Bản ghi PostgreSQL (order, bill, outbox), MongoDB, &amp; Key-Value trong Redis, Theo dõi trạng thái Cluster Kafka thông qua Kafkio</a:t>
                      </a:r>
                      <a:endParaRPr lang="en-US" sz="1100"/>
                    </a:p>
                  </a:txBody>
                  <a:tcPr marL="47625" marR="47625" marT="47625" marB="47625"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11" id="11"/>
          <p:cNvGrpSpPr/>
          <p:nvPr/>
        </p:nvGrpSpPr>
        <p:grpSpPr>
          <a:xfrm rot="-131315">
            <a:off x="1008096" y="9695400"/>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4" id="14"/>
          <p:cNvGrpSpPr/>
          <p:nvPr/>
        </p:nvGrpSpPr>
        <p:grpSpPr>
          <a:xfrm rot="-131315">
            <a:off x="932793" y="9664429"/>
            <a:ext cx="4566539" cy="346177"/>
            <a:chOff x="0" y="0"/>
            <a:chExt cx="3857979" cy="292463"/>
          </a:xfrm>
        </p:grpSpPr>
        <p:sp>
          <p:nvSpPr>
            <p:cNvPr name="Freeform 15" id="15"/>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6" id="16"/>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24</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071238" y="2603682"/>
            <a:ext cx="8069262" cy="6934522"/>
          </a:xfrm>
          <a:custGeom>
            <a:avLst/>
            <a:gdLst/>
            <a:ahLst/>
            <a:cxnLst/>
            <a:rect r="r" b="b" t="t" l="l"/>
            <a:pathLst>
              <a:path h="6934522" w="8069262">
                <a:moveTo>
                  <a:pt x="0" y="0"/>
                </a:moveTo>
                <a:lnTo>
                  <a:pt x="8069262" y="0"/>
                </a:lnTo>
                <a:lnTo>
                  <a:pt x="8069262" y="6934522"/>
                </a:lnTo>
                <a:lnTo>
                  <a:pt x="0" y="6934522"/>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marL="0" indent="0" lvl="1">
              <a:lnSpc>
                <a:spcPts val="2940"/>
              </a:lnSpc>
              <a:spcBef>
                <a:spcPct val="0"/>
              </a:spcBef>
            </a:pPr>
            <a:r>
              <a:rPr lang="en-US" b="true" sz="2100" spc="-77">
                <a:solidFill>
                  <a:srgbClr val="000101"/>
                </a:solidFill>
                <a:latin typeface="Montserrat Bold"/>
                <a:ea typeface="Montserrat Bold"/>
                <a:cs typeface="Montserrat Bold"/>
                <a:sym typeface="Montserrat Bold"/>
              </a:rPr>
              <a:t>1. Xử lý Tranh chấp đồng thời món ăn cuối cùng (Race Condition)</a:t>
            </a:r>
          </a:p>
        </p:txBody>
      </p:sp>
      <p:sp>
        <p:nvSpPr>
          <p:cNvPr name="TextBox 22" id="22"/>
          <p:cNvSpPr txBox="true"/>
          <p:nvPr/>
        </p:nvSpPr>
        <p:spPr>
          <a:xfrm rot="0">
            <a:off x="1297986" y="3633974"/>
            <a:ext cx="6530672" cy="481393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(Microservices Concurrency): </a:t>
            </a:r>
            <a:r>
              <a:rPr lang="en-US" sz="2100" spc="-77">
                <a:solidFill>
                  <a:srgbClr val="000101"/>
                </a:solidFill>
                <a:latin typeface="Montserrat"/>
                <a:ea typeface="Montserrat"/>
                <a:cs typeface="Montserrat"/>
                <a:sym typeface="Montserrat"/>
              </a:rPr>
              <a:t>Khi 2 khách hàng đặt món qua QR tại cùng một thời điểm cho 1 phần ăn cuối cùng. Do Order Service và Catalog Service nằm ở 2 DB riêng biệt, làm sao đảm bảo không bị âm kho?</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a:t>
            </a:r>
            <a:r>
              <a:rPr lang="en-US" b="true" sz="2100" spc="-77">
                <a:solidFill>
                  <a:srgbClr val="000101"/>
                </a:solidFill>
                <a:latin typeface="Montserrat Bold"/>
                <a:ea typeface="Montserrat Bold"/>
                <a:cs typeface="Montserrat Bold"/>
                <a:sym typeface="Montserrat Bold"/>
              </a:rPr>
              <a:t>: </a:t>
            </a:r>
            <a:r>
              <a:rPr lang="en-US" sz="2100" spc="-77">
                <a:solidFill>
                  <a:srgbClr val="000101"/>
                </a:solidFill>
                <a:latin typeface="Montserrat"/>
                <a:ea typeface="Montserrat"/>
                <a:cs typeface="Montserrat"/>
                <a:sym typeface="Montserrat"/>
              </a:rPr>
              <a:t>Giả lập 2 yêu cầu gửi đồng thời. Kết quả: Hệ thống xử lý thành công đúng 1 đơn hàng chuyển sang </a:t>
            </a:r>
            <a:r>
              <a:rPr lang="en-US" b="true" sz="2100" spc="-77">
                <a:solidFill>
                  <a:srgbClr val="000101"/>
                </a:solidFill>
                <a:latin typeface="Montserrat Bold"/>
                <a:ea typeface="Montserrat Bold"/>
                <a:cs typeface="Montserrat Bold"/>
                <a:sym typeface="Montserrat Bold"/>
              </a:rPr>
              <a:t>PROCESSING</a:t>
            </a:r>
            <a:r>
              <a:rPr lang="en-US" sz="2100" spc="-77">
                <a:solidFill>
                  <a:srgbClr val="000101"/>
                </a:solidFill>
                <a:latin typeface="Montserrat"/>
                <a:ea typeface="Montserrat"/>
                <a:cs typeface="Montserrat"/>
                <a:sym typeface="Montserrat"/>
              </a:rPr>
              <a:t>, đơn hàng thứ 2 bị từ chối với lỗi thiếu kho (</a:t>
            </a:r>
            <a:r>
              <a:rPr lang="en-US" b="true" sz="2100" spc="-77">
                <a:solidFill>
                  <a:srgbClr val="000101"/>
                </a:solidFill>
                <a:latin typeface="Montserrat Bold"/>
                <a:ea typeface="Montserrat Bold"/>
                <a:cs typeface="Montserrat Bold"/>
                <a:sym typeface="Montserrat Bold"/>
              </a:rPr>
              <a:t>CATALOG_STOCK_INSUFFICIENT</a:t>
            </a:r>
            <a:r>
              <a:rPr lang="en-US" sz="2100" spc="-77">
                <a:solidFill>
                  <a:srgbClr val="000101"/>
                </a:solidFill>
                <a:latin typeface="Montserrat"/>
                <a:ea typeface="Montserrat"/>
                <a:cs typeface="Montserrat"/>
                <a:sym typeface="Montserrat"/>
              </a:rPr>
              <a:t>), kho thực tế về đúng 0 và chỉ tạo đúng 1 bản tin sự kiện.</a:t>
            </a:r>
          </a:p>
          <a:p>
            <a:pPr algn="l" marL="0" indent="0" lvl="1">
              <a:lnSpc>
                <a:spcPts val="2940"/>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25</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041788" y="2603682"/>
            <a:ext cx="8098712" cy="6934522"/>
          </a:xfrm>
          <a:custGeom>
            <a:avLst/>
            <a:gdLst/>
            <a:ahLst/>
            <a:cxnLst/>
            <a:rect r="r" b="b" t="t" l="l"/>
            <a:pathLst>
              <a:path h="6934522" w="8098712">
                <a:moveTo>
                  <a:pt x="0" y="0"/>
                </a:moveTo>
                <a:lnTo>
                  <a:pt x="8098712" y="0"/>
                </a:lnTo>
                <a:lnTo>
                  <a:pt x="8098712" y="6934522"/>
                </a:lnTo>
                <a:lnTo>
                  <a:pt x="0" y="6934522"/>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2. Khôi phục trạng thái khi bị mất phản hồi mạng (Lost Response Recovery)</a:t>
            </a:r>
          </a:p>
        </p:txBody>
      </p:sp>
      <p:sp>
        <p:nvSpPr>
          <p:cNvPr name="TextBox 22" id="22"/>
          <p:cNvSpPr txBox="true"/>
          <p:nvPr/>
        </p:nvSpPr>
        <p:spPr>
          <a:xfrm rot="0">
            <a:off x="1297986" y="3633974"/>
            <a:ext cx="6530672" cy="4442460"/>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(Network Fault Tolerance):</a:t>
            </a:r>
            <a:r>
              <a:rPr lang="en-US" sz="2100" spc="-77">
                <a:solidFill>
                  <a:srgbClr val="000101"/>
                </a:solidFill>
                <a:latin typeface="Montserrat"/>
                <a:ea typeface="Montserrat"/>
                <a:cs typeface="Montserrat"/>
                <a:sym typeface="Montserrat"/>
              </a:rPr>
              <a:t>: Trong mô hình Microservices, khi Order Service gửi yêu cầu trừ kho sang Catalog Service thành công nhưng phản hồi mạng chiều về bị mất. Khi nhân viên nhấn xác nhận lại (Retry), hệ thống làm sao tránh trừ kho lần 2?</a:t>
            </a: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Giả lập đứt mạng đột ngột chiều về. Lượt gọi lại thứ 2 (retry) của Saga xác nhận đơn hàng thành công mà kho của Catalog chỉ bị trừ đúng 1 lần duy nhất (đảm bảo tính ổn định - Idempotency).</a:t>
            </a:r>
          </a:p>
          <a:p>
            <a:pPr algn="l" marL="0" indent="0" lvl="1">
              <a:lnSpc>
                <a:spcPts val="2940"/>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26</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077103" y="2603682"/>
            <a:ext cx="8063398" cy="6934522"/>
          </a:xfrm>
          <a:custGeom>
            <a:avLst/>
            <a:gdLst/>
            <a:ahLst/>
            <a:cxnLst/>
            <a:rect r="r" b="b" t="t" l="l"/>
            <a:pathLst>
              <a:path h="6934522" w="8063398">
                <a:moveTo>
                  <a:pt x="0" y="0"/>
                </a:moveTo>
                <a:lnTo>
                  <a:pt x="8063397" y="0"/>
                </a:lnTo>
                <a:lnTo>
                  <a:pt x="8063397" y="6934522"/>
                </a:lnTo>
                <a:lnTo>
                  <a:pt x="0" y="6934522"/>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3. Tăng phiên bản và chặn giải phóng kho trễ (Stale Release Prevention)</a:t>
            </a:r>
          </a:p>
        </p:txBody>
      </p:sp>
      <p:sp>
        <p:nvSpPr>
          <p:cNvPr name="TextBox 22" id="22"/>
          <p:cNvSpPr txBox="true"/>
          <p:nvPr/>
        </p:nvSpPr>
        <p:spPr>
          <a:xfrm rot="0">
            <a:off x="1297986" y="3633974"/>
            <a:ext cx="6530672" cy="407098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(Out-of-order Message Handling): </a:t>
            </a:r>
            <a:r>
              <a:rPr lang="en-US" sz="2100" spc="-77">
                <a:solidFill>
                  <a:srgbClr val="000101"/>
                </a:solidFill>
                <a:latin typeface="Montserrat"/>
                <a:ea typeface="Montserrat"/>
                <a:cs typeface="Montserrat"/>
                <a:sym typeface="Montserrat"/>
              </a:rPr>
              <a:t>Trong kiến trúc hướng sự kiện, gói tin giải phóng kho (release) của phiên bản cũ bị đến trễ sau khi đã có một phiên bản giữ kho mới. Làm sao tránh giải phóng nhầm kho?</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Catalog Service tự động phát hiện và đánh dấu STALE (lỗi thời) đối với các gói tin release phiên bản cũ, bảo vệ tính nhất quán dữ liệu tồn kho hiện hành.</a:t>
            </a:r>
          </a:p>
          <a:p>
            <a:pPr algn="l" marL="0" indent="0" lvl="1">
              <a:lnSpc>
                <a:spcPts val="2940"/>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27</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9094644" y="2603682"/>
            <a:ext cx="8045856" cy="6934522"/>
          </a:xfrm>
          <a:custGeom>
            <a:avLst/>
            <a:gdLst/>
            <a:ahLst/>
            <a:cxnLst/>
            <a:rect r="r" b="b" t="t" l="l"/>
            <a:pathLst>
              <a:path h="6934522" w="8045856">
                <a:moveTo>
                  <a:pt x="0" y="0"/>
                </a:moveTo>
                <a:lnTo>
                  <a:pt x="8045856" y="0"/>
                </a:lnTo>
                <a:lnTo>
                  <a:pt x="8045856" y="6934522"/>
                </a:lnTo>
                <a:lnTo>
                  <a:pt x="0" y="6934522"/>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4. Đảm bảo chỉ trừ kho một lần duy nhất khi trùng lặp yêu cầu (Idempotency)</a:t>
            </a:r>
          </a:p>
        </p:txBody>
      </p:sp>
      <p:sp>
        <p:nvSpPr>
          <p:cNvPr name="TextBox 22" id="22"/>
          <p:cNvSpPr txBox="true"/>
          <p:nvPr/>
        </p:nvSpPr>
        <p:spPr>
          <a:xfrm rot="0">
            <a:off x="1297986" y="3633974"/>
            <a:ext cx="6530672" cy="3699510"/>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(SaaS POS Reliability): </a:t>
            </a:r>
            <a:r>
              <a:rPr lang="en-US" sz="2100" spc="-77">
                <a:solidFill>
                  <a:srgbClr val="000101"/>
                </a:solidFill>
                <a:latin typeface="Montserrat"/>
                <a:ea typeface="Montserrat"/>
                <a:cs typeface="Montserrat"/>
                <a:sym typeface="Montserrat"/>
              </a:rPr>
              <a:t>Đảm bảo an toàn giao dịch cho nhiều nhà hàng (multi-tenant). Khi hạ tầng gửi trùng lặp payload do lỗi mạng truyền thông.</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Trả về trạng thái REPLAYED cho lượt gọi trùng lặp, bảo toàn số lượng kho trong DB Catalog chỉ bị biến động 1 lần theo đúng số lượng đơn hàng.</a:t>
            </a:r>
          </a:p>
          <a:p>
            <a:pPr algn="l" marL="0" indent="0" lvl="1">
              <a:lnSpc>
                <a:spcPts val="2940"/>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28</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8723911" y="2603682"/>
            <a:ext cx="8133119" cy="7004649"/>
          </a:xfrm>
          <a:custGeom>
            <a:avLst/>
            <a:gdLst/>
            <a:ahLst/>
            <a:cxnLst/>
            <a:rect r="r" b="b" t="t" l="l"/>
            <a:pathLst>
              <a:path h="7004649" w="8133119">
                <a:moveTo>
                  <a:pt x="0" y="0"/>
                </a:moveTo>
                <a:lnTo>
                  <a:pt x="8133119" y="0"/>
                </a:lnTo>
                <a:lnTo>
                  <a:pt x="8133119" y="7004649"/>
                </a:lnTo>
                <a:lnTo>
                  <a:pt x="0" y="7004649"/>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5. Cơ chế bồi hoàn kho (Rollback) khi lỗi ghi DB nội bộ</a:t>
            </a:r>
          </a:p>
        </p:txBody>
      </p:sp>
      <p:sp>
        <p:nvSpPr>
          <p:cNvPr name="TextBox 22" id="22"/>
          <p:cNvSpPr txBox="true"/>
          <p:nvPr/>
        </p:nvSpPr>
        <p:spPr>
          <a:xfrm rot="0">
            <a:off x="1297986" y="3633974"/>
            <a:ext cx="6530672" cy="407098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(Distributed Transaction Failure): </a:t>
            </a:r>
            <a:r>
              <a:rPr lang="en-US" sz="2100" spc="-77">
                <a:solidFill>
                  <a:srgbClr val="000101"/>
                </a:solidFill>
                <a:latin typeface="Montserrat"/>
                <a:ea typeface="Montserrat"/>
                <a:cs typeface="Montserrat"/>
                <a:sym typeface="Montserrat"/>
              </a:rPr>
              <a:t>Saga đã trừ kho bên Catalog thành công, nhưng ghi nhận trạng thái đơn hàng và Outbox Event xuống DB Order bị lỗi (lỗi DB commit).</a:t>
            </a:r>
          </a:p>
          <a:p>
            <a:pPr algn="l">
              <a:lnSpc>
                <a:spcPts val="2940"/>
              </a:lnSpc>
            </a:pP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Saga tự động kích hoạt giao dịch bù đắp (Compensating Transaction) gọi Catalog giải phóng kho đã khóa, đưa hệ thống về trạng thái nhất quán.</a:t>
            </a:r>
          </a:p>
          <a:p>
            <a:pPr algn="l" marL="0" indent="0" lvl="1">
              <a:lnSpc>
                <a:spcPts val="2940"/>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29</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8891419" y="2596514"/>
            <a:ext cx="8134999" cy="6980846"/>
          </a:xfrm>
          <a:custGeom>
            <a:avLst/>
            <a:gdLst/>
            <a:ahLst/>
            <a:cxnLst/>
            <a:rect r="r" b="b" t="t" l="l"/>
            <a:pathLst>
              <a:path h="6980846" w="8134999">
                <a:moveTo>
                  <a:pt x="0" y="0"/>
                </a:moveTo>
                <a:lnTo>
                  <a:pt x="8134999" y="0"/>
                </a:lnTo>
                <a:lnTo>
                  <a:pt x="8134999" y="6980846"/>
                </a:lnTo>
                <a:lnTo>
                  <a:pt x="0" y="6980846"/>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6. Bồi hoàn kho khi Transaction bị từ chối lúc Commit</a:t>
            </a:r>
          </a:p>
        </p:txBody>
      </p:sp>
      <p:sp>
        <p:nvSpPr>
          <p:cNvPr name="TextBox 22" id="22"/>
          <p:cNvSpPr txBox="true"/>
          <p:nvPr/>
        </p:nvSpPr>
        <p:spPr>
          <a:xfrm rot="0">
            <a:off x="1297986" y="3633974"/>
            <a:ext cx="6530672" cy="332803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(TypeORM Transaction Security): </a:t>
            </a:r>
            <a:r>
              <a:rPr lang="en-US" sz="2100" spc="-77">
                <a:solidFill>
                  <a:srgbClr val="000101"/>
                </a:solidFill>
                <a:latin typeface="Montserrat"/>
                <a:ea typeface="Montserrat"/>
                <a:cs typeface="Montserrat"/>
                <a:sym typeface="Montserrat"/>
              </a:rPr>
              <a:t>Đảm bảo dữ liệu nhất quán ngay cả khi lỗi phát sinh ở bước Commit cuối cùng của Transaction Database.</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Hệ thống tự động kích hoạt bồi hoàn và hủy bỏ các thay đổi dữ liệu đã thực hiện trên Catalog.</a:t>
            </a:r>
          </a:p>
          <a:p>
            <a:pPr algn="l" marL="0" indent="0" lvl="1">
              <a:lnSpc>
                <a:spcPts val="2940"/>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7643958" y="4059709"/>
            <a:ext cx="2410664" cy="4845555"/>
          </a:xfrm>
          <a:custGeom>
            <a:avLst/>
            <a:gdLst/>
            <a:ahLst/>
            <a:cxnLst/>
            <a:rect r="r" b="b" t="t" l="l"/>
            <a:pathLst>
              <a:path h="4845555" w="2410664">
                <a:moveTo>
                  <a:pt x="0" y="0"/>
                </a:moveTo>
                <a:lnTo>
                  <a:pt x="2410663" y="0"/>
                </a:lnTo>
                <a:lnTo>
                  <a:pt x="2410663" y="4845556"/>
                </a:lnTo>
                <a:lnTo>
                  <a:pt x="0" y="4845556"/>
                </a:lnTo>
                <a:lnTo>
                  <a:pt x="0" y="0"/>
                </a:lnTo>
                <a:close/>
              </a:path>
            </a:pathLst>
          </a:custGeom>
          <a:blipFill>
            <a:blip r:embed="rId9"/>
            <a:stretch>
              <a:fillRect l="0" t="0" r="0" b="0"/>
            </a:stretch>
          </a:blipFill>
        </p:spPr>
      </p:sp>
      <p:sp>
        <p:nvSpPr>
          <p:cNvPr name="TextBox 7" id="7"/>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30</a:t>
            </a:r>
          </a:p>
        </p:txBody>
      </p:sp>
      <p:grpSp>
        <p:nvGrpSpPr>
          <p:cNvPr name="Group 8" id="8"/>
          <p:cNvGrpSpPr/>
          <p:nvPr/>
        </p:nvGrpSpPr>
        <p:grpSpPr>
          <a:xfrm rot="-131315">
            <a:off x="1008096" y="9695400"/>
            <a:ext cx="4566539" cy="346177"/>
            <a:chOff x="0" y="0"/>
            <a:chExt cx="3857979" cy="292463"/>
          </a:xfrm>
        </p:grpSpPr>
        <p:sp>
          <p:nvSpPr>
            <p:cNvPr name="Freeform 9" id="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0" id="10"/>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1" id="11"/>
          <p:cNvGrpSpPr/>
          <p:nvPr/>
        </p:nvGrpSpPr>
        <p:grpSpPr>
          <a:xfrm rot="-131315">
            <a:off x="932793" y="9664429"/>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03151" y="2603682"/>
            <a:ext cx="7301568" cy="6934522"/>
            <a:chOff x="0" y="0"/>
            <a:chExt cx="2328753" cy="2211688"/>
          </a:xfrm>
        </p:grpSpPr>
        <p:sp>
          <p:nvSpPr>
            <p:cNvPr name="Freeform 15" id="15"/>
            <p:cNvSpPr/>
            <p:nvPr/>
          </p:nvSpPr>
          <p:spPr>
            <a:xfrm flipH="false" flipV="false" rot="0">
              <a:off x="0" y="0"/>
              <a:ext cx="2328753" cy="2211688"/>
            </a:xfrm>
            <a:custGeom>
              <a:avLst/>
              <a:gdLst/>
              <a:ahLst/>
              <a:cxnLst/>
              <a:rect r="r" b="b" t="t" l="l"/>
              <a:pathLst>
                <a:path h="2211688" w="2328753">
                  <a:moveTo>
                    <a:pt x="18025" y="0"/>
                  </a:moveTo>
                  <a:lnTo>
                    <a:pt x="2310728" y="0"/>
                  </a:lnTo>
                  <a:cubicBezTo>
                    <a:pt x="2315509" y="0"/>
                    <a:pt x="2320093" y="1899"/>
                    <a:pt x="2323474" y="5279"/>
                  </a:cubicBezTo>
                  <a:cubicBezTo>
                    <a:pt x="2326854" y="8660"/>
                    <a:pt x="2328753" y="13245"/>
                    <a:pt x="2328753" y="18025"/>
                  </a:cubicBezTo>
                  <a:lnTo>
                    <a:pt x="2328753" y="2193663"/>
                  </a:lnTo>
                  <a:cubicBezTo>
                    <a:pt x="2328753" y="2198443"/>
                    <a:pt x="2326854" y="2203028"/>
                    <a:pt x="2323474" y="2206409"/>
                  </a:cubicBezTo>
                  <a:cubicBezTo>
                    <a:pt x="2320093" y="2209789"/>
                    <a:pt x="2315509" y="2211688"/>
                    <a:pt x="2310728" y="2211688"/>
                  </a:cubicBezTo>
                  <a:lnTo>
                    <a:pt x="18025" y="2211688"/>
                  </a:lnTo>
                  <a:cubicBezTo>
                    <a:pt x="13245" y="2211688"/>
                    <a:pt x="8660" y="2209789"/>
                    <a:pt x="5279" y="2206409"/>
                  </a:cubicBezTo>
                  <a:cubicBezTo>
                    <a:pt x="1899" y="2203028"/>
                    <a:pt x="0" y="2198443"/>
                    <a:pt x="0" y="2193663"/>
                  </a:cubicBezTo>
                  <a:lnTo>
                    <a:pt x="0" y="18025"/>
                  </a:lnTo>
                  <a:cubicBezTo>
                    <a:pt x="0" y="13245"/>
                    <a:pt x="1899" y="8660"/>
                    <a:pt x="5279" y="5279"/>
                  </a:cubicBezTo>
                  <a:cubicBezTo>
                    <a:pt x="8660" y="1899"/>
                    <a:pt x="13245" y="0"/>
                    <a:pt x="18025" y="0"/>
                  </a:cubicBezTo>
                  <a:close/>
                </a:path>
              </a:pathLst>
            </a:custGeom>
            <a:solidFill>
              <a:srgbClr val="22D3EE"/>
            </a:solidFill>
          </p:spPr>
        </p:sp>
        <p:sp>
          <p:nvSpPr>
            <p:cNvPr name="TextBox 16" id="16"/>
            <p:cNvSpPr txBox="true"/>
            <p:nvPr/>
          </p:nvSpPr>
          <p:spPr>
            <a:xfrm>
              <a:off x="0" y="-47625"/>
              <a:ext cx="2328753" cy="2259313"/>
            </a:xfrm>
            <a:prstGeom prst="rect">
              <a:avLst/>
            </a:prstGeom>
          </p:spPr>
          <p:txBody>
            <a:bodyPr anchor="ctr" rtlCol="false" tIns="50800" lIns="50800" bIns="50800" rIns="50800"/>
            <a:lstStyle/>
            <a:p>
              <a:pPr algn="ctr">
                <a:lnSpc>
                  <a:spcPts val="3500"/>
                </a:lnSpc>
              </a:pPr>
            </a:p>
          </p:txBody>
        </p:sp>
      </p:grpSp>
      <p:sp>
        <p:nvSpPr>
          <p:cNvPr name="Freeform 17" id="17"/>
          <p:cNvSpPr/>
          <p:nvPr/>
        </p:nvSpPr>
        <p:spPr>
          <a:xfrm flipH="false" flipV="false" rot="0">
            <a:off x="8891419" y="2596514"/>
            <a:ext cx="8134999" cy="6980846"/>
          </a:xfrm>
          <a:custGeom>
            <a:avLst/>
            <a:gdLst/>
            <a:ahLst/>
            <a:cxnLst/>
            <a:rect r="r" b="b" t="t" l="l"/>
            <a:pathLst>
              <a:path h="6980846" w="8134999">
                <a:moveTo>
                  <a:pt x="0" y="0"/>
                </a:moveTo>
                <a:lnTo>
                  <a:pt x="8134999" y="0"/>
                </a:lnTo>
                <a:lnTo>
                  <a:pt x="8134999" y="6980846"/>
                </a:lnTo>
                <a:lnTo>
                  <a:pt x="0" y="6980846"/>
                </a:lnTo>
                <a:lnTo>
                  <a:pt x="0" y="0"/>
                </a:lnTo>
                <a:close/>
              </a:path>
            </a:pathLst>
          </a:custGeom>
          <a:blipFill>
            <a:blip r:embed="rId10"/>
            <a:stretch>
              <a:fillRect l="0" t="0" r="0" b="0"/>
            </a:stretch>
          </a:blipFill>
        </p:spPr>
      </p:sp>
      <p:sp>
        <p:nvSpPr>
          <p:cNvPr name="TextBox 18" id="18"/>
          <p:cNvSpPr txBox="true"/>
          <p:nvPr/>
        </p:nvSpPr>
        <p:spPr>
          <a:xfrm rot="0">
            <a:off x="1028700" y="1265381"/>
            <a:ext cx="13599916"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MỘT SỐ KẾT QUẢ KIỂM THỬ QUAN TRỌNG CỦA ORCHESTRATION SAGA </a:t>
            </a:r>
          </a:p>
        </p:txBody>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20" id="20"/>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1" id="21"/>
          <p:cNvSpPr txBox="true"/>
          <p:nvPr/>
        </p:nvSpPr>
        <p:spPr>
          <a:xfrm rot="0">
            <a:off x="1297986" y="2754717"/>
            <a:ext cx="6530672" cy="727710"/>
          </a:xfrm>
          <a:prstGeom prst="rect">
            <a:avLst/>
          </a:prstGeom>
        </p:spPr>
        <p:txBody>
          <a:bodyPr anchor="t" rtlCol="false" tIns="0" lIns="0" bIns="0" rIns="0">
            <a:spAutoFit/>
          </a:bodyPr>
          <a:lstStyle/>
          <a:p>
            <a:pPr algn="l">
              <a:lnSpc>
                <a:spcPts val="2940"/>
              </a:lnSpc>
              <a:spcBef>
                <a:spcPct val="0"/>
              </a:spcBef>
            </a:pPr>
            <a:r>
              <a:rPr lang="en-US" b="true" sz="2100" spc="-77">
                <a:solidFill>
                  <a:srgbClr val="000101"/>
                </a:solidFill>
                <a:latin typeface="Montserrat Bold"/>
                <a:ea typeface="Montserrat Bold"/>
                <a:cs typeface="Montserrat Bold"/>
                <a:sym typeface="Montserrat Bold"/>
              </a:rPr>
              <a:t>6. Bồi hoàn kho khi Transaction bị từ chối lúc Commit</a:t>
            </a:r>
          </a:p>
        </p:txBody>
      </p:sp>
      <p:sp>
        <p:nvSpPr>
          <p:cNvPr name="TextBox 22" id="22"/>
          <p:cNvSpPr txBox="true"/>
          <p:nvPr/>
        </p:nvSpPr>
        <p:spPr>
          <a:xfrm rot="0">
            <a:off x="1297986" y="3633974"/>
            <a:ext cx="6530672" cy="3328035"/>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Bài toán (TypeORM Transaction Security): </a:t>
            </a:r>
            <a:r>
              <a:rPr lang="en-US" sz="2100" spc="-77">
                <a:solidFill>
                  <a:srgbClr val="000101"/>
                </a:solidFill>
                <a:latin typeface="Montserrat"/>
                <a:ea typeface="Montserrat"/>
                <a:cs typeface="Montserrat"/>
                <a:sym typeface="Montserrat"/>
              </a:rPr>
              <a:t>Đảm bảo dữ liệu nhất quán ngay cả khi lỗi phát sinh ở bước Commit cuối cùng của Transaction Database.</a:t>
            </a:r>
          </a:p>
          <a:p>
            <a:pPr algn="l">
              <a:lnSpc>
                <a:spcPts val="2940"/>
              </a:lnSpc>
            </a:pPr>
          </a:p>
          <a:p>
            <a:pPr algn="l" marL="453390" indent="-226695" lvl="1">
              <a:lnSpc>
                <a:spcPts val="2940"/>
              </a:lnSpc>
              <a:buFont typeface="Arial"/>
              <a:buChar char="•"/>
            </a:pPr>
            <a:r>
              <a:rPr lang="en-US" b="true" sz="2100" spc="-77">
                <a:solidFill>
                  <a:srgbClr val="000101"/>
                </a:solidFill>
                <a:latin typeface="Montserrat Bold"/>
                <a:ea typeface="Montserrat Bold"/>
                <a:cs typeface="Montserrat Bold"/>
                <a:sym typeface="Montserrat Bold"/>
              </a:rPr>
              <a:t>Mô tả: </a:t>
            </a:r>
            <a:r>
              <a:rPr lang="en-US" sz="2100" spc="-77">
                <a:solidFill>
                  <a:srgbClr val="000101"/>
                </a:solidFill>
                <a:latin typeface="Montserrat"/>
                <a:ea typeface="Montserrat"/>
                <a:cs typeface="Montserrat"/>
                <a:sym typeface="Montserrat"/>
              </a:rPr>
              <a:t>Hệ thống tự động kích hoạt bồi hoàn và hủy bỏ các thay đổi dữ liệu đã thực hiện trên Catalog.</a:t>
            </a:r>
          </a:p>
          <a:p>
            <a:pPr algn="l" marL="0" indent="0" lvl="1">
              <a:lnSpc>
                <a:spcPts val="2940"/>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6338094" y="9372114"/>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4" id="4"/>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62504">
            <a:off x="14451176" y="9610618"/>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9"/>
            <a:stretch>
              <a:fillRect l="0" t="0" r="0" b="0"/>
            </a:stretch>
          </a:blipFill>
        </p:spPr>
      </p:sp>
      <p:sp>
        <p:nvSpPr>
          <p:cNvPr name="Freeform 7" id="7"/>
          <p:cNvSpPr/>
          <p:nvPr/>
        </p:nvSpPr>
        <p:spPr>
          <a:xfrm flipH="false" flipV="false" rot="0">
            <a:off x="5193072" y="2931783"/>
            <a:ext cx="6554088" cy="6510955"/>
          </a:xfrm>
          <a:custGeom>
            <a:avLst/>
            <a:gdLst/>
            <a:ahLst/>
            <a:cxnLst/>
            <a:rect r="r" b="b" t="t" l="l"/>
            <a:pathLst>
              <a:path h="6510955" w="6554088">
                <a:moveTo>
                  <a:pt x="0" y="0"/>
                </a:moveTo>
                <a:lnTo>
                  <a:pt x="6554089" y="0"/>
                </a:lnTo>
                <a:lnTo>
                  <a:pt x="6554089" y="6510956"/>
                </a:lnTo>
                <a:lnTo>
                  <a:pt x="0" y="6510956"/>
                </a:lnTo>
                <a:lnTo>
                  <a:pt x="0" y="0"/>
                </a:lnTo>
                <a:close/>
              </a:path>
            </a:pathLst>
          </a:custGeom>
          <a:blipFill>
            <a:blip r:embed="rId10"/>
            <a:stretch>
              <a:fillRect l="0" t="0" r="-80827" b="0"/>
            </a:stretch>
          </a:blipFill>
        </p:spPr>
      </p:sp>
      <p:sp>
        <p:nvSpPr>
          <p:cNvPr name="Freeform 8" id="8"/>
          <p:cNvSpPr/>
          <p:nvPr/>
        </p:nvSpPr>
        <p:spPr>
          <a:xfrm flipH="false" flipV="false" rot="0">
            <a:off x="11882019" y="2925210"/>
            <a:ext cx="5280875" cy="6479601"/>
          </a:xfrm>
          <a:custGeom>
            <a:avLst/>
            <a:gdLst/>
            <a:ahLst/>
            <a:cxnLst/>
            <a:rect r="r" b="b" t="t" l="l"/>
            <a:pathLst>
              <a:path h="6479601" w="5280875">
                <a:moveTo>
                  <a:pt x="0" y="0"/>
                </a:moveTo>
                <a:lnTo>
                  <a:pt x="5280874" y="0"/>
                </a:lnTo>
                <a:lnTo>
                  <a:pt x="5280874" y="6479601"/>
                </a:lnTo>
                <a:lnTo>
                  <a:pt x="0" y="6479601"/>
                </a:lnTo>
                <a:lnTo>
                  <a:pt x="0" y="0"/>
                </a:lnTo>
                <a:close/>
              </a:path>
            </a:pathLst>
          </a:custGeom>
          <a:blipFill>
            <a:blip r:embed="rId11"/>
            <a:stretch>
              <a:fillRect l="0" t="0" r="0" b="0"/>
            </a:stretch>
          </a:blipFill>
        </p:spPr>
      </p:sp>
      <p:sp>
        <p:nvSpPr>
          <p:cNvPr name="TextBox 9" id="9"/>
          <p:cNvSpPr txBox="true"/>
          <p:nvPr/>
        </p:nvSpPr>
        <p:spPr>
          <a:xfrm rot="0">
            <a:off x="1028700" y="1265381"/>
            <a:ext cx="14461408"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K</a:t>
            </a:r>
            <a:r>
              <a:rPr lang="en-US" b="true" sz="3999" spc="-147" strike="noStrike" u="none">
                <a:solidFill>
                  <a:srgbClr val="000101"/>
                </a:solidFill>
                <a:latin typeface="Montserrat Ultra-Bold"/>
                <a:ea typeface="Montserrat Ultra-Bold"/>
                <a:cs typeface="Montserrat Ultra-Bold"/>
                <a:sym typeface="Montserrat Ultra-Bold"/>
              </a:rPr>
              <a:t>IỂM THỬ ORDER SERVICE &amp; TRỰC QUAN HÓA QUA ALLURE REPORT</a:t>
            </a:r>
          </a:p>
        </p:txBody>
      </p:sp>
      <p:sp>
        <p:nvSpPr>
          <p:cNvPr name="TextBox 10" id="10"/>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1" id="11"/>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31</a:t>
            </a:r>
          </a:p>
        </p:txBody>
      </p:sp>
      <p:grpSp>
        <p:nvGrpSpPr>
          <p:cNvPr name="Group 12" id="12"/>
          <p:cNvGrpSpPr/>
          <p:nvPr/>
        </p:nvGrpSpPr>
        <p:grpSpPr>
          <a:xfrm rot="0">
            <a:off x="896794" y="2925210"/>
            <a:ext cx="4128127" cy="6541516"/>
            <a:chOff x="0" y="0"/>
            <a:chExt cx="1087243" cy="1722869"/>
          </a:xfrm>
        </p:grpSpPr>
        <p:sp>
          <p:nvSpPr>
            <p:cNvPr name="Freeform 13" id="13"/>
            <p:cNvSpPr/>
            <p:nvPr/>
          </p:nvSpPr>
          <p:spPr>
            <a:xfrm flipH="false" flipV="false" rot="0">
              <a:off x="0" y="0"/>
              <a:ext cx="1087243" cy="1722868"/>
            </a:xfrm>
            <a:custGeom>
              <a:avLst/>
              <a:gdLst/>
              <a:ahLst/>
              <a:cxnLst/>
              <a:rect r="r" b="b" t="t" l="l"/>
              <a:pathLst>
                <a:path h="1722868" w="1087243">
                  <a:moveTo>
                    <a:pt x="18754" y="0"/>
                  </a:moveTo>
                  <a:lnTo>
                    <a:pt x="1068489" y="0"/>
                  </a:lnTo>
                  <a:cubicBezTo>
                    <a:pt x="1078847" y="0"/>
                    <a:pt x="1087243" y="8396"/>
                    <a:pt x="1087243" y="18754"/>
                  </a:cubicBezTo>
                  <a:lnTo>
                    <a:pt x="1087243" y="1704114"/>
                  </a:lnTo>
                  <a:cubicBezTo>
                    <a:pt x="1087243" y="1709088"/>
                    <a:pt x="1085268" y="1713859"/>
                    <a:pt x="1081750" y="1717376"/>
                  </a:cubicBezTo>
                  <a:cubicBezTo>
                    <a:pt x="1078233" y="1720893"/>
                    <a:pt x="1073463" y="1722868"/>
                    <a:pt x="1068489" y="1722868"/>
                  </a:cubicBezTo>
                  <a:lnTo>
                    <a:pt x="18754" y="1722868"/>
                  </a:lnTo>
                  <a:cubicBezTo>
                    <a:pt x="8396" y="1722868"/>
                    <a:pt x="0" y="1714472"/>
                    <a:pt x="0" y="1704114"/>
                  </a:cubicBezTo>
                  <a:lnTo>
                    <a:pt x="0" y="18754"/>
                  </a:lnTo>
                  <a:cubicBezTo>
                    <a:pt x="0" y="8396"/>
                    <a:pt x="8396" y="0"/>
                    <a:pt x="18754" y="0"/>
                  </a:cubicBezTo>
                  <a:close/>
                </a:path>
              </a:pathLst>
            </a:custGeom>
            <a:solidFill>
              <a:srgbClr val="FFFFFF"/>
            </a:solidFill>
            <a:ln w="38100" cap="sq">
              <a:solidFill>
                <a:srgbClr val="000000"/>
              </a:solidFill>
              <a:prstDash val="lgDash"/>
              <a:miter/>
            </a:ln>
          </p:spPr>
        </p:sp>
        <p:sp>
          <p:nvSpPr>
            <p:cNvPr name="TextBox 14" id="14"/>
            <p:cNvSpPr txBox="true"/>
            <p:nvPr/>
          </p:nvSpPr>
          <p:spPr>
            <a:xfrm>
              <a:off x="0" y="-38100"/>
              <a:ext cx="1087243" cy="1760969"/>
            </a:xfrm>
            <a:prstGeom prst="rect">
              <a:avLst/>
            </a:prstGeom>
          </p:spPr>
          <p:txBody>
            <a:bodyPr anchor="ctr" rtlCol="false" tIns="50800" lIns="50800" bIns="50800" rIns="50800"/>
            <a:lstStyle/>
            <a:p>
              <a:pPr algn="l">
                <a:lnSpc>
                  <a:spcPts val="2800"/>
                </a:lnSpc>
              </a:pPr>
              <a:r>
                <a:rPr lang="en-US" sz="2000" spc="-74" b="true">
                  <a:solidFill>
                    <a:srgbClr val="000000"/>
                  </a:solidFill>
                  <a:latin typeface="Montserrat Bold"/>
                  <a:ea typeface="Montserrat Bold"/>
                  <a:cs typeface="Montserrat Bold"/>
                  <a:sym typeface="Montserrat Bold"/>
                </a:rPr>
                <a:t>Trực quan hóa kết quả kiểm thử tự động của dịch vụ cốt lõi (Order Service) trên Allure Report</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12 bài test Giao dịch phân tán &amp; Nhất quán kho (Saga, Concurrency</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53 bài test Giỏ hàng &amp; Đặt món QR (Cart, Session, Submit)</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28 bài test Thanh toán &amp; Liên dịch vụ (Bill, Payment events)</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17 bài test Máy trạng thái &amp; Vận hành bếp (Order State, KDS)</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26 bài test Nghiệp vụ &amp; Tiện ích.</a:t>
              </a:r>
            </a:p>
          </p:txBody>
        </p:sp>
      </p:grpSp>
      <p:grpSp>
        <p:nvGrpSpPr>
          <p:cNvPr name="Group 15" id="15"/>
          <p:cNvGrpSpPr/>
          <p:nvPr/>
        </p:nvGrpSpPr>
        <p:grpSpPr>
          <a:xfrm rot="-131315">
            <a:off x="1008096" y="9695400"/>
            <a:ext cx="4566539" cy="346177"/>
            <a:chOff x="0" y="0"/>
            <a:chExt cx="3857979" cy="292463"/>
          </a:xfrm>
        </p:grpSpPr>
        <p:sp>
          <p:nvSpPr>
            <p:cNvPr name="Freeform 16" id="16"/>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7" id="17"/>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8" id="18"/>
          <p:cNvGrpSpPr/>
          <p:nvPr/>
        </p:nvGrpSpPr>
        <p:grpSpPr>
          <a:xfrm rot="-131315">
            <a:off x="932793" y="9664429"/>
            <a:ext cx="4566539" cy="346177"/>
            <a:chOff x="0" y="0"/>
            <a:chExt cx="3857979" cy="292463"/>
          </a:xfrm>
        </p:grpSpPr>
        <p:sp>
          <p:nvSpPr>
            <p:cNvPr name="Freeform 19" id="1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20" id="20"/>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6338094" y="9372114"/>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4" id="4"/>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62504">
            <a:off x="14451176" y="9610618"/>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9"/>
            <a:stretch>
              <a:fillRect l="0" t="0" r="0" b="0"/>
            </a:stretch>
          </a:blipFill>
        </p:spPr>
      </p:sp>
      <p:grpSp>
        <p:nvGrpSpPr>
          <p:cNvPr name="Group 7" id="7"/>
          <p:cNvGrpSpPr/>
          <p:nvPr/>
        </p:nvGrpSpPr>
        <p:grpSpPr>
          <a:xfrm rot="0">
            <a:off x="896794" y="2925210"/>
            <a:ext cx="4901260" cy="6541516"/>
            <a:chOff x="0" y="0"/>
            <a:chExt cx="1290867" cy="1722869"/>
          </a:xfrm>
        </p:grpSpPr>
        <p:sp>
          <p:nvSpPr>
            <p:cNvPr name="Freeform 8" id="8"/>
            <p:cNvSpPr/>
            <p:nvPr/>
          </p:nvSpPr>
          <p:spPr>
            <a:xfrm flipH="false" flipV="false" rot="0">
              <a:off x="0" y="0"/>
              <a:ext cx="1290867" cy="1722868"/>
            </a:xfrm>
            <a:custGeom>
              <a:avLst/>
              <a:gdLst/>
              <a:ahLst/>
              <a:cxnLst/>
              <a:rect r="r" b="b" t="t" l="l"/>
              <a:pathLst>
                <a:path h="1722868" w="1290867">
                  <a:moveTo>
                    <a:pt x="15796" y="0"/>
                  </a:moveTo>
                  <a:lnTo>
                    <a:pt x="1275071" y="0"/>
                  </a:lnTo>
                  <a:cubicBezTo>
                    <a:pt x="1279260" y="0"/>
                    <a:pt x="1283278" y="1664"/>
                    <a:pt x="1286240" y="4626"/>
                  </a:cubicBezTo>
                  <a:cubicBezTo>
                    <a:pt x="1289203" y="7589"/>
                    <a:pt x="1290867" y="11606"/>
                    <a:pt x="1290867" y="15796"/>
                  </a:cubicBezTo>
                  <a:lnTo>
                    <a:pt x="1290867" y="1707073"/>
                  </a:lnTo>
                  <a:cubicBezTo>
                    <a:pt x="1290867" y="1711262"/>
                    <a:pt x="1289203" y="1715280"/>
                    <a:pt x="1286240" y="1718242"/>
                  </a:cubicBezTo>
                  <a:cubicBezTo>
                    <a:pt x="1283278" y="1721204"/>
                    <a:pt x="1279260" y="1722868"/>
                    <a:pt x="1275071" y="1722868"/>
                  </a:cubicBezTo>
                  <a:lnTo>
                    <a:pt x="15796" y="1722868"/>
                  </a:lnTo>
                  <a:cubicBezTo>
                    <a:pt x="11606" y="1722868"/>
                    <a:pt x="7589" y="1721204"/>
                    <a:pt x="4626" y="1718242"/>
                  </a:cubicBezTo>
                  <a:cubicBezTo>
                    <a:pt x="1664" y="1715280"/>
                    <a:pt x="0" y="1711262"/>
                    <a:pt x="0" y="1707073"/>
                  </a:cubicBezTo>
                  <a:lnTo>
                    <a:pt x="0" y="15796"/>
                  </a:lnTo>
                  <a:cubicBezTo>
                    <a:pt x="0" y="11606"/>
                    <a:pt x="1664" y="7589"/>
                    <a:pt x="4626" y="4626"/>
                  </a:cubicBezTo>
                  <a:cubicBezTo>
                    <a:pt x="7589" y="1664"/>
                    <a:pt x="11606" y="0"/>
                    <a:pt x="15796" y="0"/>
                  </a:cubicBezTo>
                  <a:close/>
                </a:path>
              </a:pathLst>
            </a:custGeom>
            <a:solidFill>
              <a:srgbClr val="FFFFFF"/>
            </a:solidFill>
            <a:ln w="38100" cap="sq">
              <a:solidFill>
                <a:srgbClr val="000000"/>
              </a:solidFill>
              <a:prstDash val="lgDash"/>
              <a:miter/>
            </a:ln>
          </p:spPr>
        </p:sp>
        <p:sp>
          <p:nvSpPr>
            <p:cNvPr name="TextBox 9" id="9"/>
            <p:cNvSpPr txBox="true"/>
            <p:nvPr/>
          </p:nvSpPr>
          <p:spPr>
            <a:xfrm>
              <a:off x="0" y="-38100"/>
              <a:ext cx="1290867" cy="1760969"/>
            </a:xfrm>
            <a:prstGeom prst="rect">
              <a:avLst/>
            </a:prstGeom>
          </p:spPr>
          <p:txBody>
            <a:bodyPr anchor="ctr" rtlCol="false" tIns="50800" lIns="50800" bIns="50800" rIns="50800"/>
            <a:lstStyle/>
            <a:p>
              <a:pPr algn="l">
                <a:lnSpc>
                  <a:spcPts val="2800"/>
                </a:lnSpc>
              </a:pPr>
              <a:r>
                <a:rPr lang="en-US" sz="2000" spc="-74" b="true">
                  <a:solidFill>
                    <a:srgbClr val="000000"/>
                  </a:solidFill>
                  <a:latin typeface="Montserrat Bold"/>
                  <a:ea typeface="Montserrat Bold"/>
                  <a:cs typeface="Montserrat Bold"/>
                  <a:sym typeface="Montserrat Bold"/>
                </a:rPr>
                <a:t>Trực quan hóa kết quả kiểm thử tự động của dịch vụ quản lý nền tảng (SaaS Service) trên Allure Report</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16 bài test Quy trình khởi tạo Nhà hàng mới (Tenant Onboarding Saga)</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18 bài test Quản lý Gói cước &amp; Đăng ký sử dụng (Subscription, Pricing Plan)</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12 bài test Vòng đời &amp; Tạm khóa tài khoản nhà hàng (Tenant Lifecycle, Suspend)</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10 bài test Hóa đơn dịch vụ &amp; Webhook thanh toán (Invoice, Payment Webhook)</a:t>
              </a:r>
            </a:p>
            <a:p>
              <a:pPr algn="l" marL="431804" indent="-215902" lvl="1">
                <a:lnSpc>
                  <a:spcPts val="2800"/>
                </a:lnSpc>
                <a:buFont typeface="Arial"/>
                <a:buChar char="•"/>
              </a:pPr>
              <a:r>
                <a:rPr lang="en-US" sz="2000" spc="-74">
                  <a:solidFill>
                    <a:srgbClr val="000000"/>
                  </a:solidFill>
                  <a:latin typeface="Montserrat"/>
                  <a:ea typeface="Montserrat"/>
                  <a:cs typeface="Montserrat"/>
                  <a:sym typeface="Montserrat"/>
                </a:rPr>
                <a:t>4 bài test Cấu hình &amp; Trình xuất bản tin Outbox.</a:t>
              </a:r>
            </a:p>
            <a:p>
              <a:pPr algn="l">
                <a:lnSpc>
                  <a:spcPts val="2800"/>
                </a:lnSpc>
              </a:pPr>
            </a:p>
          </p:txBody>
        </p:sp>
      </p:grpSp>
      <p:sp>
        <p:nvSpPr>
          <p:cNvPr name="Freeform 10" id="10"/>
          <p:cNvSpPr/>
          <p:nvPr/>
        </p:nvSpPr>
        <p:spPr>
          <a:xfrm flipH="false" flipV="false" rot="0">
            <a:off x="6140250" y="2925210"/>
            <a:ext cx="5353770" cy="6479601"/>
          </a:xfrm>
          <a:custGeom>
            <a:avLst/>
            <a:gdLst/>
            <a:ahLst/>
            <a:cxnLst/>
            <a:rect r="r" b="b" t="t" l="l"/>
            <a:pathLst>
              <a:path h="6479601" w="5353770">
                <a:moveTo>
                  <a:pt x="0" y="0"/>
                </a:moveTo>
                <a:lnTo>
                  <a:pt x="5353770" y="0"/>
                </a:lnTo>
                <a:lnTo>
                  <a:pt x="5353770" y="6479601"/>
                </a:lnTo>
                <a:lnTo>
                  <a:pt x="0" y="6479601"/>
                </a:lnTo>
                <a:lnTo>
                  <a:pt x="0" y="0"/>
                </a:lnTo>
                <a:close/>
              </a:path>
            </a:pathLst>
          </a:custGeom>
          <a:blipFill>
            <a:blip r:embed="rId10"/>
            <a:stretch>
              <a:fillRect l="0" t="0" r="0" b="0"/>
            </a:stretch>
          </a:blipFill>
        </p:spPr>
      </p:sp>
      <p:sp>
        <p:nvSpPr>
          <p:cNvPr name="Freeform 11" id="11"/>
          <p:cNvSpPr/>
          <p:nvPr/>
        </p:nvSpPr>
        <p:spPr>
          <a:xfrm flipH="false" flipV="false" rot="0">
            <a:off x="11711915" y="2925210"/>
            <a:ext cx="5288974" cy="6479601"/>
          </a:xfrm>
          <a:custGeom>
            <a:avLst/>
            <a:gdLst/>
            <a:ahLst/>
            <a:cxnLst/>
            <a:rect r="r" b="b" t="t" l="l"/>
            <a:pathLst>
              <a:path h="6479601" w="5288974">
                <a:moveTo>
                  <a:pt x="0" y="0"/>
                </a:moveTo>
                <a:lnTo>
                  <a:pt x="5288974" y="0"/>
                </a:lnTo>
                <a:lnTo>
                  <a:pt x="5288974" y="6479601"/>
                </a:lnTo>
                <a:lnTo>
                  <a:pt x="0" y="6479601"/>
                </a:lnTo>
                <a:lnTo>
                  <a:pt x="0" y="0"/>
                </a:lnTo>
                <a:close/>
              </a:path>
            </a:pathLst>
          </a:custGeom>
          <a:blipFill>
            <a:blip r:embed="rId11"/>
            <a:stretch>
              <a:fillRect l="0" t="0" r="0" b="0"/>
            </a:stretch>
          </a:blipFill>
        </p:spPr>
      </p:sp>
      <p:sp>
        <p:nvSpPr>
          <p:cNvPr name="TextBox 12" id="12"/>
          <p:cNvSpPr txBox="true"/>
          <p:nvPr/>
        </p:nvSpPr>
        <p:spPr>
          <a:xfrm rot="0">
            <a:off x="1028700" y="1265381"/>
            <a:ext cx="14461408" cy="110807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K</a:t>
            </a:r>
            <a:r>
              <a:rPr lang="en-US" b="true" sz="3999" spc="-147" strike="noStrike" u="none">
                <a:solidFill>
                  <a:srgbClr val="000101"/>
                </a:solidFill>
                <a:latin typeface="Montserrat Ultra-Bold"/>
                <a:ea typeface="Montserrat Ultra-Bold"/>
                <a:cs typeface="Montserrat Ultra-Bold"/>
                <a:sym typeface="Montserrat Ultra-Bold"/>
              </a:rPr>
              <a:t>IỂM THỬ SAAS SERVICE &amp; TRỰC QUAN HÓA QUA ALLURE REPORT</a:t>
            </a:r>
          </a:p>
        </p:txBody>
      </p:sp>
      <p:sp>
        <p:nvSpPr>
          <p:cNvPr name="TextBox 13" id="13"/>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4" id="14"/>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32</a:t>
            </a:r>
          </a:p>
        </p:txBody>
      </p:sp>
      <p:grpSp>
        <p:nvGrpSpPr>
          <p:cNvPr name="Group 15" id="15"/>
          <p:cNvGrpSpPr/>
          <p:nvPr/>
        </p:nvGrpSpPr>
        <p:grpSpPr>
          <a:xfrm rot="-131315">
            <a:off x="1008096" y="9695400"/>
            <a:ext cx="4566539" cy="346177"/>
            <a:chOff x="0" y="0"/>
            <a:chExt cx="3857979" cy="292463"/>
          </a:xfrm>
        </p:grpSpPr>
        <p:sp>
          <p:nvSpPr>
            <p:cNvPr name="Freeform 16" id="16"/>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7" id="17"/>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8" id="18"/>
          <p:cNvGrpSpPr/>
          <p:nvPr/>
        </p:nvGrpSpPr>
        <p:grpSpPr>
          <a:xfrm rot="-131315">
            <a:off x="932793" y="9664429"/>
            <a:ext cx="4566539" cy="346177"/>
            <a:chOff x="0" y="0"/>
            <a:chExt cx="3857979" cy="292463"/>
          </a:xfrm>
        </p:grpSpPr>
        <p:sp>
          <p:nvSpPr>
            <p:cNvPr name="Freeform 19" id="19"/>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20" id="20"/>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6338094" y="9372114"/>
            <a:ext cx="2762645" cy="2739097"/>
          </a:xfrm>
          <a:custGeom>
            <a:avLst/>
            <a:gdLst/>
            <a:ahLst/>
            <a:cxnLst/>
            <a:rect r="r" b="b" t="t" l="l"/>
            <a:pathLst>
              <a:path h="2739097" w="2762645">
                <a:moveTo>
                  <a:pt x="448307" y="0"/>
                </a:moveTo>
                <a:lnTo>
                  <a:pt x="2762645" y="454055"/>
                </a:lnTo>
                <a:lnTo>
                  <a:pt x="2314337" y="2739097"/>
                </a:lnTo>
                <a:lnTo>
                  <a:pt x="0" y="2285042"/>
                </a:lnTo>
                <a:lnTo>
                  <a:pt x="448307" y="0"/>
                </a:lnTo>
                <a:close/>
              </a:path>
            </a:pathLst>
          </a:custGeom>
          <a:blipFill>
            <a:blip r:embed="rId4"/>
            <a:stretch>
              <a:fillRect l="-209" t="0" r="-209" b="0"/>
            </a:stretch>
          </a:blipFill>
        </p:spPr>
      </p:sp>
      <p:sp>
        <p:nvSpPr>
          <p:cNvPr name="Freeform 4" id="4"/>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62504">
            <a:off x="14451176" y="9610618"/>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9"/>
            <a:stretch>
              <a:fillRect l="0" t="0" r="0" b="0"/>
            </a:stretch>
          </a:blipFill>
        </p:spPr>
      </p:sp>
      <p:sp>
        <p:nvSpPr>
          <p:cNvPr name="Freeform 7" id="7"/>
          <p:cNvSpPr/>
          <p:nvPr/>
        </p:nvSpPr>
        <p:spPr>
          <a:xfrm flipH="false" flipV="false" rot="0">
            <a:off x="5799641" y="2356726"/>
            <a:ext cx="11478709" cy="6901574"/>
          </a:xfrm>
          <a:custGeom>
            <a:avLst/>
            <a:gdLst/>
            <a:ahLst/>
            <a:cxnLst/>
            <a:rect r="r" b="b" t="t" l="l"/>
            <a:pathLst>
              <a:path h="6901574" w="11478709">
                <a:moveTo>
                  <a:pt x="0" y="0"/>
                </a:moveTo>
                <a:lnTo>
                  <a:pt x="11478709" y="0"/>
                </a:lnTo>
                <a:lnTo>
                  <a:pt x="11478709" y="6901574"/>
                </a:lnTo>
                <a:lnTo>
                  <a:pt x="0" y="6901574"/>
                </a:lnTo>
                <a:lnTo>
                  <a:pt x="0" y="0"/>
                </a:lnTo>
                <a:close/>
              </a:path>
            </a:pathLst>
          </a:custGeom>
          <a:blipFill>
            <a:blip r:embed="rId10"/>
            <a:stretch>
              <a:fillRect l="0" t="0" r="0" b="0"/>
            </a:stretch>
          </a:blipFill>
        </p:spPr>
      </p:sp>
      <p:sp>
        <p:nvSpPr>
          <p:cNvPr name="TextBox 8" id="8"/>
          <p:cNvSpPr txBox="true"/>
          <p:nvPr/>
        </p:nvSpPr>
        <p:spPr>
          <a:xfrm rot="0">
            <a:off x="1028700" y="1265381"/>
            <a:ext cx="14461408" cy="555625"/>
          </a:xfrm>
          <a:prstGeom prst="rect">
            <a:avLst/>
          </a:prstGeom>
        </p:spPr>
        <p:txBody>
          <a:bodyPr anchor="t" rtlCol="false" tIns="0" lIns="0" bIns="0" rIns="0">
            <a:spAutoFit/>
          </a:bodyPr>
          <a:lstStyle/>
          <a:p>
            <a:pPr algn="l" marL="0" indent="0" lvl="0">
              <a:lnSpc>
                <a:spcPts val="4399"/>
              </a:lnSpc>
            </a:pPr>
            <a:r>
              <a:rPr lang="en-US" b="true" sz="3999" spc="-147" strike="noStrike" u="none">
                <a:solidFill>
                  <a:srgbClr val="000101"/>
                </a:solidFill>
                <a:latin typeface="Montserrat Ultra-Bold"/>
                <a:ea typeface="Montserrat Ultra-Bold"/>
                <a:cs typeface="Montserrat Ultra-Bold"/>
                <a:sym typeface="Montserrat Ultra-Bold"/>
              </a:rPr>
              <a:t>VẬN HÀNH VÀ THEO DÕI KAFKA SLUSTER QUA KAFKIO</a:t>
            </a:r>
          </a:p>
        </p:txBody>
      </p:sp>
      <p:sp>
        <p:nvSpPr>
          <p:cNvPr name="TextBox 9" id="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0" id="10"/>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33</a:t>
            </a:r>
          </a:p>
        </p:txBody>
      </p:sp>
      <p:sp>
        <p:nvSpPr>
          <p:cNvPr name="TextBox 11" id="11"/>
          <p:cNvSpPr txBox="true"/>
          <p:nvPr/>
        </p:nvSpPr>
        <p:spPr>
          <a:xfrm rot="0">
            <a:off x="1149135" y="2309101"/>
            <a:ext cx="3972989" cy="1553052"/>
          </a:xfrm>
          <a:prstGeom prst="rect">
            <a:avLst/>
          </a:prstGeom>
        </p:spPr>
        <p:txBody>
          <a:bodyPr anchor="t" rtlCol="false" tIns="0" lIns="0" bIns="0" rIns="0">
            <a:spAutoFit/>
          </a:bodyPr>
          <a:lstStyle/>
          <a:p>
            <a:pPr algn="l">
              <a:lnSpc>
                <a:spcPts val="3123"/>
              </a:lnSpc>
              <a:spcBef>
                <a:spcPct val="0"/>
              </a:spcBef>
            </a:pPr>
            <a:r>
              <a:rPr lang="en-US" b="true" sz="2231" spc="-82">
                <a:solidFill>
                  <a:srgbClr val="000000"/>
                </a:solidFill>
                <a:latin typeface="Montserrat Bold"/>
                <a:ea typeface="Montserrat Bold"/>
                <a:cs typeface="Montserrat Bold"/>
                <a:sym typeface="Montserrat Bold"/>
              </a:rPr>
              <a:t>Giám sát</a:t>
            </a:r>
            <a:r>
              <a:rPr lang="en-US" b="true" sz="2231" spc="-82">
                <a:solidFill>
                  <a:srgbClr val="000000"/>
                </a:solidFill>
                <a:latin typeface="Montserrat Bold"/>
                <a:ea typeface="Montserrat Bold"/>
                <a:cs typeface="Montserrat Bold"/>
                <a:sym typeface="Montserrat Bold"/>
              </a:rPr>
              <a:t> dòng sự kiện bất đồng bộ (Event Streaming) của Kafka Cluster bằng Kafkio</a:t>
            </a:r>
          </a:p>
        </p:txBody>
      </p:sp>
      <p:grpSp>
        <p:nvGrpSpPr>
          <p:cNvPr name="Group 12" id="12"/>
          <p:cNvGrpSpPr/>
          <p:nvPr/>
        </p:nvGrpSpPr>
        <p:grpSpPr>
          <a:xfrm rot="-131315">
            <a:off x="1008096" y="9695400"/>
            <a:ext cx="4566539" cy="346177"/>
            <a:chOff x="0" y="0"/>
            <a:chExt cx="3857979" cy="292463"/>
          </a:xfrm>
        </p:grpSpPr>
        <p:sp>
          <p:nvSpPr>
            <p:cNvPr name="Freeform 13" id="13"/>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4" id="14"/>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5" id="15"/>
          <p:cNvGrpSpPr/>
          <p:nvPr/>
        </p:nvGrpSpPr>
        <p:grpSpPr>
          <a:xfrm rot="-131315">
            <a:off x="932793" y="9664429"/>
            <a:ext cx="4566539" cy="346177"/>
            <a:chOff x="0" y="0"/>
            <a:chExt cx="3857979" cy="292463"/>
          </a:xfrm>
        </p:grpSpPr>
        <p:sp>
          <p:nvSpPr>
            <p:cNvPr name="Freeform 16" id="16"/>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7" id="17"/>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false" flipV="false" rot="-666000">
            <a:off x="16338094" y="9199564"/>
            <a:ext cx="2762645" cy="2739097"/>
          </a:xfrm>
          <a:custGeom>
            <a:avLst/>
            <a:gdLst/>
            <a:ahLst/>
            <a:cxnLst/>
            <a:rect r="r" b="b" t="t" l="l"/>
            <a:pathLst>
              <a:path h="2739097" w="2762645">
                <a:moveTo>
                  <a:pt x="448307" y="0"/>
                </a:moveTo>
                <a:lnTo>
                  <a:pt x="2762645" y="454055"/>
                </a:lnTo>
                <a:lnTo>
                  <a:pt x="2314337" y="2739098"/>
                </a:lnTo>
                <a:lnTo>
                  <a:pt x="0" y="2285043"/>
                </a:lnTo>
                <a:lnTo>
                  <a:pt x="448307" y="0"/>
                </a:lnTo>
                <a:close/>
              </a:path>
            </a:pathLst>
          </a:custGeom>
          <a:blipFill>
            <a:blip r:embed="rId4"/>
            <a:stretch>
              <a:fillRect l="-209" t="0" r="-209" b="0"/>
            </a:stretch>
          </a:blipFill>
        </p:spPr>
      </p:sp>
      <p:sp>
        <p:nvSpPr>
          <p:cNvPr name="Freeform 4" id="4"/>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762504">
            <a:off x="14451176" y="9610618"/>
            <a:ext cx="2410664" cy="4845555"/>
          </a:xfrm>
          <a:custGeom>
            <a:avLst/>
            <a:gdLst/>
            <a:ahLst/>
            <a:cxnLst/>
            <a:rect r="r" b="b" t="t" l="l"/>
            <a:pathLst>
              <a:path h="4845555" w="2410664">
                <a:moveTo>
                  <a:pt x="0" y="0"/>
                </a:moveTo>
                <a:lnTo>
                  <a:pt x="2410664" y="0"/>
                </a:lnTo>
                <a:lnTo>
                  <a:pt x="2410664" y="4845556"/>
                </a:lnTo>
                <a:lnTo>
                  <a:pt x="0" y="4845556"/>
                </a:lnTo>
                <a:lnTo>
                  <a:pt x="0" y="0"/>
                </a:lnTo>
                <a:close/>
              </a:path>
            </a:pathLst>
          </a:custGeom>
          <a:blipFill>
            <a:blip r:embed="rId9"/>
            <a:stretch>
              <a:fillRect l="0" t="0" r="0" b="0"/>
            </a:stretch>
          </a:blipFill>
        </p:spPr>
      </p:sp>
      <p:sp>
        <p:nvSpPr>
          <p:cNvPr name="Freeform 7" id="7"/>
          <p:cNvSpPr/>
          <p:nvPr/>
        </p:nvSpPr>
        <p:spPr>
          <a:xfrm flipH="false" flipV="false" rot="0">
            <a:off x="5397979" y="2540752"/>
            <a:ext cx="11861321" cy="6538553"/>
          </a:xfrm>
          <a:custGeom>
            <a:avLst/>
            <a:gdLst/>
            <a:ahLst/>
            <a:cxnLst/>
            <a:rect r="r" b="b" t="t" l="l"/>
            <a:pathLst>
              <a:path h="6538553" w="11861321">
                <a:moveTo>
                  <a:pt x="0" y="0"/>
                </a:moveTo>
                <a:lnTo>
                  <a:pt x="11861321" y="0"/>
                </a:lnTo>
                <a:lnTo>
                  <a:pt x="11861321" y="6538553"/>
                </a:lnTo>
                <a:lnTo>
                  <a:pt x="0" y="6538553"/>
                </a:lnTo>
                <a:lnTo>
                  <a:pt x="0" y="0"/>
                </a:lnTo>
                <a:close/>
              </a:path>
            </a:pathLst>
          </a:custGeom>
          <a:blipFill>
            <a:blip r:embed="rId10"/>
            <a:stretch>
              <a:fillRect l="0" t="0" r="0" b="0"/>
            </a:stretch>
          </a:blipFill>
        </p:spPr>
      </p:sp>
      <p:sp>
        <p:nvSpPr>
          <p:cNvPr name="TextBox 8" id="8"/>
          <p:cNvSpPr txBox="true"/>
          <p:nvPr/>
        </p:nvSpPr>
        <p:spPr>
          <a:xfrm rot="0">
            <a:off x="1028700" y="1265381"/>
            <a:ext cx="14461408" cy="1108075"/>
          </a:xfrm>
          <a:prstGeom prst="rect">
            <a:avLst/>
          </a:prstGeom>
        </p:spPr>
        <p:txBody>
          <a:bodyPr anchor="t" rtlCol="false" tIns="0" lIns="0" bIns="0" rIns="0">
            <a:spAutoFit/>
          </a:bodyPr>
          <a:lstStyle/>
          <a:p>
            <a:pPr algn="l" marL="0" indent="0" lvl="0">
              <a:lnSpc>
                <a:spcPts val="4399"/>
              </a:lnSpc>
            </a:pPr>
            <a:r>
              <a:rPr lang="en-US" b="true" sz="3999" spc="-147" strike="noStrike" u="none">
                <a:solidFill>
                  <a:srgbClr val="000101"/>
                </a:solidFill>
                <a:latin typeface="Montserrat Ultra-Bold"/>
                <a:ea typeface="Montserrat Ultra-Bold"/>
                <a:cs typeface="Montserrat Ultra-Bold"/>
                <a:sym typeface="Montserrat Ultra-Bold"/>
              </a:rPr>
              <a:t>VẬN HÀNH VÀ THEO DÕI DỮ LIỆU REDIS QUA REDIS INSIGHT</a:t>
            </a:r>
          </a:p>
        </p:txBody>
      </p:sp>
      <p:sp>
        <p:nvSpPr>
          <p:cNvPr name="TextBox 9" id="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0" id="10"/>
          <p:cNvSpPr txBox="true"/>
          <p:nvPr/>
        </p:nvSpPr>
        <p:spPr>
          <a:xfrm rot="0">
            <a:off x="333018"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34</a:t>
            </a:r>
          </a:p>
        </p:txBody>
      </p:sp>
      <p:sp>
        <p:nvSpPr>
          <p:cNvPr name="TextBox 11" id="11"/>
          <p:cNvSpPr txBox="true"/>
          <p:nvPr/>
        </p:nvSpPr>
        <p:spPr>
          <a:xfrm rot="0">
            <a:off x="927848" y="2493127"/>
            <a:ext cx="3972989" cy="3115152"/>
          </a:xfrm>
          <a:prstGeom prst="rect">
            <a:avLst/>
          </a:prstGeom>
        </p:spPr>
        <p:txBody>
          <a:bodyPr anchor="t" rtlCol="false" tIns="0" lIns="0" bIns="0" rIns="0">
            <a:spAutoFit/>
          </a:bodyPr>
          <a:lstStyle/>
          <a:p>
            <a:pPr algn="l">
              <a:lnSpc>
                <a:spcPts val="3123"/>
              </a:lnSpc>
              <a:spcBef>
                <a:spcPct val="0"/>
              </a:spcBef>
            </a:pPr>
            <a:r>
              <a:rPr lang="en-US" b="true" sz="2231" spc="-82">
                <a:solidFill>
                  <a:srgbClr val="000000"/>
                </a:solidFill>
                <a:latin typeface="Montserrat Bold"/>
                <a:ea typeface="Montserrat Bold"/>
                <a:cs typeface="Montserrat Bold"/>
                <a:sym typeface="Montserrat Bold"/>
              </a:rPr>
              <a:t>Trực quan hóa cấu trúc bộ nhớ tạm (In-memory DB) trên Redis, quản lý vận hành của dịch vụ bếp (KDS) không dùng CSDL quan hệ và cơ chế cô lập phiên đặt món (QR Session) giữa các Tenant</a:t>
            </a:r>
          </a:p>
        </p:txBody>
      </p:sp>
      <p:grpSp>
        <p:nvGrpSpPr>
          <p:cNvPr name="Group 12" id="12"/>
          <p:cNvGrpSpPr/>
          <p:nvPr/>
        </p:nvGrpSpPr>
        <p:grpSpPr>
          <a:xfrm rot="-131315">
            <a:off x="1008096" y="9695400"/>
            <a:ext cx="4566539" cy="346177"/>
            <a:chOff x="0" y="0"/>
            <a:chExt cx="3857979" cy="292463"/>
          </a:xfrm>
        </p:grpSpPr>
        <p:sp>
          <p:nvSpPr>
            <p:cNvPr name="Freeform 13" id="13"/>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4" id="14"/>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5" id="15"/>
          <p:cNvGrpSpPr/>
          <p:nvPr/>
        </p:nvGrpSpPr>
        <p:grpSpPr>
          <a:xfrm rot="-131315">
            <a:off x="932793" y="9664429"/>
            <a:ext cx="4566539" cy="346177"/>
            <a:chOff x="0" y="0"/>
            <a:chExt cx="3857979" cy="292463"/>
          </a:xfrm>
        </p:grpSpPr>
        <p:sp>
          <p:nvSpPr>
            <p:cNvPr name="Freeform 16" id="16"/>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7" id="17"/>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Freeform 6" id="6"/>
          <p:cNvSpPr/>
          <p:nvPr/>
        </p:nvSpPr>
        <p:spPr>
          <a:xfrm flipH="false" flipV="false" rot="-762504">
            <a:off x="14693774" y="8848414"/>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9"/>
            <a:stretch>
              <a:fillRect l="0" t="0" r="0" b="0"/>
            </a:stretch>
          </a:blipFill>
        </p:spPr>
      </p:sp>
      <p:sp>
        <p:nvSpPr>
          <p:cNvPr name="Freeform 7" id="7"/>
          <p:cNvSpPr/>
          <p:nvPr/>
        </p:nvSpPr>
        <p:spPr>
          <a:xfrm flipH="false" flipV="false" rot="0">
            <a:off x="3737417" y="2236500"/>
            <a:ext cx="10813167" cy="7021800"/>
          </a:xfrm>
          <a:custGeom>
            <a:avLst/>
            <a:gdLst/>
            <a:ahLst/>
            <a:cxnLst/>
            <a:rect r="r" b="b" t="t" l="l"/>
            <a:pathLst>
              <a:path h="7021800" w="10813167">
                <a:moveTo>
                  <a:pt x="0" y="0"/>
                </a:moveTo>
                <a:lnTo>
                  <a:pt x="10813166" y="0"/>
                </a:lnTo>
                <a:lnTo>
                  <a:pt x="10813166" y="7021800"/>
                </a:lnTo>
                <a:lnTo>
                  <a:pt x="0" y="7021800"/>
                </a:lnTo>
                <a:lnTo>
                  <a:pt x="0" y="0"/>
                </a:lnTo>
                <a:close/>
              </a:path>
            </a:pathLst>
          </a:custGeom>
          <a:blipFill>
            <a:blip r:embed="rId10"/>
            <a:stretch>
              <a:fillRect l="0" t="0" r="0" b="0"/>
            </a:stretch>
          </a:blipFill>
        </p:spPr>
      </p:sp>
      <p:sp>
        <p:nvSpPr>
          <p:cNvPr name="TextBox 8" id="8"/>
          <p:cNvSpPr txBox="true"/>
          <p:nvPr/>
        </p:nvSpPr>
        <p:spPr>
          <a:xfrm rot="0">
            <a:off x="1028700" y="1265381"/>
            <a:ext cx="5489602"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DEMO SẢN PHẨM</a:t>
            </a:r>
          </a:p>
        </p:txBody>
      </p:sp>
      <p:sp>
        <p:nvSpPr>
          <p:cNvPr name="TextBox 9" id="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
        <p:nvSpPr>
          <p:cNvPr name="TextBox 10" id="10"/>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35</a:t>
            </a:r>
          </a:p>
        </p:txBody>
      </p:sp>
      <p:grpSp>
        <p:nvGrpSpPr>
          <p:cNvPr name="Group 11" id="11"/>
          <p:cNvGrpSpPr/>
          <p:nvPr/>
        </p:nvGrpSpPr>
        <p:grpSpPr>
          <a:xfrm rot="-131315">
            <a:off x="1008096" y="9695400"/>
            <a:ext cx="4566539" cy="346177"/>
            <a:chOff x="0" y="0"/>
            <a:chExt cx="3857979" cy="292463"/>
          </a:xfrm>
        </p:grpSpPr>
        <p:sp>
          <p:nvSpPr>
            <p:cNvPr name="Freeform 12" id="12"/>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13" id="13"/>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14" id="14"/>
          <p:cNvGrpSpPr/>
          <p:nvPr/>
        </p:nvGrpSpPr>
        <p:grpSpPr>
          <a:xfrm rot="-131315">
            <a:off x="932793" y="9664429"/>
            <a:ext cx="4566539" cy="346177"/>
            <a:chOff x="0" y="0"/>
            <a:chExt cx="3857979" cy="292463"/>
          </a:xfrm>
        </p:grpSpPr>
        <p:sp>
          <p:nvSpPr>
            <p:cNvPr name="Freeform 15" id="15"/>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16" id="16"/>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17" id="17"/>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sp>
        <p:nvSpPr>
          <p:cNvPr name="Freeform 2" id="2"/>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3"/>
            <a:stretch>
              <a:fillRect l="0" t="0" r="0" b="0"/>
            </a:stretch>
          </a:blipFill>
        </p:spPr>
      </p:sp>
      <p:sp>
        <p:nvSpPr>
          <p:cNvPr name="Freeform 3" id="3"/>
          <p:cNvSpPr/>
          <p:nvPr/>
        </p:nvSpPr>
        <p:spPr>
          <a:xfrm flipH="true" flipV="false" rot="1528991">
            <a:off x="16779071" y="-201268"/>
            <a:ext cx="1880690" cy="2137148"/>
          </a:xfrm>
          <a:custGeom>
            <a:avLst/>
            <a:gdLst/>
            <a:ahLst/>
            <a:cxnLst/>
            <a:rect r="r" b="b" t="t" l="l"/>
            <a:pathLst>
              <a:path h="2137148" w="1880690">
                <a:moveTo>
                  <a:pt x="1880690" y="0"/>
                </a:moveTo>
                <a:lnTo>
                  <a:pt x="0" y="0"/>
                </a:lnTo>
                <a:lnTo>
                  <a:pt x="0" y="2137148"/>
                </a:lnTo>
                <a:lnTo>
                  <a:pt x="1880690" y="2137148"/>
                </a:lnTo>
                <a:lnTo>
                  <a:pt x="18806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418743">
            <a:off x="14903408" y="-602359"/>
            <a:ext cx="1714328" cy="1980841"/>
          </a:xfrm>
          <a:custGeom>
            <a:avLst/>
            <a:gdLst/>
            <a:ahLst/>
            <a:cxnLst/>
            <a:rect r="r" b="b" t="t" l="l"/>
            <a:pathLst>
              <a:path h="1980841" w="1714328">
                <a:moveTo>
                  <a:pt x="0" y="0"/>
                </a:moveTo>
                <a:lnTo>
                  <a:pt x="1714328" y="0"/>
                </a:lnTo>
                <a:lnTo>
                  <a:pt x="1714328" y="1980841"/>
                </a:lnTo>
                <a:lnTo>
                  <a:pt x="0" y="19808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6000">
            <a:off x="16654936" y="8759097"/>
            <a:ext cx="2762645" cy="2739097"/>
          </a:xfrm>
          <a:custGeom>
            <a:avLst/>
            <a:gdLst/>
            <a:ahLst/>
            <a:cxnLst/>
            <a:rect r="r" b="b" t="t" l="l"/>
            <a:pathLst>
              <a:path h="2739097" w="2762645">
                <a:moveTo>
                  <a:pt x="448308" y="0"/>
                </a:moveTo>
                <a:lnTo>
                  <a:pt x="2762645" y="454055"/>
                </a:lnTo>
                <a:lnTo>
                  <a:pt x="2314338" y="2739098"/>
                </a:lnTo>
                <a:lnTo>
                  <a:pt x="0" y="2285043"/>
                </a:lnTo>
                <a:lnTo>
                  <a:pt x="448308" y="0"/>
                </a:lnTo>
                <a:close/>
              </a:path>
            </a:pathLst>
          </a:custGeom>
          <a:blipFill>
            <a:blip r:embed="rId8"/>
            <a:stretch>
              <a:fillRect l="-209" t="0" r="-209" b="0"/>
            </a:stretch>
          </a:blipFill>
        </p:spPr>
      </p:sp>
      <p:sp>
        <p:nvSpPr>
          <p:cNvPr name="TextBox 6" id="6"/>
          <p:cNvSpPr txBox="true"/>
          <p:nvPr/>
        </p:nvSpPr>
        <p:spPr>
          <a:xfrm rot="0">
            <a:off x="1028700" y="1265381"/>
            <a:ext cx="13599916" cy="555625"/>
          </a:xfrm>
          <a:prstGeom prst="rect">
            <a:avLst/>
          </a:prstGeom>
        </p:spPr>
        <p:txBody>
          <a:bodyPr anchor="t" rtlCol="false" tIns="0" lIns="0" bIns="0" rIns="0">
            <a:spAutoFit/>
          </a:bodyPr>
          <a:lstStyle/>
          <a:p>
            <a:pPr algn="l" marL="0" indent="0" lvl="0">
              <a:lnSpc>
                <a:spcPts val="4399"/>
              </a:lnSpc>
            </a:pPr>
            <a:r>
              <a:rPr lang="en-US" b="true" sz="3999" spc="-147">
                <a:solidFill>
                  <a:srgbClr val="000101"/>
                </a:solidFill>
                <a:latin typeface="Montserrat Ultra-Bold"/>
                <a:ea typeface="Montserrat Ultra-Bold"/>
                <a:cs typeface="Montserrat Ultra-Bold"/>
                <a:sym typeface="Montserrat Ultra-Bold"/>
              </a:rPr>
              <a:t>KẾT LUẬN VÀ</a:t>
            </a:r>
            <a:r>
              <a:rPr lang="en-US" b="true" sz="3999" spc="-147" strike="noStrike" u="none">
                <a:solidFill>
                  <a:srgbClr val="000101"/>
                </a:solidFill>
                <a:latin typeface="Montserrat Ultra-Bold"/>
                <a:ea typeface="Montserrat Ultra-Bold"/>
                <a:cs typeface="Montserrat Ultra-Bold"/>
                <a:sym typeface="Montserrat Ultra-Bold"/>
              </a:rPr>
              <a:t> HƯỚNG PHÁT TRIỂN CỦA QRTABLE</a:t>
            </a:r>
          </a:p>
        </p:txBody>
      </p:sp>
      <p:sp>
        <p:nvSpPr>
          <p:cNvPr name="TextBox 7" id="7"/>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grpSp>
        <p:nvGrpSpPr>
          <p:cNvPr name="Group 8" id="8"/>
          <p:cNvGrpSpPr/>
          <p:nvPr/>
        </p:nvGrpSpPr>
        <p:grpSpPr>
          <a:xfrm rot="0">
            <a:off x="1216599" y="3367654"/>
            <a:ext cx="7459620" cy="4143798"/>
            <a:chOff x="0" y="0"/>
            <a:chExt cx="2471912" cy="1373140"/>
          </a:xfrm>
        </p:grpSpPr>
        <p:sp>
          <p:nvSpPr>
            <p:cNvPr name="Freeform 9" id="9"/>
            <p:cNvSpPr/>
            <p:nvPr/>
          </p:nvSpPr>
          <p:spPr>
            <a:xfrm flipH="false" flipV="false" rot="0">
              <a:off x="0" y="0"/>
              <a:ext cx="2471912" cy="1373140"/>
            </a:xfrm>
            <a:custGeom>
              <a:avLst/>
              <a:gdLst/>
              <a:ahLst/>
              <a:cxnLst/>
              <a:rect r="r" b="b" t="t" l="l"/>
              <a:pathLst>
                <a:path h="1373140" w="2471912">
                  <a:moveTo>
                    <a:pt x="15568" y="0"/>
                  </a:moveTo>
                  <a:lnTo>
                    <a:pt x="2456345" y="0"/>
                  </a:lnTo>
                  <a:cubicBezTo>
                    <a:pt x="2460473" y="0"/>
                    <a:pt x="2464433" y="1640"/>
                    <a:pt x="2467353" y="4560"/>
                  </a:cubicBezTo>
                  <a:cubicBezTo>
                    <a:pt x="2470272" y="7479"/>
                    <a:pt x="2471912" y="11439"/>
                    <a:pt x="2471912" y="15568"/>
                  </a:cubicBezTo>
                  <a:lnTo>
                    <a:pt x="2471912" y="1357573"/>
                  </a:lnTo>
                  <a:cubicBezTo>
                    <a:pt x="2471912" y="1366170"/>
                    <a:pt x="2464942" y="1373140"/>
                    <a:pt x="2456345" y="1373140"/>
                  </a:cubicBezTo>
                  <a:lnTo>
                    <a:pt x="15568" y="1373140"/>
                  </a:lnTo>
                  <a:cubicBezTo>
                    <a:pt x="11439" y="1373140"/>
                    <a:pt x="7479" y="1371500"/>
                    <a:pt x="4560" y="1368581"/>
                  </a:cubicBezTo>
                  <a:cubicBezTo>
                    <a:pt x="1640" y="1365661"/>
                    <a:pt x="0" y="1361701"/>
                    <a:pt x="0" y="1357573"/>
                  </a:cubicBezTo>
                  <a:lnTo>
                    <a:pt x="0" y="15568"/>
                  </a:lnTo>
                  <a:cubicBezTo>
                    <a:pt x="0" y="11439"/>
                    <a:pt x="1640" y="7479"/>
                    <a:pt x="4560" y="4560"/>
                  </a:cubicBezTo>
                  <a:cubicBezTo>
                    <a:pt x="7479" y="1640"/>
                    <a:pt x="11439" y="0"/>
                    <a:pt x="15568" y="0"/>
                  </a:cubicBezTo>
                  <a:close/>
                </a:path>
              </a:pathLst>
            </a:custGeom>
            <a:solidFill>
              <a:srgbClr val="22D3EE"/>
            </a:solidFill>
          </p:spPr>
        </p:sp>
        <p:sp>
          <p:nvSpPr>
            <p:cNvPr name="TextBox 10" id="10"/>
            <p:cNvSpPr txBox="true"/>
            <p:nvPr/>
          </p:nvSpPr>
          <p:spPr>
            <a:xfrm>
              <a:off x="0" y="-47625"/>
              <a:ext cx="2471912" cy="1420765"/>
            </a:xfrm>
            <a:prstGeom prst="rect">
              <a:avLst/>
            </a:prstGeom>
          </p:spPr>
          <p:txBody>
            <a:bodyPr anchor="ctr" rtlCol="false" tIns="50800" lIns="50800" bIns="50800" rIns="50800"/>
            <a:lstStyle/>
            <a:p>
              <a:pPr algn="ctr">
                <a:lnSpc>
                  <a:spcPts val="3500"/>
                </a:lnSpc>
              </a:pPr>
            </a:p>
          </p:txBody>
        </p:sp>
      </p:grpSp>
      <p:sp>
        <p:nvSpPr>
          <p:cNvPr name="TextBox 11" id="11"/>
          <p:cNvSpPr txBox="true"/>
          <p:nvPr/>
        </p:nvSpPr>
        <p:spPr>
          <a:xfrm rot="0">
            <a:off x="1413548" y="4228929"/>
            <a:ext cx="7008641" cy="2806700"/>
          </a:xfrm>
          <a:prstGeom prst="rect">
            <a:avLst/>
          </a:prstGeom>
        </p:spPr>
        <p:txBody>
          <a:bodyPr anchor="t" rtlCol="false" tIns="0" lIns="0" bIns="0" rIns="0">
            <a:spAutoFit/>
          </a:bodyPr>
          <a:lstStyle/>
          <a:p>
            <a:pPr algn="l">
              <a:lnSpc>
                <a:spcPts val="2800"/>
              </a:lnSpc>
            </a:pPr>
            <a:r>
              <a:rPr lang="en-US" sz="2000" spc="-74" b="true">
                <a:solidFill>
                  <a:srgbClr val="000101"/>
                </a:solidFill>
                <a:latin typeface="Montserrat Bold"/>
                <a:ea typeface="Montserrat Bold"/>
                <a:cs typeface="Montserrat Bold"/>
                <a:sym typeface="Montserrat Bold"/>
              </a:rPr>
              <a:t>- Đã hiệ</a:t>
            </a:r>
            <a:r>
              <a:rPr lang="en-US" sz="2000" spc="-74" b="true">
                <a:solidFill>
                  <a:srgbClr val="000101"/>
                </a:solidFill>
                <a:latin typeface="Montserrat Bold"/>
                <a:ea typeface="Montserrat Bold"/>
                <a:cs typeface="Montserrat Bold"/>
                <a:sym typeface="Montserrat Bold"/>
              </a:rPr>
              <a:t>n thực luồng POS theo mô hình SaaS từ QR đến thanh toán</a:t>
            </a:r>
          </a:p>
          <a:p>
            <a:pPr algn="l">
              <a:lnSpc>
                <a:spcPts val="2800"/>
              </a:lnSpc>
            </a:pPr>
          </a:p>
          <a:p>
            <a:pPr algn="l">
              <a:lnSpc>
                <a:spcPts val="2800"/>
              </a:lnSpc>
            </a:pPr>
            <a:r>
              <a:rPr lang="en-US" sz="2000" spc="-74" b="true">
                <a:solidFill>
                  <a:srgbClr val="000101"/>
                </a:solidFill>
                <a:latin typeface="Montserrat Bold"/>
                <a:ea typeface="Montserrat Bold"/>
                <a:cs typeface="Montserrat Bold"/>
                <a:sym typeface="Montserrat Bold"/>
              </a:rPr>
              <a:t>- Đã xác lập ranh giới dịch vụ, quyền sở hữu dữ liệu, cô lập tenant và kiểm soát truy cập</a:t>
            </a:r>
          </a:p>
          <a:p>
            <a:pPr algn="l">
              <a:lnSpc>
                <a:spcPts val="2800"/>
              </a:lnSpc>
            </a:pPr>
          </a:p>
          <a:p>
            <a:pPr algn="l">
              <a:lnSpc>
                <a:spcPts val="2800"/>
              </a:lnSpc>
              <a:spcBef>
                <a:spcPct val="0"/>
              </a:spcBef>
            </a:pPr>
            <a:r>
              <a:rPr lang="en-US" b="true" sz="2000" spc="-74">
                <a:solidFill>
                  <a:srgbClr val="000101"/>
                </a:solidFill>
                <a:latin typeface="Montserrat Bold"/>
                <a:ea typeface="Montserrat Bold"/>
                <a:cs typeface="Montserrat Bold"/>
                <a:sym typeface="Montserrat Bold"/>
              </a:rPr>
              <a:t>- Đã hiện thực các cơ chế trọng tâm: nhất quán, Saga, KDS realtime, thanh toán và bộ bằng chứng đa lớp</a:t>
            </a:r>
          </a:p>
        </p:txBody>
      </p:sp>
      <p:sp>
        <p:nvSpPr>
          <p:cNvPr name="TextBox 12" id="12"/>
          <p:cNvSpPr txBox="true"/>
          <p:nvPr/>
        </p:nvSpPr>
        <p:spPr>
          <a:xfrm rot="0">
            <a:off x="2314636" y="3473279"/>
            <a:ext cx="5263546" cy="412750"/>
          </a:xfrm>
          <a:prstGeom prst="rect">
            <a:avLst/>
          </a:prstGeom>
        </p:spPr>
        <p:txBody>
          <a:bodyPr anchor="t" rtlCol="false" tIns="0" lIns="0" bIns="0" rIns="0">
            <a:spAutoFit/>
          </a:bodyPr>
          <a:lstStyle/>
          <a:p>
            <a:pPr algn="l" marL="0" indent="0" lvl="1">
              <a:lnSpc>
                <a:spcPts val="3499"/>
              </a:lnSpc>
              <a:spcBef>
                <a:spcPct val="0"/>
              </a:spcBef>
            </a:pPr>
            <a:r>
              <a:rPr lang="en-US" b="true" sz="2499" spc="-92">
                <a:solidFill>
                  <a:srgbClr val="000101"/>
                </a:solidFill>
                <a:latin typeface="Montserrat Bold"/>
                <a:ea typeface="Montserrat Bold"/>
                <a:cs typeface="Montserrat Bold"/>
                <a:sym typeface="Montserrat Bold"/>
              </a:rPr>
              <a:t>KẾT QUẢ ĐẠT ĐƯỢC (ĐẠT ĐƯỢC)</a:t>
            </a:r>
          </a:p>
        </p:txBody>
      </p:sp>
      <p:grpSp>
        <p:nvGrpSpPr>
          <p:cNvPr name="Group 13" id="13"/>
          <p:cNvGrpSpPr/>
          <p:nvPr/>
        </p:nvGrpSpPr>
        <p:grpSpPr>
          <a:xfrm rot="0">
            <a:off x="9114994" y="3367654"/>
            <a:ext cx="7956407" cy="4143798"/>
            <a:chOff x="0" y="0"/>
            <a:chExt cx="2636534" cy="1373140"/>
          </a:xfrm>
        </p:grpSpPr>
        <p:sp>
          <p:nvSpPr>
            <p:cNvPr name="Freeform 14" id="14"/>
            <p:cNvSpPr/>
            <p:nvPr/>
          </p:nvSpPr>
          <p:spPr>
            <a:xfrm flipH="false" flipV="false" rot="0">
              <a:off x="0" y="0"/>
              <a:ext cx="2636534" cy="1373140"/>
            </a:xfrm>
            <a:custGeom>
              <a:avLst/>
              <a:gdLst/>
              <a:ahLst/>
              <a:cxnLst/>
              <a:rect r="r" b="b" t="t" l="l"/>
              <a:pathLst>
                <a:path h="1373140" w="2636534">
                  <a:moveTo>
                    <a:pt x="14596" y="0"/>
                  </a:moveTo>
                  <a:lnTo>
                    <a:pt x="2621938" y="0"/>
                  </a:lnTo>
                  <a:cubicBezTo>
                    <a:pt x="2629999" y="0"/>
                    <a:pt x="2636534" y="6535"/>
                    <a:pt x="2636534" y="14596"/>
                  </a:cubicBezTo>
                  <a:lnTo>
                    <a:pt x="2636534" y="1358545"/>
                  </a:lnTo>
                  <a:cubicBezTo>
                    <a:pt x="2636534" y="1366606"/>
                    <a:pt x="2629999" y="1373140"/>
                    <a:pt x="2621938" y="1373140"/>
                  </a:cubicBezTo>
                  <a:lnTo>
                    <a:pt x="14596" y="1373140"/>
                  </a:lnTo>
                  <a:cubicBezTo>
                    <a:pt x="6535" y="1373140"/>
                    <a:pt x="0" y="1366606"/>
                    <a:pt x="0" y="1358545"/>
                  </a:cubicBezTo>
                  <a:lnTo>
                    <a:pt x="0" y="14596"/>
                  </a:lnTo>
                  <a:cubicBezTo>
                    <a:pt x="0" y="6535"/>
                    <a:pt x="6535" y="0"/>
                    <a:pt x="14596" y="0"/>
                  </a:cubicBezTo>
                  <a:close/>
                </a:path>
              </a:pathLst>
            </a:custGeom>
            <a:solidFill>
              <a:srgbClr val="22D3EE"/>
            </a:solidFill>
          </p:spPr>
        </p:sp>
        <p:sp>
          <p:nvSpPr>
            <p:cNvPr name="TextBox 15" id="15"/>
            <p:cNvSpPr txBox="true"/>
            <p:nvPr/>
          </p:nvSpPr>
          <p:spPr>
            <a:xfrm>
              <a:off x="0" y="-47625"/>
              <a:ext cx="2636534" cy="1420765"/>
            </a:xfrm>
            <a:prstGeom prst="rect">
              <a:avLst/>
            </a:prstGeom>
          </p:spPr>
          <p:txBody>
            <a:bodyPr anchor="ctr" rtlCol="false" tIns="50800" lIns="50800" bIns="50800" rIns="50800"/>
            <a:lstStyle/>
            <a:p>
              <a:pPr algn="ctr">
                <a:lnSpc>
                  <a:spcPts val="3500"/>
                </a:lnSpc>
              </a:pPr>
            </a:p>
          </p:txBody>
        </p:sp>
      </p:grpSp>
      <p:sp>
        <p:nvSpPr>
          <p:cNvPr name="Freeform 16" id="16"/>
          <p:cNvSpPr/>
          <p:nvPr/>
        </p:nvSpPr>
        <p:spPr>
          <a:xfrm flipH="false" flipV="false" rot="-762504">
            <a:off x="14693774" y="8848414"/>
            <a:ext cx="2410664" cy="4845555"/>
          </a:xfrm>
          <a:custGeom>
            <a:avLst/>
            <a:gdLst/>
            <a:ahLst/>
            <a:cxnLst/>
            <a:rect r="r" b="b" t="t" l="l"/>
            <a:pathLst>
              <a:path h="4845555" w="2410664">
                <a:moveTo>
                  <a:pt x="0" y="0"/>
                </a:moveTo>
                <a:lnTo>
                  <a:pt x="2410664" y="0"/>
                </a:lnTo>
                <a:lnTo>
                  <a:pt x="2410664" y="4845555"/>
                </a:lnTo>
                <a:lnTo>
                  <a:pt x="0" y="4845555"/>
                </a:lnTo>
                <a:lnTo>
                  <a:pt x="0" y="0"/>
                </a:lnTo>
                <a:close/>
              </a:path>
            </a:pathLst>
          </a:custGeom>
          <a:blipFill>
            <a:blip r:embed="rId9"/>
            <a:stretch>
              <a:fillRect l="0" t="0" r="0" b="0"/>
            </a:stretch>
          </a:blipFill>
        </p:spPr>
      </p:sp>
      <p:sp>
        <p:nvSpPr>
          <p:cNvPr name="TextBox 17" id="17"/>
          <p:cNvSpPr txBox="true"/>
          <p:nvPr/>
        </p:nvSpPr>
        <p:spPr>
          <a:xfrm rot="0">
            <a:off x="9531449" y="4179675"/>
            <a:ext cx="7276434" cy="2454275"/>
          </a:xfrm>
          <a:prstGeom prst="rect">
            <a:avLst/>
          </a:prstGeom>
        </p:spPr>
        <p:txBody>
          <a:bodyPr anchor="t" rtlCol="false" tIns="0" lIns="0" bIns="0" rIns="0">
            <a:spAutoFit/>
          </a:bodyPr>
          <a:lstStyle/>
          <a:p>
            <a:pPr algn="l">
              <a:lnSpc>
                <a:spcPts val="2800"/>
              </a:lnSpc>
            </a:pPr>
            <a:r>
              <a:rPr lang="en-US" sz="2000" spc="-74" b="true">
                <a:solidFill>
                  <a:srgbClr val="000101"/>
                </a:solidFill>
                <a:latin typeface="Montserrat Bold"/>
                <a:ea typeface="Montserrat Bold"/>
                <a:cs typeface="Montserrat Bold"/>
                <a:sym typeface="Montserrat Bold"/>
              </a:rPr>
              <a:t>- Đo hiệu năng, tải </a:t>
            </a:r>
            <a:r>
              <a:rPr lang="en-US" sz="2000" spc="-74" b="true">
                <a:solidFill>
                  <a:srgbClr val="000101"/>
                </a:solidFill>
                <a:latin typeface="Montserrat Bold"/>
                <a:ea typeface="Montserrat Bold"/>
                <a:cs typeface="Montserrat Bold"/>
                <a:sym typeface="Montserrat Bold"/>
              </a:rPr>
              <a:t>và tính sẵn sàng bằng chỉ số định lượng</a:t>
            </a:r>
          </a:p>
          <a:p>
            <a:pPr algn="l">
              <a:lnSpc>
                <a:spcPts val="2800"/>
              </a:lnSpc>
            </a:pPr>
          </a:p>
          <a:p>
            <a:pPr algn="l">
              <a:lnSpc>
                <a:spcPts val="2800"/>
              </a:lnSpc>
            </a:pPr>
            <a:r>
              <a:rPr lang="en-US" sz="2000" spc="-74" b="true">
                <a:solidFill>
                  <a:srgbClr val="000101"/>
                </a:solidFill>
                <a:latin typeface="Montserrat Bold"/>
                <a:ea typeface="Montserrat Bold"/>
                <a:cs typeface="Montserrat Bold"/>
                <a:sym typeface="Montserrat Bold"/>
              </a:rPr>
              <a:t>- Triển khai thực tế toàn bộ nền tảng lên môi trường production (hiện chỉ triển khai 1 phần).</a:t>
            </a:r>
          </a:p>
          <a:p>
            <a:pPr algn="l">
              <a:lnSpc>
                <a:spcPts val="2800"/>
              </a:lnSpc>
            </a:pPr>
          </a:p>
          <a:p>
            <a:pPr algn="l">
              <a:lnSpc>
                <a:spcPts val="2800"/>
              </a:lnSpc>
              <a:spcBef>
                <a:spcPct val="0"/>
              </a:spcBef>
            </a:pPr>
            <a:r>
              <a:rPr lang="en-US" b="true" sz="2000" spc="-74">
                <a:solidFill>
                  <a:srgbClr val="000101"/>
                </a:solidFill>
                <a:latin typeface="Montserrat Bold"/>
                <a:ea typeface="Montserrat Bold"/>
                <a:cs typeface="Montserrat Bold"/>
                <a:sym typeface="Montserrat Bold"/>
              </a:rPr>
              <a:t>- Củng cố phục hồi Saga, tiêm lỗi toàn hệ thống và cơ chế đối soát/cảnh báo</a:t>
            </a:r>
          </a:p>
        </p:txBody>
      </p:sp>
      <p:sp>
        <p:nvSpPr>
          <p:cNvPr name="TextBox 18" id="18"/>
          <p:cNvSpPr txBox="true"/>
          <p:nvPr/>
        </p:nvSpPr>
        <p:spPr>
          <a:xfrm rot="0">
            <a:off x="10772581" y="3473279"/>
            <a:ext cx="4794170" cy="412750"/>
          </a:xfrm>
          <a:prstGeom prst="rect">
            <a:avLst/>
          </a:prstGeom>
        </p:spPr>
        <p:txBody>
          <a:bodyPr anchor="t" rtlCol="false" tIns="0" lIns="0" bIns="0" rIns="0">
            <a:spAutoFit/>
          </a:bodyPr>
          <a:lstStyle/>
          <a:p>
            <a:pPr algn="l" marL="0" indent="0" lvl="1">
              <a:lnSpc>
                <a:spcPts val="3499"/>
              </a:lnSpc>
              <a:spcBef>
                <a:spcPct val="0"/>
              </a:spcBef>
            </a:pPr>
            <a:r>
              <a:rPr lang="en-US" b="true" sz="2499" spc="-92">
                <a:solidFill>
                  <a:srgbClr val="000101"/>
                </a:solidFill>
                <a:latin typeface="Montserrat Bold"/>
                <a:ea typeface="Montserrat Bold"/>
                <a:cs typeface="Montserrat Bold"/>
                <a:sym typeface="Montserrat Bold"/>
              </a:rPr>
              <a:t>HƯỚNG PHÁT TRIỂN ƯU TIÊN</a:t>
            </a:r>
          </a:p>
        </p:txBody>
      </p:sp>
      <p:grpSp>
        <p:nvGrpSpPr>
          <p:cNvPr name="Group 19" id="19"/>
          <p:cNvGrpSpPr/>
          <p:nvPr/>
        </p:nvGrpSpPr>
        <p:grpSpPr>
          <a:xfrm rot="-131315">
            <a:off x="1008096" y="9695400"/>
            <a:ext cx="4566539" cy="346177"/>
            <a:chOff x="0" y="0"/>
            <a:chExt cx="3857979" cy="292463"/>
          </a:xfrm>
        </p:grpSpPr>
        <p:sp>
          <p:nvSpPr>
            <p:cNvPr name="Freeform 20" id="20"/>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000101"/>
            </a:solidFill>
            <a:ln w="47625" cap="sq">
              <a:solidFill>
                <a:srgbClr val="000000"/>
              </a:solidFill>
              <a:prstDash val="solid"/>
              <a:miter/>
            </a:ln>
          </p:spPr>
        </p:sp>
        <p:sp>
          <p:nvSpPr>
            <p:cNvPr name="TextBox 21" id="21"/>
            <p:cNvSpPr txBox="true"/>
            <p:nvPr/>
          </p:nvSpPr>
          <p:spPr>
            <a:xfrm>
              <a:off x="0" y="-38100"/>
              <a:ext cx="3857979" cy="330563"/>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22" id="22"/>
          <p:cNvGrpSpPr/>
          <p:nvPr/>
        </p:nvGrpSpPr>
        <p:grpSpPr>
          <a:xfrm rot="-131315">
            <a:off x="932793" y="9664429"/>
            <a:ext cx="4566539" cy="346177"/>
            <a:chOff x="0" y="0"/>
            <a:chExt cx="3857979" cy="292463"/>
          </a:xfrm>
        </p:grpSpPr>
        <p:sp>
          <p:nvSpPr>
            <p:cNvPr name="Freeform 23" id="23"/>
            <p:cNvSpPr/>
            <p:nvPr/>
          </p:nvSpPr>
          <p:spPr>
            <a:xfrm flipH="false" flipV="false" rot="0">
              <a:off x="0" y="0"/>
              <a:ext cx="3857979" cy="292463"/>
            </a:xfrm>
            <a:custGeom>
              <a:avLst/>
              <a:gdLst/>
              <a:ahLst/>
              <a:cxnLst/>
              <a:rect r="r" b="b" t="t" l="l"/>
              <a:pathLst>
                <a:path h="292463" w="3857979">
                  <a:moveTo>
                    <a:pt x="23735" y="0"/>
                  </a:moveTo>
                  <a:lnTo>
                    <a:pt x="3834244" y="0"/>
                  </a:lnTo>
                  <a:cubicBezTo>
                    <a:pt x="3840539" y="0"/>
                    <a:pt x="3846576" y="2501"/>
                    <a:pt x="3851027" y="6952"/>
                  </a:cubicBezTo>
                  <a:cubicBezTo>
                    <a:pt x="3855478" y="11403"/>
                    <a:pt x="3857979" y="17440"/>
                    <a:pt x="3857979" y="23735"/>
                  </a:cubicBezTo>
                  <a:lnTo>
                    <a:pt x="3857979" y="268728"/>
                  </a:lnTo>
                  <a:cubicBezTo>
                    <a:pt x="3857979" y="275023"/>
                    <a:pt x="3855478" y="281060"/>
                    <a:pt x="3851027" y="285511"/>
                  </a:cubicBezTo>
                  <a:cubicBezTo>
                    <a:pt x="3846576" y="289962"/>
                    <a:pt x="3840539" y="292463"/>
                    <a:pt x="3834244" y="292463"/>
                  </a:cubicBezTo>
                  <a:lnTo>
                    <a:pt x="23735" y="292463"/>
                  </a:lnTo>
                  <a:cubicBezTo>
                    <a:pt x="17440" y="292463"/>
                    <a:pt x="11403" y="289962"/>
                    <a:pt x="6952" y="285511"/>
                  </a:cubicBezTo>
                  <a:cubicBezTo>
                    <a:pt x="2501" y="281060"/>
                    <a:pt x="0" y="275023"/>
                    <a:pt x="0" y="268728"/>
                  </a:cubicBezTo>
                  <a:lnTo>
                    <a:pt x="0" y="23735"/>
                  </a:lnTo>
                  <a:cubicBezTo>
                    <a:pt x="0" y="17440"/>
                    <a:pt x="2501" y="11403"/>
                    <a:pt x="6952" y="6952"/>
                  </a:cubicBezTo>
                  <a:cubicBezTo>
                    <a:pt x="11403" y="2501"/>
                    <a:pt x="17440" y="0"/>
                    <a:pt x="23735" y="0"/>
                  </a:cubicBezTo>
                  <a:close/>
                </a:path>
              </a:pathLst>
            </a:custGeom>
            <a:solidFill>
              <a:srgbClr val="FFFFFF"/>
            </a:solidFill>
            <a:ln w="47625" cap="sq">
              <a:solidFill>
                <a:srgbClr val="000000"/>
              </a:solidFill>
              <a:prstDash val="solid"/>
              <a:miter/>
            </a:ln>
          </p:spPr>
        </p:sp>
        <p:sp>
          <p:nvSpPr>
            <p:cNvPr name="TextBox 24" id="24"/>
            <p:cNvSpPr txBox="true"/>
            <p:nvPr/>
          </p:nvSpPr>
          <p:spPr>
            <a:xfrm>
              <a:off x="0" y="-38100"/>
              <a:ext cx="3857979" cy="330563"/>
            </a:xfrm>
            <a:prstGeom prst="rect">
              <a:avLst/>
            </a:prstGeom>
          </p:spPr>
          <p:txBody>
            <a:bodyPr anchor="ctr" rtlCol="false" tIns="50800" lIns="50800" bIns="50800" rIns="50800"/>
            <a:lstStyle/>
            <a:p>
              <a:pPr algn="ctr">
                <a:lnSpc>
                  <a:spcPts val="2800"/>
                </a:lnSpc>
              </a:pPr>
            </a:p>
          </p:txBody>
        </p:sp>
      </p:grpSp>
      <p:sp>
        <p:nvSpPr>
          <p:cNvPr name="TextBox 25" id="25"/>
          <p:cNvSpPr txBox="true"/>
          <p:nvPr/>
        </p:nvSpPr>
        <p:spPr>
          <a:xfrm rot="-114702">
            <a:off x="1112208" y="9707564"/>
            <a:ext cx="4206754" cy="231461"/>
          </a:xfrm>
          <a:prstGeom prst="rect">
            <a:avLst/>
          </a:prstGeom>
        </p:spPr>
        <p:txBody>
          <a:bodyPr anchor="t" rtlCol="false" tIns="0" lIns="0" bIns="0" rIns="0">
            <a:spAutoFit/>
          </a:bodyPr>
          <a:lstStyle/>
          <a:p>
            <a:pPr algn="ctr" marL="0" indent="0" lvl="0">
              <a:lnSpc>
                <a:spcPts val="1874"/>
              </a:lnSpc>
              <a:spcBef>
                <a:spcPct val="0"/>
              </a:spcBef>
            </a:pPr>
            <a:r>
              <a:rPr lang="en-US" b="true" sz="1339" spc="-49">
                <a:solidFill>
                  <a:srgbClr val="000101"/>
                </a:solidFill>
                <a:latin typeface="Montserrat Bold"/>
                <a:ea typeface="Montserrat Bold"/>
                <a:cs typeface="Montserrat Bold"/>
                <a:sym typeface="Montserrat Bold"/>
              </a:rPr>
              <a:t>5 - KẾT QUẢ KIỂM CHỨNG VÀ HƯỚNG PHÁT TRIỂN</a:t>
            </a:r>
          </a:p>
        </p:txBody>
      </p:sp>
      <p:sp>
        <p:nvSpPr>
          <p:cNvPr name="TextBox 26" id="26"/>
          <p:cNvSpPr txBox="true"/>
          <p:nvPr/>
        </p:nvSpPr>
        <p:spPr>
          <a:xfrm rot="0">
            <a:off x="342543" y="9669403"/>
            <a:ext cx="1127551" cy="339725"/>
          </a:xfrm>
          <a:prstGeom prst="rect">
            <a:avLst/>
          </a:prstGeom>
        </p:spPr>
        <p:txBody>
          <a:bodyPr anchor="t" rtlCol="false" tIns="0" lIns="0" bIns="0" rIns="0">
            <a:spAutoFit/>
          </a:bodyPr>
          <a:lstStyle/>
          <a:p>
            <a:pPr algn="l">
              <a:lnSpc>
                <a:spcPts val="2800"/>
              </a:lnSpc>
            </a:pPr>
            <a:r>
              <a:rPr lang="en-US" b="true" sz="2000" spc="-74">
                <a:solidFill>
                  <a:srgbClr val="000101"/>
                </a:solidFill>
                <a:latin typeface="Montserrat Bold"/>
                <a:ea typeface="Montserrat Bold"/>
                <a:cs typeface="Montserrat Bold"/>
                <a:sym typeface="Montserrat Bold"/>
              </a:rPr>
              <a:t>35</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AF7F4"/>
        </a:solidFill>
      </p:bgPr>
    </p:bg>
    <p:spTree>
      <p:nvGrpSpPr>
        <p:cNvPr id="1" name=""/>
        <p:cNvGrpSpPr/>
        <p:nvPr/>
      </p:nvGrpSpPr>
      <p:grpSpPr>
        <a:xfrm>
          <a:off x="0" y="0"/>
          <a:ext cx="0" cy="0"/>
          <a:chOff x="0" y="0"/>
          <a:chExt cx="0" cy="0"/>
        </a:xfrm>
      </p:grpSpPr>
      <p:grpSp>
        <p:nvGrpSpPr>
          <p:cNvPr name="Group 2" id="2"/>
          <p:cNvGrpSpPr/>
          <p:nvPr/>
        </p:nvGrpSpPr>
        <p:grpSpPr>
          <a:xfrm rot="-131315">
            <a:off x="3786553" y="3728012"/>
            <a:ext cx="10894719" cy="2343106"/>
            <a:chOff x="0" y="0"/>
            <a:chExt cx="2125308" cy="457086"/>
          </a:xfrm>
        </p:grpSpPr>
        <p:sp>
          <p:nvSpPr>
            <p:cNvPr name="Freeform 3" id="3"/>
            <p:cNvSpPr/>
            <p:nvPr/>
          </p:nvSpPr>
          <p:spPr>
            <a:xfrm flipH="false" flipV="false" rot="0">
              <a:off x="0" y="0"/>
              <a:ext cx="2125308" cy="457086"/>
            </a:xfrm>
            <a:custGeom>
              <a:avLst/>
              <a:gdLst/>
              <a:ahLst/>
              <a:cxnLst/>
              <a:rect r="r" b="b" t="t" l="l"/>
              <a:pathLst>
                <a:path h="457086" w="2125308">
                  <a:moveTo>
                    <a:pt x="9949" y="0"/>
                  </a:moveTo>
                  <a:lnTo>
                    <a:pt x="2115359" y="0"/>
                  </a:lnTo>
                  <a:cubicBezTo>
                    <a:pt x="2117998" y="0"/>
                    <a:pt x="2120528" y="1048"/>
                    <a:pt x="2122394" y="2914"/>
                  </a:cubicBezTo>
                  <a:cubicBezTo>
                    <a:pt x="2124259" y="4780"/>
                    <a:pt x="2125308" y="7310"/>
                    <a:pt x="2125308" y="9949"/>
                  </a:cubicBezTo>
                  <a:lnTo>
                    <a:pt x="2125308" y="447137"/>
                  </a:lnTo>
                  <a:cubicBezTo>
                    <a:pt x="2125308" y="452632"/>
                    <a:pt x="2120853" y="457086"/>
                    <a:pt x="2115359" y="457086"/>
                  </a:cubicBezTo>
                  <a:lnTo>
                    <a:pt x="9949" y="457086"/>
                  </a:lnTo>
                  <a:cubicBezTo>
                    <a:pt x="4454" y="457086"/>
                    <a:pt x="0" y="452632"/>
                    <a:pt x="0" y="447137"/>
                  </a:cubicBezTo>
                  <a:lnTo>
                    <a:pt x="0" y="9949"/>
                  </a:lnTo>
                  <a:cubicBezTo>
                    <a:pt x="0" y="4454"/>
                    <a:pt x="4454" y="0"/>
                    <a:pt x="9949" y="0"/>
                  </a:cubicBezTo>
                  <a:close/>
                </a:path>
              </a:pathLst>
            </a:custGeom>
            <a:solidFill>
              <a:srgbClr val="000101"/>
            </a:solidFill>
            <a:ln w="47625" cap="sq">
              <a:solidFill>
                <a:srgbClr val="000000"/>
              </a:solidFill>
              <a:prstDash val="solid"/>
              <a:miter/>
            </a:ln>
          </p:spPr>
        </p:sp>
        <p:sp>
          <p:nvSpPr>
            <p:cNvPr name="TextBox 4" id="4"/>
            <p:cNvSpPr txBox="true"/>
            <p:nvPr/>
          </p:nvSpPr>
          <p:spPr>
            <a:xfrm>
              <a:off x="0" y="-38100"/>
              <a:ext cx="2125308" cy="495186"/>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5" id="5"/>
          <p:cNvGrpSpPr/>
          <p:nvPr/>
        </p:nvGrpSpPr>
        <p:grpSpPr>
          <a:xfrm rot="-131315">
            <a:off x="3606729" y="3530263"/>
            <a:ext cx="10894719" cy="2343106"/>
            <a:chOff x="0" y="0"/>
            <a:chExt cx="2125308" cy="457086"/>
          </a:xfrm>
        </p:grpSpPr>
        <p:sp>
          <p:nvSpPr>
            <p:cNvPr name="Freeform 6" id="6"/>
            <p:cNvSpPr/>
            <p:nvPr/>
          </p:nvSpPr>
          <p:spPr>
            <a:xfrm flipH="false" flipV="false" rot="0">
              <a:off x="0" y="0"/>
              <a:ext cx="2125308" cy="457086"/>
            </a:xfrm>
            <a:custGeom>
              <a:avLst/>
              <a:gdLst/>
              <a:ahLst/>
              <a:cxnLst/>
              <a:rect r="r" b="b" t="t" l="l"/>
              <a:pathLst>
                <a:path h="457086" w="2125308">
                  <a:moveTo>
                    <a:pt x="9949" y="0"/>
                  </a:moveTo>
                  <a:lnTo>
                    <a:pt x="2115359" y="0"/>
                  </a:lnTo>
                  <a:cubicBezTo>
                    <a:pt x="2117998" y="0"/>
                    <a:pt x="2120528" y="1048"/>
                    <a:pt x="2122394" y="2914"/>
                  </a:cubicBezTo>
                  <a:cubicBezTo>
                    <a:pt x="2124259" y="4780"/>
                    <a:pt x="2125308" y="7310"/>
                    <a:pt x="2125308" y="9949"/>
                  </a:cubicBezTo>
                  <a:lnTo>
                    <a:pt x="2125308" y="447137"/>
                  </a:lnTo>
                  <a:cubicBezTo>
                    <a:pt x="2125308" y="452632"/>
                    <a:pt x="2120853" y="457086"/>
                    <a:pt x="2115359" y="457086"/>
                  </a:cubicBezTo>
                  <a:lnTo>
                    <a:pt x="9949" y="457086"/>
                  </a:lnTo>
                  <a:cubicBezTo>
                    <a:pt x="4454" y="457086"/>
                    <a:pt x="0" y="452632"/>
                    <a:pt x="0" y="447137"/>
                  </a:cubicBezTo>
                  <a:lnTo>
                    <a:pt x="0" y="9949"/>
                  </a:lnTo>
                  <a:cubicBezTo>
                    <a:pt x="0" y="4454"/>
                    <a:pt x="4454" y="0"/>
                    <a:pt x="9949" y="0"/>
                  </a:cubicBezTo>
                  <a:close/>
                </a:path>
              </a:pathLst>
            </a:custGeom>
            <a:solidFill>
              <a:srgbClr val="22D3EE"/>
            </a:solidFill>
            <a:ln w="47625" cap="sq">
              <a:solidFill>
                <a:srgbClr val="000000"/>
              </a:solidFill>
              <a:prstDash val="solid"/>
              <a:miter/>
            </a:ln>
          </p:spPr>
        </p:sp>
        <p:sp>
          <p:nvSpPr>
            <p:cNvPr name="TextBox 7" id="7"/>
            <p:cNvSpPr txBox="true"/>
            <p:nvPr/>
          </p:nvSpPr>
          <p:spPr>
            <a:xfrm>
              <a:off x="0" y="-38100"/>
              <a:ext cx="2125308" cy="495186"/>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131315">
            <a:off x="3666312" y="3500777"/>
            <a:ext cx="10946647" cy="2112125"/>
          </a:xfrm>
          <a:prstGeom prst="rect">
            <a:avLst/>
          </a:prstGeom>
        </p:spPr>
        <p:txBody>
          <a:bodyPr anchor="t" rtlCol="false" tIns="0" lIns="0" bIns="0" rIns="0">
            <a:spAutoFit/>
          </a:bodyPr>
          <a:lstStyle/>
          <a:p>
            <a:pPr algn="ctr">
              <a:lnSpc>
                <a:spcPts val="17389"/>
              </a:lnSpc>
            </a:pPr>
            <a:r>
              <a:rPr lang="en-US" b="true" sz="12421" spc="-459">
                <a:solidFill>
                  <a:srgbClr val="000101"/>
                </a:solidFill>
                <a:latin typeface="Montserrat Ultra-Bold"/>
                <a:ea typeface="Montserrat Ultra-Bold"/>
                <a:cs typeface="Montserrat Ultra-Bold"/>
                <a:sym typeface="Montserrat Ultra-Bold"/>
              </a:rPr>
              <a:t>THANK YOU</a:t>
            </a:r>
          </a:p>
        </p:txBody>
      </p:sp>
      <p:sp>
        <p:nvSpPr>
          <p:cNvPr name="TextBox 9" id="9"/>
          <p:cNvSpPr txBox="true"/>
          <p:nvPr/>
        </p:nvSpPr>
        <p:spPr>
          <a:xfrm rot="0">
            <a:off x="13861633" y="981075"/>
            <a:ext cx="3397667" cy="860425"/>
          </a:xfrm>
          <a:prstGeom prst="rect">
            <a:avLst/>
          </a:prstGeom>
        </p:spPr>
        <p:txBody>
          <a:bodyPr anchor="t" rtlCol="false" tIns="0" lIns="0" bIns="0" rIns="0">
            <a:spAutoFit/>
          </a:bodyPr>
          <a:lstStyle/>
          <a:p>
            <a:pPr algn="r">
              <a:lnSpc>
                <a:spcPts val="3500"/>
              </a:lnSpc>
            </a:pPr>
            <a:r>
              <a:rPr lang="en-US" sz="2500" spc="-92">
                <a:solidFill>
                  <a:srgbClr val="000101"/>
                </a:solidFill>
                <a:latin typeface="Montserrat"/>
                <a:ea typeface="Montserrat"/>
                <a:cs typeface="Montserrat"/>
                <a:sym typeface="Montserrat"/>
              </a:rPr>
              <a:t>prese</a:t>
            </a:r>
            <a:r>
              <a:rPr lang="en-US" sz="2500" spc="-92">
                <a:solidFill>
                  <a:srgbClr val="000101"/>
                </a:solidFill>
                <a:latin typeface="Montserrat"/>
                <a:ea typeface="Montserrat"/>
                <a:cs typeface="Montserrat"/>
                <a:sym typeface="Montserrat"/>
              </a:rPr>
              <a:t>nted by </a:t>
            </a:r>
          </a:p>
          <a:p>
            <a:pPr algn="r">
              <a:lnSpc>
                <a:spcPts val="3500"/>
              </a:lnSpc>
            </a:pPr>
            <a:r>
              <a:rPr lang="en-US" sz="2500" spc="-92">
                <a:solidFill>
                  <a:srgbClr val="000101"/>
                </a:solidFill>
                <a:latin typeface="Montserrat"/>
                <a:ea typeface="Montserrat"/>
                <a:cs typeface="Montserrat"/>
                <a:sym typeface="Montserrat"/>
              </a:rPr>
              <a:t>Vo Dinh Minh Quan</a:t>
            </a:r>
          </a:p>
        </p:txBody>
      </p:sp>
      <p:sp>
        <p:nvSpPr>
          <p:cNvPr name="TextBox 10" id="10"/>
          <p:cNvSpPr txBox="true"/>
          <p:nvPr/>
        </p:nvSpPr>
        <p:spPr>
          <a:xfrm rot="0">
            <a:off x="1326348" y="7958650"/>
            <a:ext cx="2410648" cy="422258"/>
          </a:xfrm>
          <a:prstGeom prst="rect">
            <a:avLst/>
          </a:prstGeom>
        </p:spPr>
        <p:txBody>
          <a:bodyPr anchor="t" rtlCol="false" tIns="0" lIns="0" bIns="0" rIns="0">
            <a:spAutoFit/>
          </a:bodyPr>
          <a:lstStyle/>
          <a:p>
            <a:pPr algn="ctr">
              <a:lnSpc>
                <a:spcPts val="3500"/>
              </a:lnSpc>
            </a:pPr>
            <a:r>
              <a:rPr lang="en-US" b="true" sz="2500" spc="-92">
                <a:solidFill>
                  <a:srgbClr val="000101"/>
                </a:solidFill>
                <a:latin typeface="Montserrat Bold"/>
                <a:ea typeface="Montserrat Bold"/>
                <a:cs typeface="Montserrat Bold"/>
                <a:sym typeface="Montserrat Bold"/>
              </a:rPr>
              <a:t>Phone </a:t>
            </a:r>
          </a:p>
        </p:txBody>
      </p:sp>
      <p:sp>
        <p:nvSpPr>
          <p:cNvPr name="TextBox 11" id="11"/>
          <p:cNvSpPr txBox="true"/>
          <p:nvPr/>
        </p:nvSpPr>
        <p:spPr>
          <a:xfrm rot="0">
            <a:off x="5382638" y="7958650"/>
            <a:ext cx="2410648" cy="422258"/>
          </a:xfrm>
          <a:prstGeom prst="rect">
            <a:avLst/>
          </a:prstGeom>
        </p:spPr>
        <p:txBody>
          <a:bodyPr anchor="t" rtlCol="false" tIns="0" lIns="0" bIns="0" rIns="0">
            <a:spAutoFit/>
          </a:bodyPr>
          <a:lstStyle/>
          <a:p>
            <a:pPr algn="ctr">
              <a:lnSpc>
                <a:spcPts val="3500"/>
              </a:lnSpc>
            </a:pPr>
            <a:r>
              <a:rPr lang="en-US" b="true" sz="2500" spc="-92">
                <a:solidFill>
                  <a:srgbClr val="000101"/>
                </a:solidFill>
                <a:latin typeface="Montserrat Bold"/>
                <a:ea typeface="Montserrat Bold"/>
                <a:cs typeface="Montserrat Bold"/>
                <a:sym typeface="Montserrat Bold"/>
              </a:rPr>
              <a:t>Email</a:t>
            </a:r>
          </a:p>
        </p:txBody>
      </p:sp>
      <p:sp>
        <p:nvSpPr>
          <p:cNvPr name="TextBox 12" id="12"/>
          <p:cNvSpPr txBox="true"/>
          <p:nvPr/>
        </p:nvSpPr>
        <p:spPr>
          <a:xfrm rot="0">
            <a:off x="9738807" y="7958650"/>
            <a:ext cx="2410648" cy="422258"/>
          </a:xfrm>
          <a:prstGeom prst="rect">
            <a:avLst/>
          </a:prstGeom>
        </p:spPr>
        <p:txBody>
          <a:bodyPr anchor="t" rtlCol="false" tIns="0" lIns="0" bIns="0" rIns="0">
            <a:spAutoFit/>
          </a:bodyPr>
          <a:lstStyle/>
          <a:p>
            <a:pPr algn="ctr">
              <a:lnSpc>
                <a:spcPts val="3500"/>
              </a:lnSpc>
            </a:pPr>
            <a:r>
              <a:rPr lang="en-US" b="true" sz="2500" spc="-92">
                <a:solidFill>
                  <a:srgbClr val="000101"/>
                </a:solidFill>
                <a:latin typeface="Montserrat Bold"/>
                <a:ea typeface="Montserrat Bold"/>
                <a:cs typeface="Montserrat Bold"/>
                <a:sym typeface="Montserrat Bold"/>
              </a:rPr>
              <a:t>Social Media</a:t>
            </a:r>
          </a:p>
        </p:txBody>
      </p:sp>
      <p:sp>
        <p:nvSpPr>
          <p:cNvPr name="TextBox 13" id="13"/>
          <p:cNvSpPr txBox="true"/>
          <p:nvPr/>
        </p:nvSpPr>
        <p:spPr>
          <a:xfrm rot="0">
            <a:off x="13861633" y="7958650"/>
            <a:ext cx="2410648" cy="422258"/>
          </a:xfrm>
          <a:prstGeom prst="rect">
            <a:avLst/>
          </a:prstGeom>
        </p:spPr>
        <p:txBody>
          <a:bodyPr anchor="t" rtlCol="false" tIns="0" lIns="0" bIns="0" rIns="0">
            <a:spAutoFit/>
          </a:bodyPr>
          <a:lstStyle/>
          <a:p>
            <a:pPr algn="ctr">
              <a:lnSpc>
                <a:spcPts val="3500"/>
              </a:lnSpc>
            </a:pPr>
            <a:r>
              <a:rPr lang="en-US" b="true" sz="2500" spc="-92">
                <a:solidFill>
                  <a:srgbClr val="000101"/>
                </a:solidFill>
                <a:latin typeface="Montserrat Bold"/>
                <a:ea typeface="Montserrat Bold"/>
                <a:cs typeface="Montserrat Bold"/>
                <a:sym typeface="Montserrat Bold"/>
              </a:rPr>
              <a:t>Website</a:t>
            </a:r>
          </a:p>
        </p:txBody>
      </p:sp>
      <p:sp>
        <p:nvSpPr>
          <p:cNvPr name="TextBox 14" id="14"/>
          <p:cNvSpPr txBox="true"/>
          <p:nvPr/>
        </p:nvSpPr>
        <p:spPr>
          <a:xfrm rot="0">
            <a:off x="1326348" y="8538023"/>
            <a:ext cx="2410648" cy="422275"/>
          </a:xfrm>
          <a:prstGeom prst="rect">
            <a:avLst/>
          </a:prstGeom>
        </p:spPr>
        <p:txBody>
          <a:bodyPr anchor="t" rtlCol="false" tIns="0" lIns="0" bIns="0" rIns="0">
            <a:spAutoFit/>
          </a:bodyPr>
          <a:lstStyle/>
          <a:p>
            <a:pPr algn="ctr">
              <a:lnSpc>
                <a:spcPts val="3500"/>
              </a:lnSpc>
            </a:pPr>
            <a:r>
              <a:rPr lang="en-US" sz="2500" spc="-92">
                <a:solidFill>
                  <a:srgbClr val="000101"/>
                </a:solidFill>
                <a:latin typeface="Montserrat"/>
                <a:ea typeface="Montserrat"/>
                <a:cs typeface="Montserrat"/>
                <a:sym typeface="Montserrat"/>
              </a:rPr>
              <a:t>033 277 0502</a:t>
            </a:r>
          </a:p>
        </p:txBody>
      </p:sp>
      <p:sp>
        <p:nvSpPr>
          <p:cNvPr name="TextBox 15" id="15"/>
          <p:cNvSpPr txBox="true"/>
          <p:nvPr/>
        </p:nvSpPr>
        <p:spPr>
          <a:xfrm rot="0">
            <a:off x="4513443" y="8538023"/>
            <a:ext cx="4149039" cy="422275"/>
          </a:xfrm>
          <a:prstGeom prst="rect">
            <a:avLst/>
          </a:prstGeom>
        </p:spPr>
        <p:txBody>
          <a:bodyPr anchor="t" rtlCol="false" tIns="0" lIns="0" bIns="0" rIns="0">
            <a:spAutoFit/>
          </a:bodyPr>
          <a:lstStyle/>
          <a:p>
            <a:pPr algn="ctr">
              <a:lnSpc>
                <a:spcPts val="3500"/>
              </a:lnSpc>
            </a:pPr>
            <a:r>
              <a:rPr lang="en-US" sz="2500" spc="-92">
                <a:solidFill>
                  <a:srgbClr val="000101"/>
                </a:solidFill>
                <a:latin typeface="Montserrat"/>
                <a:ea typeface="Montserrat"/>
                <a:cs typeface="Montserrat"/>
                <a:sym typeface="Montserrat"/>
              </a:rPr>
              <a:t>22521193@gm.uit.edu.vn</a:t>
            </a:r>
          </a:p>
        </p:txBody>
      </p:sp>
      <p:sp>
        <p:nvSpPr>
          <p:cNvPr name="TextBox 16" id="16"/>
          <p:cNvSpPr txBox="true"/>
          <p:nvPr/>
        </p:nvSpPr>
        <p:spPr>
          <a:xfrm rot="0">
            <a:off x="8869611" y="8538023"/>
            <a:ext cx="4149039" cy="422275"/>
          </a:xfrm>
          <a:prstGeom prst="rect">
            <a:avLst/>
          </a:prstGeom>
        </p:spPr>
        <p:txBody>
          <a:bodyPr anchor="t" rtlCol="false" tIns="0" lIns="0" bIns="0" rIns="0">
            <a:spAutoFit/>
          </a:bodyPr>
          <a:lstStyle/>
          <a:p>
            <a:pPr algn="ctr">
              <a:lnSpc>
                <a:spcPts val="3500"/>
              </a:lnSpc>
            </a:pPr>
            <a:r>
              <a:rPr lang="en-US" sz="2500" spc="-92">
                <a:solidFill>
                  <a:srgbClr val="000101"/>
                </a:solidFill>
                <a:latin typeface="Montserrat"/>
                <a:ea typeface="Montserrat"/>
                <a:cs typeface="Montserrat"/>
                <a:sym typeface="Montserrat"/>
              </a:rPr>
              <a:t>@reallygreatsite</a:t>
            </a:r>
          </a:p>
        </p:txBody>
      </p:sp>
      <p:sp>
        <p:nvSpPr>
          <p:cNvPr name="TextBox 17" id="17"/>
          <p:cNvSpPr txBox="true"/>
          <p:nvPr/>
        </p:nvSpPr>
        <p:spPr>
          <a:xfrm rot="0">
            <a:off x="12992438" y="8538023"/>
            <a:ext cx="4149039" cy="422258"/>
          </a:xfrm>
          <a:prstGeom prst="rect">
            <a:avLst/>
          </a:prstGeom>
        </p:spPr>
        <p:txBody>
          <a:bodyPr anchor="t" rtlCol="false" tIns="0" lIns="0" bIns="0" rIns="0">
            <a:spAutoFit/>
          </a:bodyPr>
          <a:lstStyle/>
          <a:p>
            <a:pPr algn="ctr">
              <a:lnSpc>
                <a:spcPts val="3500"/>
              </a:lnSpc>
            </a:pPr>
            <a:r>
              <a:rPr lang="en-US" sz="2500" spc="-92">
                <a:solidFill>
                  <a:srgbClr val="000101"/>
                </a:solidFill>
                <a:latin typeface="Montserrat"/>
                <a:ea typeface="Montserrat"/>
                <a:cs typeface="Montserrat"/>
                <a:sym typeface="Montserrat"/>
              </a:rPr>
              <a:t>www.vodinhquan.dev</a:t>
            </a:r>
          </a:p>
        </p:txBody>
      </p:sp>
      <p:sp>
        <p:nvSpPr>
          <p:cNvPr name="Freeform 18" id="18"/>
          <p:cNvSpPr/>
          <p:nvPr/>
        </p:nvSpPr>
        <p:spPr>
          <a:xfrm flipH="false" flipV="false" rot="0">
            <a:off x="115350" y="114967"/>
            <a:ext cx="913350" cy="738672"/>
          </a:xfrm>
          <a:custGeom>
            <a:avLst/>
            <a:gdLst/>
            <a:ahLst/>
            <a:cxnLst/>
            <a:rect r="r" b="b" t="t" l="l"/>
            <a:pathLst>
              <a:path h="738672" w="913350">
                <a:moveTo>
                  <a:pt x="0" y="0"/>
                </a:moveTo>
                <a:lnTo>
                  <a:pt x="913350" y="0"/>
                </a:lnTo>
                <a:lnTo>
                  <a:pt x="913350" y="738672"/>
                </a:lnTo>
                <a:lnTo>
                  <a:pt x="0" y="738672"/>
                </a:lnTo>
                <a:lnTo>
                  <a:pt x="0" y="0"/>
                </a:lnTo>
                <a:close/>
              </a:path>
            </a:pathLst>
          </a:custGeom>
          <a:blipFill>
            <a:blip r:embed="rId2"/>
            <a:stretch>
              <a:fillRect l="0" t="0" r="0" b="0"/>
            </a:stretch>
          </a:blipFill>
        </p:spPr>
      </p:sp>
      <p:sp>
        <p:nvSpPr>
          <p:cNvPr name="TextBox 19" id="19"/>
          <p:cNvSpPr txBox="true"/>
          <p:nvPr/>
        </p:nvSpPr>
        <p:spPr>
          <a:xfrm rot="0">
            <a:off x="1149135" y="67342"/>
            <a:ext cx="8087875" cy="772002"/>
          </a:xfrm>
          <a:prstGeom prst="rect">
            <a:avLst/>
          </a:prstGeom>
        </p:spPr>
        <p:txBody>
          <a:bodyPr anchor="t" rtlCol="false" tIns="0" lIns="0" bIns="0" rIns="0">
            <a:spAutoFit/>
          </a:bodyPr>
          <a:lstStyle/>
          <a:p>
            <a:pPr algn="l">
              <a:lnSpc>
                <a:spcPts val="3123"/>
              </a:lnSpc>
            </a:pPr>
            <a:r>
              <a:rPr lang="en-US" b="true" sz="2231" spc="-82">
                <a:solidFill>
                  <a:srgbClr val="4B63B7"/>
                </a:solidFill>
                <a:latin typeface="Montserrat Bold"/>
                <a:ea typeface="Montserrat Bold"/>
                <a:cs typeface="Montserrat Bold"/>
                <a:sym typeface="Montserrat Bold"/>
              </a:rPr>
              <a:t>ĐẠI HỌC QUỐC GIA TP. HỒ CHÍ MINH</a:t>
            </a:r>
          </a:p>
          <a:p>
            <a:pPr algn="l">
              <a:lnSpc>
                <a:spcPts val="3123"/>
              </a:lnSpc>
            </a:pPr>
            <a:r>
              <a:rPr lang="en-US" b="true" sz="2231" spc="-82">
                <a:solidFill>
                  <a:srgbClr val="4B63B7"/>
                </a:solidFill>
                <a:latin typeface="Montserrat Bold"/>
                <a:ea typeface="Montserrat Bold"/>
                <a:cs typeface="Montserrat Bold"/>
                <a:sym typeface="Montserrat Bold"/>
              </a:rPr>
              <a:t>TRƯỜNG ĐẠI HỌC CÔNG NGHỆ THÔNG 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DAHNOPVWxms</dc:identifier>
  <dcterms:modified xsi:type="dcterms:W3CDTF">2011-08-01T06:04:30Z</dcterms:modified>
  <cp:revision>1</cp:revision>
  <dc:title>undergraduation-thesis</dc:title>
</cp:coreProperties>
</file>