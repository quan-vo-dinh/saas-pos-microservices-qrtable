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c7b8e6607d4034" /><Relationship Type="http://schemas.openxmlformats.org/officeDocument/2006/relationships/extended-properties" Target="/docProps/app.xml" Id="Rba1f2c31891d42e5" /><Relationship Type="http://schemas.openxmlformats.org/officeDocument/2006/relationships/officeDocument" Target="/ppt/presentation.xml" Id="R2f962021400846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761872ed5f4012"/>
  </p:sldMasterIdLst>
  <p:notesMasterIdLst>
    <p:notesMasterId xmlns:r="http://schemas.openxmlformats.org/officeDocument/2006/relationships" r:id="Rfca28614b19a47ef"/>
  </p:notesMasterIdLst>
  <p:sldIdLst>
    <p:sldId xmlns:r="http://schemas.openxmlformats.org/officeDocument/2006/relationships" id="256" r:id="Rda86706dfbfe490d"/>
    <p:sldId xmlns:r="http://schemas.openxmlformats.org/officeDocument/2006/relationships" id="257" r:id="R97231f042af44cf2"/>
    <p:sldId xmlns:r="http://schemas.openxmlformats.org/officeDocument/2006/relationships" id="258" r:id="Rc6337865453249fe"/>
    <p:sldId xmlns:r="http://schemas.openxmlformats.org/officeDocument/2006/relationships" id="259" r:id="Raef571cfa9214d11"/>
    <p:sldId xmlns:r="http://schemas.openxmlformats.org/officeDocument/2006/relationships" id="260" r:id="R04495da18cc94e9a"/>
    <p:sldId xmlns:r="http://schemas.openxmlformats.org/officeDocument/2006/relationships" id="261" r:id="R1673e49275004147"/>
    <p:sldId xmlns:r="http://schemas.openxmlformats.org/officeDocument/2006/relationships" id="262" r:id="R16eb5b44f0174a44"/>
    <p:sldId xmlns:r="http://schemas.openxmlformats.org/officeDocument/2006/relationships" id="263" r:id="R5f42bf8479964b56"/>
    <p:sldId xmlns:r="http://schemas.openxmlformats.org/officeDocument/2006/relationships" id="264" r:id="R6e956ceec14f405b"/>
    <p:sldId xmlns:r="http://schemas.openxmlformats.org/officeDocument/2006/relationships" id="265" r:id="Rb053a7f36ba74151"/>
    <p:sldId xmlns:r="http://schemas.openxmlformats.org/officeDocument/2006/relationships" id="266" r:id="R30bb4fb20fbc4963"/>
    <p:sldId xmlns:r="http://schemas.openxmlformats.org/officeDocument/2006/relationships" id="267" r:id="R23419fe2fd7e4ae9"/>
    <p:sldId xmlns:r="http://schemas.openxmlformats.org/officeDocument/2006/relationships" id="268" r:id="R18505c9b136b491c"/>
    <p:sldId xmlns:r="http://schemas.openxmlformats.org/officeDocument/2006/relationships" id="269" r:id="Rf5a4eb4c1daf44d7"/>
    <p:sldId xmlns:r="http://schemas.openxmlformats.org/officeDocument/2006/relationships" id="270" r:id="R3e7deac6891f432b"/>
    <p:sldId xmlns:r="http://schemas.openxmlformats.org/officeDocument/2006/relationships" id="271" r:id="R5c0e0ee90a8d4939"/>
    <p:sldId xmlns:r="http://schemas.openxmlformats.org/officeDocument/2006/relationships" id="272" r:id="R69b856f2ed0f4683"/>
    <p:sldId xmlns:r="http://schemas.openxmlformats.org/officeDocument/2006/relationships" id="273" r:id="R6d7777eeb0a4467a"/>
    <p:sldId xmlns:r="http://schemas.openxmlformats.org/officeDocument/2006/relationships" id="274" r:id="R2b3b87aabfef41dc"/>
    <p:sldId xmlns:r="http://schemas.openxmlformats.org/officeDocument/2006/relationships" id="275" r:id="R68e0016695c445a9"/>
    <p:sldId xmlns:r="http://schemas.openxmlformats.org/officeDocument/2006/relationships" id="276" r:id="Rd93ce5192f654275"/>
    <p:sldId xmlns:r="http://schemas.openxmlformats.org/officeDocument/2006/relationships" id="277" r:id="R9bec4d718853489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761872ed5f4012" /><Relationship Type="http://schemas.openxmlformats.org/officeDocument/2006/relationships/theme" Target="/ppt/theme/theme1.xml" Id="R6742431c976f4ad1" /><Relationship Type="http://schemas.openxmlformats.org/officeDocument/2006/relationships/notesMaster" Target="/ppt/notesMasters/notesMaster1.xml" Id="Rfca28614b19a47ef" /><Relationship Type="http://schemas.openxmlformats.org/officeDocument/2006/relationships/presProps" Target="/ppt/presProps.xml" Id="Re801868729734de3" /><Relationship Type="http://schemas.openxmlformats.org/officeDocument/2006/relationships/viewProps" Target="/ppt/viewProps.xml" Id="R23eee1973c53400e" /><Relationship Type="http://schemas.openxmlformats.org/officeDocument/2006/relationships/tableStyles" Target="/ppt/tableStyles.xml" Id="Rc187ace21bca4e9d" /><Relationship Type="http://schemas.openxmlformats.org/officeDocument/2006/relationships/slide" Target="/ppt/slides/slide1.xml" Id="Rda86706dfbfe490d" /><Relationship Type="http://schemas.openxmlformats.org/officeDocument/2006/relationships/slide" Target="/ppt/slides/slide2.xml" Id="R97231f042af44cf2" /><Relationship Type="http://schemas.openxmlformats.org/officeDocument/2006/relationships/slide" Target="/ppt/slides/slide3.xml" Id="Rc6337865453249fe" /><Relationship Type="http://schemas.openxmlformats.org/officeDocument/2006/relationships/slide" Target="/ppt/slides/slide4.xml" Id="Raef571cfa9214d11" /><Relationship Type="http://schemas.openxmlformats.org/officeDocument/2006/relationships/slide" Target="/ppt/slides/slide5.xml" Id="R04495da18cc94e9a" /><Relationship Type="http://schemas.openxmlformats.org/officeDocument/2006/relationships/slide" Target="/ppt/slides/slide6.xml" Id="R1673e49275004147" /><Relationship Type="http://schemas.openxmlformats.org/officeDocument/2006/relationships/slide" Target="/ppt/slides/slide7.xml" Id="R16eb5b44f0174a44" /><Relationship Type="http://schemas.openxmlformats.org/officeDocument/2006/relationships/slide" Target="/ppt/slides/slide8.xml" Id="R5f42bf8479964b56" /><Relationship Type="http://schemas.openxmlformats.org/officeDocument/2006/relationships/slide" Target="/ppt/slides/slide9.xml" Id="R6e956ceec14f405b" /><Relationship Type="http://schemas.openxmlformats.org/officeDocument/2006/relationships/slide" Target="/ppt/slides/slide10.xml" Id="Rb053a7f36ba74151" /><Relationship Type="http://schemas.openxmlformats.org/officeDocument/2006/relationships/slide" Target="/ppt/slides/slide11.xml" Id="R30bb4fb20fbc4963" /><Relationship Type="http://schemas.openxmlformats.org/officeDocument/2006/relationships/slide" Target="/ppt/slides/slide12.xml" Id="R23419fe2fd7e4ae9" /><Relationship Type="http://schemas.openxmlformats.org/officeDocument/2006/relationships/slide" Target="/ppt/slides/slide13.xml" Id="R18505c9b136b491c" /><Relationship Type="http://schemas.openxmlformats.org/officeDocument/2006/relationships/slide" Target="/ppt/slides/slide14.xml" Id="Rf5a4eb4c1daf44d7" /><Relationship Type="http://schemas.openxmlformats.org/officeDocument/2006/relationships/slide" Target="/ppt/slides/slide15.xml" Id="R3e7deac6891f432b" /><Relationship Type="http://schemas.openxmlformats.org/officeDocument/2006/relationships/slide" Target="/ppt/slides/slide16.xml" Id="R5c0e0ee90a8d4939" /><Relationship Type="http://schemas.openxmlformats.org/officeDocument/2006/relationships/slide" Target="/ppt/slides/slide17.xml" Id="R69b856f2ed0f4683" /><Relationship Type="http://schemas.openxmlformats.org/officeDocument/2006/relationships/slide" Target="/ppt/slides/slide18.xml" Id="R6d7777eeb0a4467a" /><Relationship Type="http://schemas.openxmlformats.org/officeDocument/2006/relationships/slide" Target="/ppt/slides/slide19.xml" Id="R2b3b87aabfef41dc" /><Relationship Type="http://schemas.openxmlformats.org/officeDocument/2006/relationships/slide" Target="/ppt/slides/slide20.xml" Id="R68e0016695c445a9" /><Relationship Type="http://schemas.openxmlformats.org/officeDocument/2006/relationships/slide" Target="/ppt/slides/slide21.xml" Id="Rd93ce5192f654275" /><Relationship Type="http://schemas.openxmlformats.org/officeDocument/2006/relationships/slide" Target="/ppt/slides/slide22.xml" Id="R9bec4d71885348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3c83b568d174c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e22ebc56be4531" /><Relationship Type="http://schemas.openxmlformats.org/officeDocument/2006/relationships/notesMaster" Target="/ppt/notesMasters/notesMaster1.xml" Id="Rfedd2b9211c848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8f21b2cda84611" /><Relationship Type="http://schemas.openxmlformats.org/officeDocument/2006/relationships/notesMaster" Target="/ppt/notesMasters/notesMaster1.xml" Id="Rb899ea6ef0c94a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202a35fe7b4772" /><Relationship Type="http://schemas.openxmlformats.org/officeDocument/2006/relationships/notesMaster" Target="/ppt/notesMasters/notesMaster1.xml" Id="R1a4e99b4fe6a46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7d4f395d5540ae" /><Relationship Type="http://schemas.openxmlformats.org/officeDocument/2006/relationships/notesMaster" Target="/ppt/notesMasters/notesMaster1.xml" Id="R6108f70551c443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56df607b6d407f" /><Relationship Type="http://schemas.openxmlformats.org/officeDocument/2006/relationships/notesMaster" Target="/ppt/notesMasters/notesMaster1.xml" Id="Ra4cbc9462be147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00d48fba8d4b73" /><Relationship Type="http://schemas.openxmlformats.org/officeDocument/2006/relationships/notesMaster" Target="/ppt/notesMasters/notesMaster1.xml" Id="R56476527a2d946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f486e4bf464c5f" /><Relationship Type="http://schemas.openxmlformats.org/officeDocument/2006/relationships/notesMaster" Target="/ppt/notesMasters/notesMaster1.xml" Id="Rd47f35fb757447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bf409d9f1a4f11" /><Relationship Type="http://schemas.openxmlformats.org/officeDocument/2006/relationships/notesMaster" Target="/ppt/notesMasters/notesMaster1.xml" Id="R0fe284378e9248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a38161ad39e439a" /><Relationship Type="http://schemas.openxmlformats.org/officeDocument/2006/relationships/notesMaster" Target="/ppt/notesMasters/notesMaster1.xml" Id="R6529d2d2a4c540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3208cb895d94e2a" /><Relationship Type="http://schemas.openxmlformats.org/officeDocument/2006/relationships/notesMaster" Target="/ppt/notesMasters/notesMaster1.xml" Id="R2c66adfa70a3475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4d69675dbd94079" /><Relationship Type="http://schemas.openxmlformats.org/officeDocument/2006/relationships/notesMaster" Target="/ppt/notesMasters/notesMaster1.xml" Id="Ra4e23ca2f7254e6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12ec4424df64450" /><Relationship Type="http://schemas.openxmlformats.org/officeDocument/2006/relationships/notesMaster" Target="/ppt/notesMasters/notesMaster1.xml" Id="Ra36b52c0440c4a1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24337e825d04640" /><Relationship Type="http://schemas.openxmlformats.org/officeDocument/2006/relationships/notesMaster" Target="/ppt/notesMasters/notesMaster1.xml" Id="R8536713d63c04ee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0cab5c4403d4688" /><Relationship Type="http://schemas.openxmlformats.org/officeDocument/2006/relationships/notesMaster" Target="/ppt/notesMasters/notesMaster1.xml" Id="R1a4cc595270947a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05268481d114e59" /><Relationship Type="http://schemas.openxmlformats.org/officeDocument/2006/relationships/notesMaster" Target="/ppt/notesMasters/notesMaster1.xml" Id="Ra8024db88fd1466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8fb5065fd96406a" /><Relationship Type="http://schemas.openxmlformats.org/officeDocument/2006/relationships/notesMaster" Target="/ppt/notesMasters/notesMaster1.xml" Id="Ra6bfe6d194084b2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06328e18b6240e2" /><Relationship Type="http://schemas.openxmlformats.org/officeDocument/2006/relationships/notesMaster" Target="/ppt/notesMasters/notesMaster1.xml" Id="Rfd62ac3ab79d4ba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0148c3278284a6f" /><Relationship Type="http://schemas.openxmlformats.org/officeDocument/2006/relationships/notesMaster" Target="/ppt/notesMasters/notesMaster1.xml" Id="Rbfb1662fb90d4f2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3dd01af6b184689" /><Relationship Type="http://schemas.openxmlformats.org/officeDocument/2006/relationships/notesMaster" Target="/ppt/notesMasters/notesMaster1.xml" Id="Ra3c3e0c5efdd4c8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26d8bf016ef473e" /><Relationship Type="http://schemas.openxmlformats.org/officeDocument/2006/relationships/notesMaster" Target="/ppt/notesMasters/notesMaster1.xml" Id="Raaf3056744ec444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bc34ad5b2f346dc" /><Relationship Type="http://schemas.openxmlformats.org/officeDocument/2006/relationships/notesMaster" Target="/ppt/notesMasters/notesMaster1.xml" Id="R242c4c190ed547c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a58c9d47083489b" /><Relationship Type="http://schemas.openxmlformats.org/officeDocument/2006/relationships/notesMaster" Target="/ppt/notesMasters/notesMaster1.xml" Id="R08ab25e10d6241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1e332eb1244b7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e1248e71b92452e" /><Relationship Type="http://schemas.openxmlformats.org/officeDocument/2006/relationships/slideLayout" Target="/ppt/slideLayouts/slideLayout2.xml" Id="Rcd7c57085cde4a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7c57085cde4a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d0701cdb6b4265" /><Relationship Type="http://schemas.openxmlformats.org/officeDocument/2006/relationships/notesSlide" Target="/ppt/notesSlides/notesSlide1.xml" Id="R2ebc0e2e40b543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4de8e88fb7453d" /><Relationship Type="http://schemas.openxmlformats.org/officeDocument/2006/relationships/notesSlide" Target="/ppt/notesSlides/notesSlide2.xml" Id="R84ca868d81ad43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981a07a8fe43d4" /><Relationship Type="http://schemas.openxmlformats.org/officeDocument/2006/relationships/notesSlide" Target="/ppt/notesSlides/notesSlide3.xml" Id="Rfb2fefda72a940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9382100b9e4d19" /><Relationship Type="http://schemas.openxmlformats.org/officeDocument/2006/relationships/notesSlide" Target="/ppt/notesSlides/notesSlide4.xml" Id="R2d45d4e1e30345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29726742da4b87" /><Relationship Type="http://schemas.openxmlformats.org/officeDocument/2006/relationships/notesSlide" Target="/ppt/notesSlides/notesSlide5.xml" Id="R6961399b965b44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027d57f12246ed" /><Relationship Type="http://schemas.openxmlformats.org/officeDocument/2006/relationships/notesSlide" Target="/ppt/notesSlides/notesSlide6.xml" Id="R40a905b98f6242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1da8e431e643d8" /><Relationship Type="http://schemas.openxmlformats.org/officeDocument/2006/relationships/notesSlide" Target="/ppt/notesSlides/notesSlide7.xml" Id="Rc81cbe8653d74a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2aeeb2c45946b0" /><Relationship Type="http://schemas.openxmlformats.org/officeDocument/2006/relationships/notesSlide" Target="/ppt/notesSlides/notesSlide8.xml" Id="R626db42c056e4e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811e9ad2d44bb5" /><Relationship Type="http://schemas.openxmlformats.org/officeDocument/2006/relationships/notesSlide" Target="/ppt/notesSlides/notesSlide9.xml" Id="R8926f57896e64e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5d1832120d4fed" /><Relationship Type="http://schemas.openxmlformats.org/officeDocument/2006/relationships/notesSlide" Target="/ppt/notesSlides/notesSlide10.xml" Id="R2a216c8870ef489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097723fcf347b1" /><Relationship Type="http://schemas.openxmlformats.org/officeDocument/2006/relationships/notesSlide" Target="/ppt/notesSlides/notesSlide11.xml" Id="R163c6a8bc3ed4df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3e41526b784196" /><Relationship Type="http://schemas.openxmlformats.org/officeDocument/2006/relationships/notesSlide" Target="/ppt/notesSlides/notesSlide12.xml" Id="R0b57f66842d84c6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d82d8e509b47ca" /><Relationship Type="http://schemas.openxmlformats.org/officeDocument/2006/relationships/notesSlide" Target="/ppt/notesSlides/notesSlide13.xml" Id="Rfa6f7a6c28b54fc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2b1c175d3c41ba" /><Relationship Type="http://schemas.openxmlformats.org/officeDocument/2006/relationships/notesSlide" Target="/ppt/notesSlides/notesSlide14.xml" Id="R3fe983e08fcd4e2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07dd8094994a35" /><Relationship Type="http://schemas.openxmlformats.org/officeDocument/2006/relationships/notesSlide" Target="/ppt/notesSlides/notesSlide15.xml" Id="Rd5de4f8325314ea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c7447c3f7d4e2b" /><Relationship Type="http://schemas.openxmlformats.org/officeDocument/2006/relationships/notesSlide" Target="/ppt/notesSlides/notesSlide16.xml" Id="R775713f730a44a5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7b6a84265d46f2" /><Relationship Type="http://schemas.openxmlformats.org/officeDocument/2006/relationships/notesSlide" Target="/ppt/notesSlides/notesSlide17.xml" Id="R0c7c7435537748c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be8f9f9e03495c" /><Relationship Type="http://schemas.openxmlformats.org/officeDocument/2006/relationships/notesSlide" Target="/ppt/notesSlides/notesSlide18.xml" Id="R19f2e5080c634b3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a082d74f26473d" /><Relationship Type="http://schemas.openxmlformats.org/officeDocument/2006/relationships/notesSlide" Target="/ppt/notesSlides/notesSlide19.xml" Id="Rbe84a4d63805444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4db7c8a88947c5" /><Relationship Type="http://schemas.openxmlformats.org/officeDocument/2006/relationships/notesSlide" Target="/ppt/notesSlides/notesSlide20.xml" Id="R3c5b90d2151f4b7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3c625564ed4f0d" /><Relationship Type="http://schemas.openxmlformats.org/officeDocument/2006/relationships/notesSlide" Target="/ppt/notesSlides/notesSlide21.xml" Id="R623123a6725a4ce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d786a6a33347e8" /><Relationship Type="http://schemas.openxmlformats.org/officeDocument/2006/relationships/notesSlide" Target="/ppt/notesSlides/notesSlide22.xml" Id="R409b031955014b1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73D074-3F33-4579-822A-685A9866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13D74-5AC5-4A52-BD74-B6571B4F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11633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9EE7DC"/>
                </a:solidFill>
              </a:rPr>
              <a:t>Khóa luận tốt nghiệp · Báo cáo kiến trúc hệ thống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DF2C9-B9C9-4C67-B25C-AB254A76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7240"/>
            <a:ext cx="11163300" cy="4343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850" b="1">
                <a:solidFill>
                  <a:srgbClr val="FFFFFF"/>
                </a:solidFill>
              </a:rPr>
              <a:t>QRTable: SaaS POS tích hợp đặt món qua mã QR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6D2D1C-2DA0-4441-A919-3F9F3F72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5880"/>
            <a:ext cx="111633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D7E7E4"/>
                </a:solidFill>
              </a:rPr>
              <a:t>Microservices · Multi-tenant · RBAC · Redis session/cart · Kafka domain events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11585D-A64C-4E24-9D11-AA0B5FC9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8320"/>
            <a:ext cx="36068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FBB21D-E346-4D36-A45A-4DCD513B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9770"/>
            <a:ext cx="3263900" cy="388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9EE7DC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BD0B30-C955-4304-9478-76A1D397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5540"/>
            <a:ext cx="326390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17202A"/>
                </a:solidFill>
              </a:rPr>
              <a:t>Ứng dụng frontend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D2EE70-1088-47D1-B4EA-168972FA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2710"/>
            <a:ext cx="32639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Customer PWA và Management 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15248A-FE7C-44AC-9427-8900F08C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1798320"/>
            <a:ext cx="36068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750114-AA32-4463-9F2D-0DA2C613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1969770"/>
            <a:ext cx="3263900" cy="388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F6C177"/>
                </a:solidFill>
              </a:rPr>
              <a:t>5+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AD71E0-8046-4747-AD5C-4AF69026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415540"/>
            <a:ext cx="326390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17202A"/>
                </a:solidFill>
              </a:rPr>
              <a:t>Backend services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5CF059-CCCE-4C88-8BF8-7690CC84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632710"/>
            <a:ext cx="32639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BFF, Authorizer, User-Access, Catalog, Order, SaaS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C81933-936E-4A0B-AADD-26D80243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798320"/>
            <a:ext cx="36068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3F0F0A-C31C-424F-82FD-0428F0F2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300" y="1969770"/>
            <a:ext cx="3263900" cy="388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FCA5A5"/>
                </a:solidFill>
              </a:rPr>
              <a:t>Phase 2A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ADDE9C-1B13-4C6D-A2D7-E5D071A5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300" y="2415540"/>
            <a:ext cx="326390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17202A"/>
                </a:solidFill>
              </a:rPr>
              <a:t>Đã triển khai sâu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6524B4-608C-4F72-A70E-7FE310F3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300" y="2632710"/>
            <a:ext cx="32639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Ordering, permissions, Redis cart/session, Kafka outbox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8FEF9B-9893-49E0-B393-022B0827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98520"/>
            <a:ext cx="111633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F2937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A77D04-B986-47F7-99CF-6322A3A7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7120"/>
            <a:ext cx="10706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9EE7DC"/>
                </a:solidFill>
              </a:rPr>
              <a:t>Thông điệp chính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3D0DAD-9D72-42C4-9E96-92065130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12870"/>
            <a:ext cx="10706100" cy="4800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75" b="0">
                <a:solidFill>
                  <a:srgbClr val="FFFFFF"/>
                </a:solidFill>
              </a:rPr>
              <a:t>Deck này trình bày QRTable như một hệ thống luận văn hoàn chỉnh đang phát triển: đi từ bối cảnh bài toán, kiến trúc tổng quan, các flow nghiệp vụ, RBAC/auth, đến chiến lược kiểm thử và roadmap.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51C109-666A-4BB8-A123-CFF54B77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53150"/>
            <a:ext cx="55816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9CA3AF"/>
                </a:solidFill>
              </a:rPr>
              <a:t>Đề tài: SaaS POS with QR Code Ordering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FF8573-4B95-45E3-B539-B628E6CD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153150"/>
            <a:ext cx="55816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9CA3AF"/>
                </a:solidFill>
              </a:rPr>
              <a:t>Architecture / Phase 2A implemented</a:t>
            </a:r>
          </a:p>
        </p:txBody>
      </p:sp>
    </p:spTree>
    <p:extLst>
      <p:ext uri="{BB962C8B-B14F-4D97-AF65-F5344CB8AC3E}">
        <p14:creationId xmlns:p14="http://schemas.microsoft.com/office/powerpoint/2010/main" val="5053508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A15E52-06B7-4885-9502-36FEFEC6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75400E-A675-4258-AAF9-3B6BA71A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113538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0F766E"/>
                </a:solidFill>
              </a:rPr>
              <a:t>01 · Bối cảnh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094860-BE58-4849-9BD9-94CB2C6F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1990"/>
            <a:ext cx="11353800" cy="8686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850" b="1">
                <a:solidFill>
                  <a:srgbClr val="17202A"/>
                </a:solidFill>
              </a:rPr>
              <a:t>Nhà hàng cần số hóa cả quy trình, không chỉ thay menu giấy bằng QR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D3AE13-BADC-4B70-B00A-600115B4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64970"/>
            <a:ext cx="113538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5D6673"/>
                </a:solidFill>
              </a:rPr>
              <a:t>Điểm nghẽn nằm ở order handoff, phân quyền, dữ liệu bàn và trạng thái thời gian thực.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406E73-3055-4542-A98A-CBCB3D66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9310"/>
            <a:ext cx="557212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D5561-C19C-4CA9-840A-74C2A701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70760"/>
            <a:ext cx="5229225" cy="2400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D65A3A"/>
                </a:solidFill>
              </a:rPr>
              <a:t>Vấn đề vận hành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BC1BB-034D-4C4D-ADC7-EAD7BC05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44140"/>
            <a:ext cx="5229225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00">
                <a:solidFill>
                  <a:srgbClr val="17202A"/>
                </a:solidFill>
              </a:defRPr>
            </a:pPr>
            <a:r>
              <a:rPr sz="1200">
                <a:solidFill>
                  <a:srgbClr val="17202A"/>
                </a:solidFill>
              </a:rPr>
              <a:t>Khách chờ nhân viên đưa menu và ghi món.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200">
                <a:solidFill>
                  <a:srgbClr val="17202A"/>
                </a:solidFill>
              </a:defRPr>
            </a:pPr>
            <a:r>
              <a:rPr sz="1200">
                <a:solidFill>
                  <a:srgbClr val="17202A"/>
                </a:solidFill>
              </a:rPr>
              <a:t>Order thủ công dễ sai, thiếu note hoặc chuyển bếp chậm.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200">
                <a:solidFill>
                  <a:srgbClr val="17202A"/>
                </a:solidFill>
              </a:defRPr>
            </a:pPr>
            <a:r>
              <a:rPr sz="1200">
                <a:solidFill>
                  <a:srgbClr val="17202A"/>
                </a:solidFill>
              </a:rPr>
              <a:t>Nhân viên khó theo dõi bàn, order, bill theo trạng thái thật.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200">
                <a:solidFill>
                  <a:srgbClr val="17202A"/>
                </a:solidFill>
              </a:defRPr>
            </a:pPr>
            <a:r>
              <a:rPr sz="1200">
                <a:solidFill>
                  <a:srgbClr val="17202A"/>
                </a:solidFill>
              </a:rPr>
              <a:t>Nhiều nhà hàng/chi nhánh cần cô lập dữ liệu và role rõ ràng.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97EE84-41BA-4D8B-8F10-6A91BF28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99310"/>
            <a:ext cx="557212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6633CA-2D26-4FC9-9575-B6B9CED3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270760"/>
            <a:ext cx="5229225" cy="2400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0F766E"/>
                </a:solidFill>
              </a:rPr>
              <a:t>Mục tiêu của QRTable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18C00-7956-448D-B2C9-FDBC5B3C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644140"/>
            <a:ext cx="5229225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00">
                <a:solidFill>
                  <a:srgbClr val="17202A"/>
                </a:solidFill>
              </a:defRPr>
            </a:pPr>
            <a:r>
              <a:rPr sz="1200">
                <a:solidFill>
                  <a:srgbClr val="17202A"/>
                </a:solidFill>
              </a:rPr>
              <a:t>Customer PWA cho khách quét QR, xem menu, thêm cart, gửi order.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200">
                <a:solidFill>
                  <a:srgbClr val="17202A"/>
                </a:solidFill>
              </a:defRPr>
            </a:pPr>
            <a:r>
              <a:rPr sz="1200">
                <a:solidFill>
                  <a:srgbClr val="17202A"/>
                </a:solidFill>
              </a:rPr>
              <a:t>Management App cho owner/manager/waiter vận hành POS, menu, bàn.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200">
                <a:solidFill>
                  <a:srgbClr val="17202A"/>
                </a:solidFill>
              </a:defRPr>
            </a:pPr>
            <a:r>
              <a:rPr sz="1200">
                <a:solidFill>
                  <a:srgbClr val="17202A"/>
                </a:solidFill>
              </a:rPr>
              <a:t>Backend microservices có guard, tenant isolation, cache và event.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200">
                <a:solidFill>
                  <a:srgbClr val="17202A"/>
                </a:solidFill>
              </a:defRPr>
            </a:pPr>
            <a:r>
              <a:rPr sz="1200">
                <a:solidFill>
                  <a:srgbClr val="17202A"/>
                </a:solidFill>
              </a:rPr>
              <a:t>Kiến trúc đủ mở rộng sang KDS, payment, observability.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C909A5-99A9-46A0-9517-E350BA61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567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7A6F63"/>
                </a:solidFill>
              </a:rPr>
              <a:t>QRTable Thesis Deck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BCC9DF-145E-4707-B10C-F8B6A936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248400"/>
            <a:ext cx="567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7A6F63"/>
                </a:solidFill>
              </a:rPr>
              <a:t>Architecture / Phase 2A implemented</a:t>
            </a:r>
          </a:p>
        </p:txBody>
      </p:sp>
    </p:spTree>
    <p:extLst>
      <p:ext uri="{BB962C8B-B14F-4D97-AF65-F5344CB8AC3E}">
        <p14:creationId xmlns:p14="http://schemas.microsoft.com/office/powerpoint/2010/main" val="10536503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BCDB06-9869-41D0-BB46-678DD589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534478-1B2A-4EEC-896C-74F81B8B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113538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0F766E"/>
                </a:solidFill>
              </a:rPr>
              <a:t>02 · Design drivers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CC112-4829-4AD0-9454-96BB8D81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1990"/>
            <a:ext cx="11353800" cy="8686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850" b="1">
                <a:solidFill>
                  <a:srgbClr val="17202A"/>
                </a:solidFill>
              </a:rPr>
              <a:t>Bốn yêu cầu chi phối kiến trúc: tenant, permission, realtime, consistency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F2246C-5E39-4086-9722-8D3EDDA5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64970"/>
            <a:ext cx="113538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5D6673"/>
                </a:solidFill>
              </a:rPr>
              <a:t>Những yêu cầu này quyết định cách chia service, lưu dữ liệu, chọn Redis/Kafka và guard chain.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16FE0C-3335-4412-A7B1-37544812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9310"/>
            <a:ext cx="27241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17BC2C-A488-4612-8DB4-CCBFCDE3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70760"/>
            <a:ext cx="2381250" cy="388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0F766E"/>
                </a:solidFill>
              </a:rPr>
              <a:t>Tenant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2FFF65-A6AD-42FE-BBE3-8D8C1DC2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16530"/>
            <a:ext cx="238125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17202A"/>
                </a:solidFill>
              </a:rPr>
              <a:t>Cô lập dữ liệu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7741A4-343A-4608-BF2C-F3A9E9D9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33700"/>
            <a:ext cx="238125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Mọi query và Redis key phải scope theo tenant_id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93F09D-463C-4480-A884-7150AFEA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99310"/>
            <a:ext cx="27241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B5C157-8A66-40F4-A22A-6886759D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70760"/>
            <a:ext cx="2381250" cy="388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2563EB"/>
                </a:solidFill>
              </a:rPr>
              <a:t>RBAC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98D2C9-33F8-429E-9C1B-598A8C74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16530"/>
            <a:ext cx="238125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17202A"/>
                </a:solidFill>
              </a:rPr>
              <a:t>Quyền theo vai trò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9A9D6B-F10D-4E80-B9D4-DF790BCE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33700"/>
            <a:ext cx="238125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Frontend chỉ UX; BFF PermissionGuard là source of truth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CB9966-6AAF-4CCD-9C51-4C3D43D3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9310"/>
            <a:ext cx="27241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A17E02-4AB1-43C6-B01C-A541C1CC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70760"/>
            <a:ext cx="2381250" cy="388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C47A22"/>
                </a:solidFill>
              </a:rPr>
              <a:t>Realtime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942139-6D55-4D90-AF96-3715D3A4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16530"/>
            <a:ext cx="238125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17202A"/>
                </a:solidFill>
              </a:rPr>
              <a:t>UI vận hành sống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21EB32-C057-4F8E-9DE6-46AA9878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33700"/>
            <a:ext cx="238125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BFF Direct/WebSocket cho hints, REST vẫn là source of truth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C207CE-866E-4C55-A8A5-200799EF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99310"/>
            <a:ext cx="27241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38D5B8-B60A-4931-99FB-A2305BF8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70760"/>
            <a:ext cx="2381250" cy="388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D65A3A"/>
                </a:solidFill>
              </a:rPr>
              <a:t>Consistency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D7A81C-4363-4E66-B3C4-99B5F8EB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16530"/>
            <a:ext cx="238125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17202A"/>
                </a:solidFill>
              </a:rPr>
              <a:t>Tránh race condition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B11200-385E-4CDA-BA87-23BE8A2D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33700"/>
            <a:ext cx="238125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Cart version, idempotency, stock deduct transactional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82EF2C-FF67-4EBA-BE61-C69BFB9A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23310"/>
            <a:ext cx="113538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8EC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A1DD5D-B908-448C-8D9A-5AAD0ECB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32860"/>
            <a:ext cx="228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202A"/>
                </a:solidFill>
              </a:rPr>
              <a:t>Quyết định thiết kế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9190AB-EF2B-4E8A-BB34-BD437487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832860"/>
            <a:ext cx="8477250" cy="651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425" b="0">
                <a:solidFill>
                  <a:srgbClr val="5D6673"/>
                </a:solidFill>
              </a:rPr>
              <a:t>BFF làm API Gateway duy nhất; Catalog sở hữu menu/table/stock; Order sở hữu session/cart/order/bill; Redis giữ runtime state; Kafka chỉ nhận domain event cần xử lý nghiệp vụ bất đồng bộ như order.confirmed.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BDD811-9A4F-4F6C-AEFF-50FF2934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567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7A6F63"/>
                </a:solidFill>
              </a:rPr>
              <a:t>QRTable Thesis Deck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46D9CD-1822-4271-824D-FE10FD88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248400"/>
            <a:ext cx="567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7A6F63"/>
                </a:solidFill>
              </a:rPr>
              <a:t>Architecture / Phase 2A implemented</a:t>
            </a:r>
          </a:p>
        </p:txBody>
      </p:sp>
    </p:spTree>
    <p:extLst>
      <p:ext uri="{BB962C8B-B14F-4D97-AF65-F5344CB8AC3E}">
        <p14:creationId xmlns:p14="http://schemas.microsoft.com/office/powerpoint/2010/main" val="133383267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294F0A-47E6-4163-901B-CA968C21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82EDCD-9CFF-4A09-8528-EFD71961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113538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0F766E"/>
                </a:solidFill>
              </a:rPr>
              <a:t>03 · 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BB651-8153-401E-822F-968E9A24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1990"/>
            <a:ext cx="11353800" cy="4343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850" b="1">
                <a:solidFill>
                  <a:srgbClr val="17202A"/>
                </a:solidFill>
              </a:rPr>
              <a:t>BFF đứng giữa frontend và các bounded-context services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8ED27E-7765-4C1D-900B-24378267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30630"/>
            <a:ext cx="113538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5D6673"/>
                </a:solidFill>
              </a:rPr>
              <a:t>Frontend không gọi thẳng service nội bộ; mọi request đi qua guard, tenant context và response wrapper tại BFF.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74AD24-0FD4-4741-97AD-EB22CC77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5470"/>
            <a:ext cx="21907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CF6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8C9F4-5D79-4EB4-B542-603EC75D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26920"/>
            <a:ext cx="18478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6F4F1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07947-E3DE-40FE-A29C-FC7CE3B4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0270"/>
            <a:ext cx="15811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Customer PWA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0ED15E-1062-4F6F-9DB0-7EFF73D2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158115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QR ordering, menu, cart, tracking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E6C744-3902-4C8D-8206-B3B83F1E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22270"/>
            <a:ext cx="18478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2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8C6891-F138-4655-A7D6-E847BF9E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55620"/>
            <a:ext cx="15811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Management App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BD0CBC-877F-4DA4-8B09-C84A40F5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158115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POS, menu/table admin, service inbox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8C45DC-8624-4811-9F5A-CAFCC843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588895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12DA53-6706-4EF4-880F-8FF1ACB5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03145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27FE7B-C4B3-49F6-9932-B373DD68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36495"/>
            <a:ext cx="21145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FFFFF"/>
                </a:solidFill>
              </a:rPr>
              <a:t>BFF API Gateway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B23918-567C-4656-A579-C5DF3D32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76525"/>
            <a:ext cx="211455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D7E7E4"/>
                </a:solidFill>
              </a:rPr>
              <a:t>REST entrypoint, guard chain, TCP/gRPC clients, WebSocket hints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7B0EE7-E916-4040-AD9A-ADDFFA8C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88895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5A29CB-AEBB-4474-B4DA-F5A763C5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64970"/>
            <a:ext cx="5524500" cy="24193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B1BF5A-F2C2-43E0-83FD-3B730E7A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36420"/>
            <a:ext cx="254317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1E8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8CEC54-0B98-4B5C-850A-9370EA3B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69770"/>
            <a:ext cx="2276475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Authorizer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2D1CFA-3C1B-44EA-97A3-AA580314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09800"/>
            <a:ext cx="2276475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JWT verify / permissions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EFDD5-5B62-4102-AAF9-CE8302CF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836420"/>
            <a:ext cx="254317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1E8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78AEF5-9F84-4B00-9979-4B639D9D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969770"/>
            <a:ext cx="2276475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User-Access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E954DC-1992-45F0-BCD0-A827BEB9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09800"/>
            <a:ext cx="2276475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users / roles / MongoDB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649823-0F90-43B5-8401-2A8512B1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36520"/>
            <a:ext cx="254317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7EA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72E65B-38B9-4574-A919-9A9BC3EF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69870"/>
            <a:ext cx="2276475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Catalog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138287-9B08-40AB-A04A-78F3B848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09900"/>
            <a:ext cx="2276475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menu / table / QR / stock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6D3EB6-27B1-4879-A2DE-55F804A8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636520"/>
            <a:ext cx="254317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9F2F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23D807-3D4C-49DF-B908-D41E1AB0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69870"/>
            <a:ext cx="2276475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Order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F10F91-BE72-4B94-A19A-EF8D52F4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09900"/>
            <a:ext cx="2276475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session / cart / order / bill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D01D1A-64C7-4A17-8331-05B9FBEA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36620"/>
            <a:ext cx="51816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7ECDD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366A6E-EE3A-4CF6-B400-D75CA9C2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69970"/>
            <a:ext cx="491490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SaaS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83746B-AF51-4AF9-9FC4-C973F6FB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10000"/>
            <a:ext cx="49149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tenant lifecycle / onboarding roadmap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2C471E-8634-4F75-AA71-71FC0A42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36720"/>
            <a:ext cx="217932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3F4F6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8C7845-0021-4464-B5C9-F796FB5C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70070"/>
            <a:ext cx="19126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Keycloak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18970F-34A5-4D9B-A5CD-977D33E6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191262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OAuth2/OIDC identity provider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E1BF9C-2F99-484C-8739-5E6BBA87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720" y="4236720"/>
            <a:ext cx="217932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3F4F6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6ECD5C-57DB-4F6E-939B-638E06EA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070" y="4370070"/>
            <a:ext cx="19126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PostgreSQL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9B5650-FF41-402B-AFD6-047B9887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070" y="4610100"/>
            <a:ext cx="191262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tenant/catalog/order operational data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82BFCB-F27A-44BB-BC56-DA77BBD3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340" y="4236720"/>
            <a:ext cx="217932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3F4F6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F0A482-AD7E-4BF9-A765-664AD0AA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690" y="4370070"/>
            <a:ext cx="19126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MongoDB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B28C93-D580-4A3D-8697-81CB7AE4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690" y="4610100"/>
            <a:ext cx="191262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users, roles, permissions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311C107-044E-4E94-9C45-76B1C9C4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4236720"/>
            <a:ext cx="217932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3F4F6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2DCB34-7243-4A82-8B3E-10884749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4370070"/>
            <a:ext cx="19126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Redis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25054FA-6EB4-4758-9A7F-59FF6F3F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4610100"/>
            <a:ext cx="191262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auth cache, menu cache, session, cart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69B9A87-BCA7-4FB3-86A9-F6C954B8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3580" y="4236720"/>
            <a:ext cx="217932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3F4F6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98292C4-168F-4A69-A15C-286B04B8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6930" y="4370070"/>
            <a:ext cx="19126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Kafka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E9B4A3F-CCF6-4F84-B1CB-DC3084C5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6930" y="4610100"/>
            <a:ext cx="191262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domain event: order.confirmed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2C98570-3C51-4820-84A8-0F9F13C9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93970"/>
            <a:ext cx="1135380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5D6673"/>
                </a:solidFill>
              </a:rPr>
              <a:t>Triển khai hiện tại dùng chung database dev qrtable nhưng đã giữ tenant_id discriminator và ownership boundary để chuẩn bị tách database-per-service sau này.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72AB933-C08C-40FC-9B46-CA5F58F0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567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7A6F63"/>
                </a:solidFill>
              </a:rPr>
              <a:t>QRTable Thesis Deck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747264F-6A50-498B-BA63-2D239D17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248400"/>
            <a:ext cx="567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7A6F63"/>
                </a:solidFill>
              </a:rPr>
              <a:t>Architecture / Phase 2A implemented</a:t>
            </a:r>
          </a:p>
        </p:txBody>
      </p:sp>
    </p:spTree>
    <p:extLst>
      <p:ext uri="{BB962C8B-B14F-4D97-AF65-F5344CB8AC3E}">
        <p14:creationId xmlns:p14="http://schemas.microsoft.com/office/powerpoint/2010/main" val="4811972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D4EC38-DFB5-45AD-9E04-FCEE2DEA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87F77A-CD6F-4F2A-AF7B-E7D32C91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113538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0F766E"/>
                </a:solidFill>
              </a:rPr>
              <a:t>04 · Frontend apps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EC8631-D4C0-4F0E-BA4E-6712BC81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1990"/>
            <a:ext cx="11353800" cy="4343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850" b="1">
                <a:solidFill>
                  <a:srgbClr val="17202A"/>
                </a:solidFill>
              </a:rPr>
              <a:t>Hai ứng dụng frontend phục vụ hai loại actor khác nhau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30252-25C7-4A9C-BFED-1DEE4C0C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30630"/>
            <a:ext cx="113538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5D6673"/>
                </a:solidFill>
              </a:rPr>
              <a:t>Customer đi bằng session từ QR; staff đi bằng JWT/role/permission.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87E8A-D353-4A17-8A31-3BDE2E45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64970"/>
            <a:ext cx="55626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7EE947-5C65-415C-B1EE-A0B05B3C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6420"/>
            <a:ext cx="52197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6F4F1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C9ACD6-3E0F-4DF9-BA93-1B24D849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9770"/>
            <a:ext cx="495300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Customer PWA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C132E-A557-428E-B4FB-7C9116A4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49530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Khách tại bàn · không cần login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E82656-8E0F-4E31-A993-AB5F81C9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12720"/>
            <a:ext cx="52197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125">
                <a:solidFill>
                  <a:srgbClr val="17202A"/>
                </a:solidFill>
              </a:defRPr>
            </a:pPr>
            <a:r>
              <a:rPr sz="1125">
                <a:solidFill>
                  <a:srgbClr val="17202A"/>
                </a:solidFill>
              </a:rPr>
              <a:t>Resolve tenant slug và validate QR token.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125">
                <a:solidFill>
                  <a:srgbClr val="17202A"/>
                </a:solidFill>
              </a:defRPr>
            </a:pPr>
            <a:r>
              <a:rPr sz="1125">
                <a:solidFill>
                  <a:srgbClr val="17202A"/>
                </a:solidFill>
              </a:rPr>
              <a:t>Join table session, lưu sessionId.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125">
                <a:solidFill>
                  <a:srgbClr val="17202A"/>
                </a:solidFill>
              </a:defRPr>
            </a:pPr>
            <a:r>
              <a:rPr sz="1125">
                <a:solidFill>
                  <a:srgbClr val="17202A"/>
                </a:solidFill>
              </a:rPr>
              <a:t>Xem menu thật theo tenant.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125">
                <a:solidFill>
                  <a:srgbClr val="17202A"/>
                </a:solidFill>
              </a:defRPr>
            </a:pPr>
            <a:r>
              <a:rPr sz="1125">
                <a:solidFill>
                  <a:srgbClr val="17202A"/>
                </a:solidFill>
              </a:rPr>
              <a:t>Cart Redis + cartVersion.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125">
                <a:solidFill>
                  <a:srgbClr val="17202A"/>
                </a:solidFill>
              </a:defRPr>
            </a:pPr>
            <a:r>
              <a:rPr sz="1125">
                <a:solidFill>
                  <a:srgbClr val="17202A"/>
                </a:solidFill>
              </a:rPr>
              <a:t>Submit order, tracking, service request, bill request.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09431E-E321-4ECA-9411-9F385F15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64970"/>
            <a:ext cx="55626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ECED20-8B5F-4A41-961C-BF2FF311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36420"/>
            <a:ext cx="52197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EF2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590696-C4C8-45EF-B6D3-6E89B04C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69770"/>
            <a:ext cx="495300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Management App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578C95-8791-4E28-AE31-974F30C4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09800"/>
            <a:ext cx="49530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Owner / Manager / Waiter / Kitchen / Bar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DC54D7-5A19-4123-996F-BD72C99B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12720"/>
            <a:ext cx="52197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125">
                <a:solidFill>
                  <a:srgbClr val="17202A"/>
                </a:solidFill>
              </a:defRPr>
            </a:pPr>
            <a:r>
              <a:rPr sz="1125">
                <a:solidFill>
                  <a:srgbClr val="17202A"/>
                </a:solidFill>
              </a:rPr>
              <a:t>Login bằng Keycloak JWT.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125">
                <a:solidFill>
                  <a:srgbClr val="17202A"/>
                </a:solidFill>
              </a:defRPr>
            </a:pPr>
            <a:r>
              <a:rPr sz="1125">
                <a:solidFill>
                  <a:srgbClr val="17202A"/>
                </a:solidFill>
              </a:rPr>
              <a:t>Sidebar/route theo role để cải thiện UX.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125">
                <a:solidFill>
                  <a:srgbClr val="17202A"/>
                </a:solidFill>
              </a:defRPr>
            </a:pPr>
            <a:r>
              <a:rPr sz="1125">
                <a:solidFill>
                  <a:srgbClr val="17202A"/>
                </a:solidFill>
              </a:rPr>
              <a:t>POS live orders gọi API thật.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125">
                <a:solidFill>
                  <a:srgbClr val="17202A"/>
                </a:solidFill>
              </a:defRPr>
            </a:pPr>
            <a:r>
              <a:rPr sz="1125">
                <a:solidFill>
                  <a:srgbClr val="17202A"/>
                </a:solidFill>
              </a:rPr>
              <a:t>Confirm/cancel order theo permission.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125">
                <a:solidFill>
                  <a:srgbClr val="17202A"/>
                </a:solidFill>
              </a:defRPr>
            </a:pPr>
            <a:r>
              <a:rPr sz="1125">
                <a:solidFill>
                  <a:srgbClr val="17202A"/>
                </a:solidFill>
              </a:rPr>
              <a:t>Menu, bàn, QR, service inbox, transfer table.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F0668E-0177-47B0-A964-B18E1B76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567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7A6F63"/>
                </a:solidFill>
              </a:rPr>
              <a:t>QRTable Thesis Deck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64006B-46A7-4E59-8373-8F926571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248400"/>
            <a:ext cx="567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7A6F63"/>
                </a:solidFill>
              </a:rPr>
              <a:t>Architecture / Phase 2A implemented</a:t>
            </a:r>
          </a:p>
        </p:txBody>
      </p:sp>
    </p:spTree>
    <p:extLst>
      <p:ext uri="{BB962C8B-B14F-4D97-AF65-F5344CB8AC3E}">
        <p14:creationId xmlns:p14="http://schemas.microsoft.com/office/powerpoint/2010/main" val="35630554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E9AA9D-2292-4FA4-9C25-0426E5A0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48C4F7-ABFA-46C7-AB38-66E45BE1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113538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0F766E"/>
                </a:solidFill>
              </a:rPr>
              <a:t>05 · Backend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638BA6-D3DB-4F5E-9A53-0DBA23BE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1990"/>
            <a:ext cx="11353800" cy="8686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850" b="1">
                <a:solidFill>
                  <a:srgbClr val="17202A"/>
                </a:solidFill>
              </a:rPr>
              <a:t>Service boundary được chia theo ownership, không chia theo màn hình UI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7ACC4-A3E8-49D6-8F5E-49063546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64970"/>
            <a:ext cx="113538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5D6673"/>
                </a:solidFill>
              </a:rPr>
              <a:t>Mỗi service chịu trách nhiệm một miền dữ liệu và contract giao tiếp rõ ràng.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C9ACD6-00D5-41E3-BBC4-C18FD333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9310"/>
            <a:ext cx="2838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0AF989-21D9-4F87-BEEC-6465BAC9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4560"/>
            <a:ext cx="26479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FFFFFF"/>
                </a:solidFill>
              </a:rPr>
              <a:t>Service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93F178-8865-44C0-A3BD-E2B6E182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99310"/>
            <a:ext cx="2838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4E74C-FDE2-4D40-8233-128E0CA2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94560"/>
            <a:ext cx="26479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FFFFFF"/>
                </a:solidFill>
              </a:rPr>
              <a:t>Trách nhiệm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C8A052-A477-44B3-9117-45A5DF77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9310"/>
            <a:ext cx="2838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74AA35-21D8-43F0-A265-8DB6F0C5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4560"/>
            <a:ext cx="26479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FFFFFF"/>
                </a:solidFill>
              </a:rPr>
              <a:t>Dữ liệu sở hữu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3C0885-FE74-46EB-8594-3FF57F90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99310"/>
            <a:ext cx="2838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6071B7-6EDD-4E5A-B108-552D5731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94560"/>
            <a:ext cx="26479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FFFFFF"/>
                </a:solidFill>
              </a:rPr>
              <a:t>Giao tiếp chính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474A50-89D1-4A55-835D-100745D6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99360"/>
            <a:ext cx="2838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1BFB5D-4CB8-4A2F-A5D0-DE414541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585085"/>
            <a:ext cx="2667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BFF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C48FF1-929B-480D-9CD0-81A09578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99360"/>
            <a:ext cx="2838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71445E-7667-4017-8A2F-2DDB6FE2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585085"/>
            <a:ext cx="2667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API Gateway, guards, response wrapper, realtime hints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4B7F3D-FDA8-4B43-B567-2CAB4F22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99360"/>
            <a:ext cx="2838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F902A3-B6E5-427D-8865-49D83FC1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585085"/>
            <a:ext cx="2667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Không owner domain 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657A2E-EA58-445C-BB1F-0407E33D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99360"/>
            <a:ext cx="2838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AF21C4-6943-45F7-AAE2-8BA261AC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585085"/>
            <a:ext cx="2667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HTTP REST, TCP/gRPC clients, WebSocket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CA9DBA-B700-40A9-A0A5-31A3EA5F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32760"/>
            <a:ext cx="2838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3A8394-5B5A-4081-94F2-5A0F178C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118485"/>
            <a:ext cx="2667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Authorizer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AEDBC2-725C-4BDC-A480-3173EF1B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32760"/>
            <a:ext cx="2838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EB8B42-88F2-4021-AB51-18EDE2BF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118485"/>
            <a:ext cx="2667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JWT validation, role mapping, collect permissions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78633A-3ACA-45BE-BB1F-8CDB42B2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32760"/>
            <a:ext cx="2838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A55A03-B9A4-477B-B8A2-0A05458D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118485"/>
            <a:ext cx="2667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Auth cache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D33802-FEC4-4DBE-B079-D21E9F1E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32760"/>
            <a:ext cx="2838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7916FF-04ED-492E-ACEF-C8CB8E16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118485"/>
            <a:ext cx="2667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gRPC/TCP với BFF, Keycloak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E015BD-45A3-4B1B-AB04-2769A81B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66160"/>
            <a:ext cx="2838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BC71D1-547D-4EA3-8C58-528B6A3C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651885"/>
            <a:ext cx="2667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User-Access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346F63-FF3E-418A-A572-49E47D63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66160"/>
            <a:ext cx="2838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0ECA63-438F-4A9B-818D-C8EAFFBA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651885"/>
            <a:ext cx="2667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User, role, permission profile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34E292-6149-4A31-B791-DF3F8AEA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66160"/>
            <a:ext cx="2838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328AD6-5C72-4869-9D8A-6541E707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651885"/>
            <a:ext cx="2667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Mongo users/roles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8603A0-8CBC-4DEF-95AC-15BFCD0D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66160"/>
            <a:ext cx="2838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4EBFAB-6389-40AF-9FEC-1D4B0270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651885"/>
            <a:ext cx="2667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TCP/gRPC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3F4B4C-C2D1-4360-96F1-D721F3C1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99560"/>
            <a:ext cx="2838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A601FF-A831-4EE3-BEDC-2E1A9FC3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185285"/>
            <a:ext cx="2667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Catalog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BD7EB2-1B7D-4CC0-91EB-2F055874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99560"/>
            <a:ext cx="2838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5EBFE5-2331-47FE-B670-7F0B7244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185285"/>
            <a:ext cx="2667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Menu, category, area, table, QR, stock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383533-2581-4C76-A9AC-C13B74A2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9560"/>
            <a:ext cx="2838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A625E9-7BBD-4BE2-96EC-71F42B4D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85285"/>
            <a:ext cx="2667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Catalog tables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2FD433-1DCD-4A89-AA41-BDA777F5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99560"/>
            <a:ext cx="2838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F206125-297A-427E-931A-9F1ADEBE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185285"/>
            <a:ext cx="2667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TCP commands từ BFF/Order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F599E74-14E1-4E2E-83C6-5E21903C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32960"/>
            <a:ext cx="2838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AFCB07B-996C-46CC-9390-01D56ABC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718685"/>
            <a:ext cx="2667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Order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B97285D-75F1-4693-BAF4-B839C7F6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632960"/>
            <a:ext cx="2838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D1C5F72-2E07-4DD2-AFFA-61A1912A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718685"/>
            <a:ext cx="2667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Session, cart, order lifecycle, bill, service request, transfer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55F9740-1796-45B9-9240-8AA72DB5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32960"/>
            <a:ext cx="2838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8D34E86-45D2-4F62-AA78-3CEE9C7E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718685"/>
            <a:ext cx="2667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Order tables, Redis cart/session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AE84463-CB2E-409C-B786-78C79F42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632960"/>
            <a:ext cx="2838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48E791B-4D43-4F75-8343-F92DD5FA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718685"/>
            <a:ext cx="2667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TCP, PostgreSQL, Redis, Kafka outbox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8B0ACF7-259D-48F9-94D8-B363CD1D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66360"/>
            <a:ext cx="2838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7C5390C-0344-4C20-9335-3FA9F92B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252085"/>
            <a:ext cx="2667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SaaS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26DD91A-9247-46FB-9AB0-7CF39D25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166360"/>
            <a:ext cx="2838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975C220-CB46-495F-A6FF-3D24A496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252085"/>
            <a:ext cx="2667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Tenant lifecycle roadmap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88A2A87-F7DA-4334-984D-6C286A69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66360"/>
            <a:ext cx="2838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2622EBC-DB44-4E82-A3D1-645BD639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5252085"/>
            <a:ext cx="2667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Tenants/subscriptions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5F4B576-2BE5-4FC4-BE38-CE973B51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166360"/>
            <a:ext cx="2838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D1D27C7-311C-460C-AF2C-32A4FAD6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252085"/>
            <a:ext cx="2667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Future Phase 4B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31C9629-1666-4976-9EF8-EEE550CF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567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7A6F63"/>
                </a:solidFill>
              </a:rPr>
              <a:t>QRTable Thesis Deck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348A728-CD4C-4463-A6F0-9DC3335A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248400"/>
            <a:ext cx="567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7A6F63"/>
                </a:solidFill>
              </a:rPr>
              <a:t>Architecture / Phase 2A implemented</a:t>
            </a:r>
          </a:p>
        </p:txBody>
      </p:sp>
    </p:spTree>
    <p:extLst>
      <p:ext uri="{BB962C8B-B14F-4D97-AF65-F5344CB8AC3E}">
        <p14:creationId xmlns:p14="http://schemas.microsoft.com/office/powerpoint/2010/main" val="204359983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80C3E6-6BBF-44F0-A6E6-429FD368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3AC30-4F9D-474F-A82D-612C6A2C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113538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0F766E"/>
                </a:solidFill>
              </a:rPr>
              <a:t>06 · Communication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7CEF05-1C03-4483-B37E-3450578C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1990"/>
            <a:ext cx="11353800" cy="8686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850" b="1">
                <a:solidFill>
                  <a:srgbClr val="17202A"/>
                </a:solidFill>
              </a:rPr>
              <a:t>Mỗi kênh giao tiếp có vai trò riêng, tránh dùng Kafka như UI proxy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881FE-B07F-4676-91E0-F8E79F24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64970"/>
            <a:ext cx="113538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5D6673"/>
                </a:solidFill>
              </a:rPr>
              <a:t>Kiến trúc chọn kênh theo semantics: request/response, auth, runtime state, domain event hay UI hint.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DB12DA-9C5F-4971-8814-CB03A30E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9310"/>
            <a:ext cx="2838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F1549D-B02B-4BA3-A400-4340E604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4560"/>
            <a:ext cx="26479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FFFFFF"/>
                </a:solidFill>
              </a:rPr>
              <a:t>Kênh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24A43D-0273-4AB5-9216-22CD0752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99310"/>
            <a:ext cx="2838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36BD9E-103C-4C0D-993D-9593DE97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94560"/>
            <a:ext cx="26479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FFFFFF"/>
                </a:solidFill>
              </a:rPr>
              <a:t>Dùng cho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054AD7-3ACD-4BEE-8535-D7985682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9310"/>
            <a:ext cx="2838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BDD8EF-85F7-4451-99A9-80D5F439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4560"/>
            <a:ext cx="26479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FFFFFF"/>
                </a:solidFill>
              </a:rPr>
              <a:t>Ví dụ trong QRTable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2016CA-8D0F-4FD5-BBE2-5AAF81C5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99310"/>
            <a:ext cx="2838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C3AE0F-6367-40A7-8674-AE77EA03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94560"/>
            <a:ext cx="26479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FFFFFF"/>
                </a:solidFill>
              </a:rPr>
              <a:t>Lý 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3193C1-89E8-4CEB-A301-375C6FFE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99360"/>
            <a:ext cx="283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929558-D440-4509-B826-656FDFEF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585085"/>
            <a:ext cx="2667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HTTP REST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CCC18A-C5FA-4290-9B83-C705F86B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99360"/>
            <a:ext cx="283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DBD005-4662-49A5-A3DF-477F91F6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585085"/>
            <a:ext cx="2667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Frontend gọi BFF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706329-9E4D-4090-A9AA-B959989F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99360"/>
            <a:ext cx="283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3EA893-EDC9-433D-ADB6-D38F1977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585085"/>
            <a:ext cx="2667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POST /customer/orders, GET /admin/orders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267C39-69DB-4C8E-AC57-5D10ABC8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99360"/>
            <a:ext cx="283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C956C1-AB0E-488D-82AE-51649495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585085"/>
            <a:ext cx="2667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Đơn giản, thống nhất auth/response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AD2DC2-066F-433C-949A-EC4F2DA9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56560"/>
            <a:ext cx="283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8100EA-EDF4-45EC-8E60-1ABF2E05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042285"/>
            <a:ext cx="2667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TCP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C8D9C6-EBBD-4C89-9686-834C478A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56560"/>
            <a:ext cx="283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FD6729-380F-4FB5-9479-EC596376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042285"/>
            <a:ext cx="2667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BFF gọi microservice nội bộ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5DB230-C931-4323-BEF7-EC6153EA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6560"/>
            <a:ext cx="283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EF9C7B-0EA4-4144-90F9-AB1E936F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042285"/>
            <a:ext cx="2667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Order confirm, Catalog validate QR/deduct stock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02FA3C-118B-45CC-991F-47068878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56560"/>
            <a:ext cx="283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CC2854-D188-46C9-9200-9DFEF412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042285"/>
            <a:ext cx="2667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Request-response nội bộ nhanh, typed pattern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655F39-5F0B-48F7-9B1E-F8156D22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13760"/>
            <a:ext cx="283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1D0DB4-4009-41A3-A529-D1C6CA63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499485"/>
            <a:ext cx="2667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gRPC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1FD4DC-318F-4F80-9221-07C7DA7F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13760"/>
            <a:ext cx="283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97702D-F730-4F5C-9A47-1C04F272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499485"/>
            <a:ext cx="2667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Auth/user verification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5A39CE-C681-4D33-9A28-57DBB29D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13760"/>
            <a:ext cx="283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04D8EE-0064-45E8-9E08-9120B3FE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499485"/>
            <a:ext cx="2667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UserGuard gọi Authorizer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C03E61-6F70-435E-AA91-C2DB8D7A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13760"/>
            <a:ext cx="283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56BDC6-5F33-44D1-AE59-CB2D3CD7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499485"/>
            <a:ext cx="2667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Schema rõ, phù hợp auth metadata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C01302-8563-4B95-976C-8F8A434C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70960"/>
            <a:ext cx="283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33CE19-1F2C-451D-8BDA-53CD4CCE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956685"/>
            <a:ext cx="2667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Redis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05F160-7BF9-4A20-BFA5-42D20AB8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870960"/>
            <a:ext cx="283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B11B8F-8A35-4C1E-B9BD-429BC59E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956685"/>
            <a:ext cx="2667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Runtime/cache state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CD69254-F3B5-4F2C-B80D-A513B6E0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70960"/>
            <a:ext cx="283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0976F5D-FF7E-4353-BAA9-72AFC179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956685"/>
            <a:ext cx="2667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cart:{tenantId}:{sessionId}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94629E3-E20E-4973-96A2-C3A9E1B2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870960"/>
            <a:ext cx="283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455ED99-1F62-460A-A56B-53188022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956685"/>
            <a:ext cx="2667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Nhanh, TTL, shared cart/session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112D3C6-EF35-4273-B093-6B305DE4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28160"/>
            <a:ext cx="283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8CC6876-8802-4F04-8B6F-4578738D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413885"/>
            <a:ext cx="2667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Kafka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4AA8664-F6D4-4E5D-8581-191783C0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328160"/>
            <a:ext cx="283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2D037F7-A0D8-4EFE-B978-D1263947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413885"/>
            <a:ext cx="2667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Domain event bất đồng bộ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7C06C29-3418-464D-9EDC-9F961BFF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28160"/>
            <a:ext cx="283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6CCD861-53A1-48DF-B5BA-2F989219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413885"/>
            <a:ext cx="2667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order.confirmed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E12B111-3E95-46BE-8DE1-2DBCD4CB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28160"/>
            <a:ext cx="283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84F9CC8-1D99-48DF-A172-96458FC3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413885"/>
            <a:ext cx="2667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Consumer nghiệp vụ không chặn producer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778AA84-D9BC-4E9F-8519-2DFED138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85360"/>
            <a:ext cx="283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BC2CD9E-0866-490F-AC39-264FF950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871085"/>
            <a:ext cx="2667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WebSocket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4073A8E-805C-46B8-88E1-C4525E17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785360"/>
            <a:ext cx="283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2AFA3F0-8BF1-4675-98EC-974CC82F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871085"/>
            <a:ext cx="2667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Realtime UI hints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85B734C-5634-4307-8B18-2AB0DD1A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85360"/>
            <a:ext cx="283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479D5B1-EB87-4927-B685-69FA94D6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871085"/>
            <a:ext cx="2667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order.created, cart.updated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F994D75-C482-44A8-874A-FE3258CC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85360"/>
            <a:ext cx="283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C9412F3-C697-4400-874E-0CE7D004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871085"/>
            <a:ext cx="2667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Client refetch REST sau event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B4A07A4-E58F-4425-AB34-6DEA8522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94960"/>
            <a:ext cx="113538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6F4F1"/>
          </a:solidFill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213EC6D-EF26-4931-BCA9-036F7941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6410"/>
            <a:ext cx="1101090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0F766E"/>
                </a:solidFill>
              </a:rPr>
              <a:t>Decision rule: event nào cần business logic ở bounded context khác thì dùng Kafka; event chỉ cập nhật UI và BFF đã có dữ liệu thì dùng BFF Direct/WebSocket.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28AE6C3-99E7-427E-AF0B-384EDD48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567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7A6F63"/>
                </a:solidFill>
              </a:rPr>
              <a:t>QRTable Thesis Deck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609BBEF-95FE-4684-8E61-A10D589F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248400"/>
            <a:ext cx="567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7A6F63"/>
                </a:solidFill>
              </a:rPr>
              <a:t>Architecture / Phase 2A implemented</a:t>
            </a:r>
          </a:p>
        </p:txBody>
      </p:sp>
    </p:spTree>
    <p:extLst>
      <p:ext uri="{BB962C8B-B14F-4D97-AF65-F5344CB8AC3E}">
        <p14:creationId xmlns:p14="http://schemas.microsoft.com/office/powerpoint/2010/main" val="43156375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577800-E92E-49AC-8B4F-623A61C7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E1B0C0-5AEA-4164-8126-E2AE9034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113538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0F766E"/>
                </a:solidFill>
              </a:rPr>
              <a:t>07 · Data ownership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55CBE1-E1A8-4292-9323-D23435E0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1990"/>
            <a:ext cx="11353800" cy="8686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850" b="1">
                <a:solidFill>
                  <a:srgbClr val="17202A"/>
                </a:solidFill>
              </a:rPr>
              <a:t>Order không tự sửa Catalog DB; stock đi qua Catalog TCP contract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45981B-D78E-4C5C-A184-6ED20F2B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64970"/>
            <a:ext cx="113538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5D6673"/>
                </a:solidFill>
              </a:rPr>
              <a:t>Boundary này giảm coupling và chuẩn bị cho database-per-service trong tương lai.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19F75B-06D8-4EAD-8936-D6BA3E47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9310"/>
            <a:ext cx="1809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8EC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782B1-5C20-403B-A793-8431A4E5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32660"/>
            <a:ext cx="154305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Customer / Staff 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310855-36EF-4021-9F53-3006C8E1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55570"/>
            <a:ext cx="154305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submit, confirm, transfer, request bill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D819C8-AE3A-446A-8230-66BBA7EE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232660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ED8180-6600-4D98-AFAF-800DD3B0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99310"/>
            <a:ext cx="1619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6F4F1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06741-8770-41B5-A698-D6D4F847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32660"/>
            <a:ext cx="13525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BFF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5C91CA-7FD3-4669-A4F0-25251B11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2690"/>
            <a:ext cx="135255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guards + tenant context + TCP payload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F54A3E-6303-4B5E-BEAB-792EC62B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32660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F099FA-DBA8-44F5-8EBC-58BDE39D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99310"/>
            <a:ext cx="1905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9F2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F90A92-59D0-4CED-8122-E49F6A6A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32660"/>
            <a:ext cx="163830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Order Service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3BA3EF-B595-4391-93AD-C64F5C30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72690"/>
            <a:ext cx="16383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session/cart/order/bill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70F74A-13AD-4999-855F-E97C9A26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32660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402636-35C0-471E-97B4-DB6E46E0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9310"/>
            <a:ext cx="1905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7EA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B53BE2-4232-4FCF-B82E-1444FD11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32660"/>
            <a:ext cx="163830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Catalog Service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ED9347-3F8E-46F9-B249-BD27C686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72690"/>
            <a:ext cx="16383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menu/table/stock ownership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B96AA7-8C83-4695-90E7-7F669C07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32660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5A5E44-257E-471D-B95B-994F2EBA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099310"/>
            <a:ext cx="1809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4F6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6AAD6D-71E2-473C-B64C-906E88B2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232660"/>
            <a:ext cx="15430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PostgreSQL / Redis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937E92-48AB-4195-9B30-4D04B52D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472690"/>
            <a:ext cx="15430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durable + runtime state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7BA451-C634-42E3-AE35-81B724BC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08960"/>
            <a:ext cx="56007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DFF499-E9C8-43A5-BFE3-65C72E0A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80410"/>
            <a:ext cx="52578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2563EB"/>
                </a:solidFill>
              </a:rPr>
              <a:t>Order Service owns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22574B-83A1-421D-9239-A3B5A21C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81400"/>
            <a:ext cx="525780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5D6673"/>
                </a:solidFill>
              </a:rPr>
              <a:t>sessions, carts, orders, order_items, bills, service_requests, outbox_events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5498A4-9B8A-48A0-8A7A-5A4C1400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08960"/>
            <a:ext cx="56007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E020FF-FBA7-4731-824E-C12497E8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80410"/>
            <a:ext cx="52578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2E7D32"/>
                </a:solidFill>
              </a:rPr>
              <a:t>Catalog Service owns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0E081D-F0F4-41D2-850C-13427E6C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81400"/>
            <a:ext cx="52578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5D6673"/>
                </a:solidFill>
              </a:rPr>
              <a:t>categories, menu_items, preparation station, areas, tables, QR tokens, stock/table status commands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DB92E8-0B2F-4044-B8D9-777D27AA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18660"/>
            <a:ext cx="11353800" cy="388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17202A"/>
                </a:solidFill>
              </a:rPr>
              <a:t>Khi staff confirm order, Order lock order PENDING rồi gọi Catalog deduct stock trong transaction của Catalog. Nếu stock thiếu, order giữ PENDING và trả lỗi nghiệp vụ.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371846-7A3D-4280-AECF-595E3278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567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7A6F63"/>
                </a:solidFill>
              </a:rPr>
              <a:t>QRTable Thesis Deck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6FFAAB-58FC-4B01-A726-21DF852A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248400"/>
            <a:ext cx="567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7A6F63"/>
                </a:solidFill>
              </a:rPr>
              <a:t>Architecture / Phase 2A implemented</a:t>
            </a:r>
          </a:p>
        </p:txBody>
      </p:sp>
    </p:spTree>
    <p:extLst>
      <p:ext uri="{BB962C8B-B14F-4D97-AF65-F5344CB8AC3E}">
        <p14:creationId xmlns:p14="http://schemas.microsoft.com/office/powerpoint/2010/main" val="208970040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21CE08-35B8-4CC8-AF0D-A85FB12B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2A4CB5-54F7-4F24-9FD8-87890999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113538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0F766E"/>
                </a:solidFill>
              </a:rPr>
              <a:t>08 · Multi-tenancy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A8DFB8-D731-431B-8540-66C41EA7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1990"/>
            <a:ext cx="11353800" cy="4343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850" b="1">
                <a:solidFill>
                  <a:srgbClr val="17202A"/>
                </a:solidFill>
              </a:rPr>
              <a:t>Slug là định danh public; UUID tenant_id là identity nội bộ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1E5A4-995E-4CD5-8597-E6B81A3C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30630"/>
            <a:ext cx="113538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5D6673"/>
                </a:solidFill>
              </a:rPr>
              <a:t>Luồng QR dùng slug để vào đúng tenant, sau đó mọi request/service/query dùng tenant_id.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CB1996-A40F-41AB-BF55-FAC931B4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64970"/>
            <a:ext cx="16573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C2953-2B87-4756-82B7-46003EDE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8320"/>
            <a:ext cx="13906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QR URL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8F056A-A60A-4C5A-A54A-D20C1DCF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13906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slug = pho-viet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3EE503-8370-462C-8B47-7391B9F1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817370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6F5E25-D577-4522-B209-6F5F72E0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64970"/>
            <a:ext cx="16573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A2D406-4072-4067-BCF8-5E1443FA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98320"/>
            <a:ext cx="13906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Resolve tenant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335D1A-5B3D-4378-8161-20A200E9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38350"/>
            <a:ext cx="13906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slug → UUID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50DA28-6A25-4A0B-B570-E935ED07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17370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4F81EB-C893-46E6-A9E1-4F0363FE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64970"/>
            <a:ext cx="16573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793653-F00D-4A89-B0DF-F79EAD60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98320"/>
            <a:ext cx="13906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BFF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C8E395-0AB6-4224-82D6-A442D808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38350"/>
            <a:ext cx="13906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x-tenant-id / JWT claim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98C4DA-515F-4D11-83DC-BA82D91E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17370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C712C5-9917-4913-9B36-C8F9DAB1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664970"/>
            <a:ext cx="16573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E80F6A-DC81-4835-95BB-5C46AC97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98320"/>
            <a:ext cx="13906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Service payload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3348B9-A923-496B-8416-C58AD923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38350"/>
            <a:ext cx="13906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tenantId bắt buộc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934934-5ACA-43B8-8099-353C335D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17370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81ED08-8CC6-44C0-8DE5-C2080AE0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664970"/>
            <a:ext cx="16573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E9C340-DFAE-43B5-A9FF-27C3AA60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98320"/>
            <a:ext cx="13906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DB / Redis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3AA181-6011-4834-8DE9-E7990C08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38350"/>
            <a:ext cx="139065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WHERE tenant_id / key namespace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035645-AE72-406A-87C3-2C2C08C7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31770"/>
            <a:ext cx="559117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6F4F1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A2AFDD-F8E7-4E0F-9A6C-5858C3E5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03220"/>
            <a:ext cx="5248275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0F766E"/>
                </a:solidFill>
              </a:rPr>
              <a:t>Tenant dev canonical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E5AC6F-DE56-473A-BF83-5A394BC2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4210"/>
            <a:ext cx="52482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202A"/>
                </a:solidFill>
              </a:rPr>
              <a:t>slug: pho-viet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EF35DA-229D-4A13-8A9F-0DDD1C23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8060"/>
            <a:ext cx="5248275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75" b="0">
                <a:solidFill>
                  <a:srgbClr val="5D6673"/>
                </a:solidFill>
              </a:rPr>
              <a:t>tenantId: 023772bb-391b-401c-936a-ed7034b69cec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B3E894-13D4-42C3-98B0-32BB637D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71900"/>
            <a:ext cx="52482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125" b="0">
                <a:solidFill>
                  <a:srgbClr val="5D6673"/>
                </a:solidFill>
              </a:rPr>
              <a:t>name: Nhà hàng Phở Việt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2D77B4-FC4B-405A-A136-DC28FF48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731770"/>
            <a:ext cx="559117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BF7EF7-87C9-4A38-B4A7-82730854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903220"/>
            <a:ext cx="5248275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D65A3A"/>
                </a:solidFill>
              </a:rPr>
              <a:t>Isolation rules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45C331-3650-407F-9D00-57D829A9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204210"/>
            <a:ext cx="5248275" cy="7680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Không dùng tenant_a tiếp.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Mọi persistent query có tenant_id filter.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Redis key có namespace theo owner/tenant/session.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FE query key scope theo tenant và session.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FEE82D-49E4-4B5A-A6C0-611E66E7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567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7A6F63"/>
                </a:solidFill>
              </a:rPr>
              <a:t>QRTable Thesis Deck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75CFAA-A54D-43A8-BA1C-BD3D0F46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248400"/>
            <a:ext cx="567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7A6F63"/>
                </a:solidFill>
              </a:rPr>
              <a:t>Architecture / Phase 2A implemented</a:t>
            </a:r>
          </a:p>
        </p:txBody>
      </p:sp>
    </p:spTree>
    <p:extLst>
      <p:ext uri="{BB962C8B-B14F-4D97-AF65-F5344CB8AC3E}">
        <p14:creationId xmlns:p14="http://schemas.microsoft.com/office/powerpoint/2010/main" val="13040070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10E627-AE23-4AF5-A5E6-D4F124A9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E8FDC2-D9E6-40F4-A48F-E0587DD6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113538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0F766E"/>
                </a:solidFill>
              </a:rPr>
              <a:t>09 · Authentication / Authorization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390969-0FC6-4C92-83B8-E9F68BB2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1990"/>
            <a:ext cx="11353800" cy="8686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850" b="1">
                <a:solidFill>
                  <a:srgbClr val="17202A"/>
                </a:solidFill>
              </a:rPr>
              <a:t>Staff dùng JWT + PermissionGuard; customer dùng session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DEF5C-3409-474F-BE71-06EBBC13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64970"/>
            <a:ext cx="113538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5D6673"/>
                </a:solidFill>
              </a:rPr>
              <a:t>Hai actor có auth model khác nhau nhưng đều đi qua tenant context.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7EFDE8-F878-4B8F-8D31-DBAA1B50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9310"/>
            <a:ext cx="1428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2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D6F8F1-6558-4771-8F60-6085A93A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32660"/>
            <a:ext cx="11620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JWT Request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2DDB4C-96FF-44C9-981E-0918AA70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2690"/>
            <a:ext cx="11620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Management 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8A15B2-D780-466D-9A9D-3F810AE6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232660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F854BC-21C2-4F0C-90C3-7B66C654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99310"/>
            <a:ext cx="1524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757319-FDC0-433A-892C-B47FB060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232660"/>
            <a:ext cx="125730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UserGuard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A23CAD-A786-4F1B-A0D0-1E78FD1E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472690"/>
            <a:ext cx="12573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verify JWT via Authorizer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8AA78B-AD1C-44A6-8461-061E0C98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232660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655F1F-8917-4D8D-9027-0B546C5F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9310"/>
            <a:ext cx="1524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F7126F-127D-4416-B9F1-AD4A156F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32660"/>
            <a:ext cx="125730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TenantGuard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E5199F-FA26-4F99-96F0-153B8360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72690"/>
            <a:ext cx="12573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resolve/enforce tenant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AF9D34-7ECA-44A3-B2F3-97C731FE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32660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C4CD5F-8FB9-4437-BFB6-8E6EAD30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99310"/>
            <a:ext cx="1619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B0874F-AF41-4CBD-9C37-D826923A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32660"/>
            <a:ext cx="13525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PermissionGuard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BD9007-9EB0-4C7E-926B-FB322DD1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2690"/>
            <a:ext cx="13525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@Permissions([...])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EA494F-5739-42C4-993F-E63FD6C4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32660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6A6B06-6856-437E-B6FF-264043A8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99310"/>
            <a:ext cx="1619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6F4F1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C0F898-D34B-4047-BC55-9645547A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32660"/>
            <a:ext cx="13525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TCP Service Call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A5555A-D163-4E4B-9516-7379D8B3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2690"/>
            <a:ext cx="13525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tenant-scoped payload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753CB6-0D51-4277-B54C-717B55A4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08960"/>
            <a:ext cx="55911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1C8CDA-2526-43CF-B721-F725E905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80410"/>
            <a:ext cx="5248275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2563EB"/>
                </a:solidFill>
              </a:rPr>
              <a:t>Staff/Admin endpoints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81ADA4-90E8-4833-A8E1-88E6A849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1880"/>
            <a:ext cx="5248275" cy="6172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125">
                <a:solidFill>
                  <a:srgbClr val="17202A"/>
                </a:solidFill>
              </a:defRPr>
            </a:pPr>
            <a:r>
              <a:rPr sz="1125">
                <a:solidFill>
                  <a:srgbClr val="17202A"/>
                </a:solidFill>
              </a:rPr>
              <a:t>Keycloak access token trong Authorization header.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125">
                <a:solidFill>
                  <a:srgbClr val="17202A"/>
                </a:solidFill>
              </a:defRPr>
            </a:pPr>
            <a:r>
              <a:rPr sz="1125">
                <a:solidFill>
                  <a:srgbClr val="17202A"/>
                </a:solidFill>
              </a:rPr>
              <a:t>Authorizer validate token, role mapping và permissions từ MongoDB.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125">
                <a:solidFill>
                  <a:srgbClr val="17202A"/>
                </a:solidFill>
              </a:defRPr>
            </a:pPr>
            <a:r>
              <a:rPr sz="1125">
                <a:solidFill>
                  <a:srgbClr val="17202A"/>
                </a:solidFill>
              </a:rPr>
              <a:t>BFF PermissionGuard mới là source of truth.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DCD88F-2D6D-4E81-AA04-ADE45DE2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108960"/>
            <a:ext cx="55911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E93ECA-0273-4A79-9A61-FC4E1B51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280410"/>
            <a:ext cx="5248275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0F766E"/>
                </a:solidFill>
              </a:rPr>
              <a:t>Customer endpoints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19AEB0-46FC-4382-8EFC-211A346E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611880"/>
            <a:ext cx="5248275" cy="6172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125">
                <a:solidFill>
                  <a:srgbClr val="17202A"/>
                </a:solidFill>
              </a:defRPr>
            </a:pPr>
            <a:r>
              <a:rPr sz="1125">
                <a:solidFill>
                  <a:srgbClr val="17202A"/>
                </a:solidFill>
              </a:rPr>
              <a:t>Không có DB role CUSTOMER.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125">
                <a:solidFill>
                  <a:srgbClr val="17202A"/>
                </a:solidFill>
              </a:defRPr>
            </a:pPr>
            <a:r>
              <a:rPr sz="1125">
                <a:solidFill>
                  <a:srgbClr val="17202A"/>
                </a:solidFill>
              </a:rPr>
              <a:t>QR validation + Order session ID.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125">
                <a:solidFill>
                  <a:srgbClr val="17202A"/>
                </a:solidFill>
              </a:defRPr>
            </a:pPr>
            <a:r>
              <a:rPr sz="1125">
                <a:solidFill>
                  <a:srgbClr val="17202A"/>
                </a:solidFill>
              </a:rPr>
              <a:t>x-session-id + ownership checks theo session/table.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91BB06-3477-4B39-A021-120FC849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567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7A6F63"/>
                </a:solidFill>
              </a:rPr>
              <a:t>QRTable Thesis Deck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0E9017-3A8D-471A-81FC-2BDF50D7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248400"/>
            <a:ext cx="567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7A6F63"/>
                </a:solidFill>
              </a:rPr>
              <a:t>Architecture / Phase 2A implemented</a:t>
            </a:r>
          </a:p>
        </p:txBody>
      </p:sp>
    </p:spTree>
    <p:extLst>
      <p:ext uri="{BB962C8B-B14F-4D97-AF65-F5344CB8AC3E}">
        <p14:creationId xmlns:p14="http://schemas.microsoft.com/office/powerpoint/2010/main" val="4683544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921F42-5F61-4AE1-AE7B-03794F12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96DA88-70FB-4699-A048-B85080F6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113538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0F766E"/>
                </a:solidFill>
              </a:rPr>
              <a:t>10 · Flow: secured staff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30E6A2-EAB7-4694-A71C-227C60E6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1990"/>
            <a:ext cx="11353800" cy="4343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850" b="1">
                <a:solidFill>
                  <a:srgbClr val="17202A"/>
                </a:solidFill>
              </a:rPr>
              <a:t>Một API staff hợp lệ phải qua đủ authenticate, tenant và authorize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1C7E82-ABF0-4157-9B0C-1C2A6E97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30630"/>
            <a:ext cx="113538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5D6673"/>
                </a:solidFill>
              </a:rPr>
              <a:t>Ví dụ: waiter confirm order pending.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8892A3-0E37-45A3-A9A5-F02996F9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64970"/>
            <a:ext cx="1428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CDBAE-107C-4ECF-96BA-F03A197D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8320"/>
            <a:ext cx="116205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Management 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007EF7-CD18-4E92-8D84-7491036D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21230"/>
            <a:ext cx="11620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JWT + x-tenant-id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62B97F-9EAE-4DEE-B82D-48F1F626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807845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49C807-43DF-498A-990D-93E720E4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664970"/>
            <a:ext cx="1428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15744E-047D-416B-93BF-1367BEC5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798320"/>
            <a:ext cx="11620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BFF UserGuard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D8DE73-637F-48D9-978C-71D7F47D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038350"/>
            <a:ext cx="116205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Authorizer verifies token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2A6F2C-C0EE-4C57-A0F0-F34B5C8C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807845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E30E58-DABB-47AB-AB1A-C352379B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64970"/>
            <a:ext cx="1428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A3DF1E-D58A-4AA5-BDF1-19F374AD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98320"/>
            <a:ext cx="11620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TenantGuard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1E09BE-DE09-4D66-AD05-2890663A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38350"/>
            <a:ext cx="116205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tenant claim/header consistency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1F11C0-38C5-40D5-92AE-4FA37650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7845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82146E-9AE3-4DDA-8E84-F733EED1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64970"/>
            <a:ext cx="1428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42F726-05B3-4861-A9AE-FB1AB7A2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98320"/>
            <a:ext cx="116205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PermissionGuard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8EA8EE-A7B1-46A1-8DA8-6468C23E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21230"/>
            <a:ext cx="11620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requires order.confirm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639FEE-9EAB-482C-94D6-1B5E5FBD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807845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472BD4-4852-476A-BFF8-39BFE4DC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64970"/>
            <a:ext cx="1428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42C5B4-80B0-497D-A434-0586177D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98320"/>
            <a:ext cx="11620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Order TCP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3A723E-0F37-4C81-A89D-30B5FED7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38350"/>
            <a:ext cx="11620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confirm command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FB437B-622E-4CC1-86BC-E890A08E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807845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686242-C352-4F55-A665-25BF5BDF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664970"/>
            <a:ext cx="1428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2437E7-8F10-4A2C-A512-F9BABAA3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798320"/>
            <a:ext cx="11620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ResponseDto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049A6B-E9E5-4B81-8B48-2ACAD16D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038350"/>
            <a:ext cx="11620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wrapped response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DF7396-D055-41B6-A4DF-03BB8484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93670"/>
            <a:ext cx="3784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F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D2CB80-0B90-4390-9532-8B03CC25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88920"/>
            <a:ext cx="35941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FFFFFF"/>
                </a:solidFill>
              </a:rPr>
              <a:t>Test case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2D66F4-4EB8-4C7F-9283-0E390717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00" y="2693670"/>
            <a:ext cx="3784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F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14087E-76CF-44F7-9886-ABC029A7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2788920"/>
            <a:ext cx="35941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639EFA-BF9C-4C56-B97B-A2AC5951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693670"/>
            <a:ext cx="3784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F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994054-235E-49EF-8E6B-DE76B3A9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2788920"/>
            <a:ext cx="35941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FFFFFF"/>
                </a:solidFill>
              </a:rPr>
              <a:t>Expected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2B26D1-6DF4-40DB-B2CF-CE5B4DD7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93720"/>
            <a:ext cx="378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EE2377-E5A7-497F-9743-5C037672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179445"/>
            <a:ext cx="36131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825" b="0">
                <a:solidFill>
                  <a:srgbClr val="17202A"/>
                </a:solidFill>
              </a:rPr>
              <a:t>Happy path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82B9AC-0A0F-4F71-A86D-3233A116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00" y="3093720"/>
            <a:ext cx="378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1F44BB-112E-4BE3-BCD9-FCD72F45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425" y="3179445"/>
            <a:ext cx="36131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825" b="0">
                <a:solidFill>
                  <a:srgbClr val="17202A"/>
                </a:solidFill>
              </a:rPr>
              <a:t>JWT hợp lệ, tenant đúng, permission order.confirm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2AC93B-F26C-4EA9-95A4-AB6BF202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3093720"/>
            <a:ext cx="378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46E142-A1C9-4806-8156-9E5F0C3E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025" y="3179445"/>
            <a:ext cx="36131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825" b="0">
                <a:solidFill>
                  <a:srgbClr val="17202A"/>
                </a:solidFill>
              </a:rPr>
              <a:t>200 + order PROCESSING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32E0B7-6F65-4B96-B130-6A5F2F3C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69970"/>
            <a:ext cx="378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FB5488-262B-4AA4-B6F8-97253EAC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655695"/>
            <a:ext cx="36131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825" b="0">
                <a:solidFill>
                  <a:srgbClr val="17202A"/>
                </a:solidFill>
              </a:rPr>
              <a:t>JWT expired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A85DCF8-191A-4B42-91CD-43C1F0E2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00" y="3569970"/>
            <a:ext cx="378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34AEE03-7C1A-4AEF-B353-78947CB0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425" y="3655695"/>
            <a:ext cx="36131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825" b="0">
                <a:solidFill>
                  <a:srgbClr val="17202A"/>
                </a:solidFill>
              </a:rPr>
              <a:t>Access token hết hạn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37A8147-6BA3-4BBF-82D9-039471B8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3569970"/>
            <a:ext cx="378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6A97E5C-B356-4E85-8357-07D9C891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025" y="3655695"/>
            <a:ext cx="36131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825" b="0">
                <a:solidFill>
                  <a:srgbClr val="17202A"/>
                </a:solidFill>
              </a:rPr>
              <a:t>401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FC46C93-F088-4CEC-BD4B-AF596E76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46220"/>
            <a:ext cx="378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0778FF4-7E9E-4BDE-8038-662B5576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131945"/>
            <a:ext cx="36131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825" b="0">
                <a:solidFill>
                  <a:srgbClr val="17202A"/>
                </a:solidFill>
              </a:rPr>
              <a:t>Role mismatch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C4834D7-AA8E-4516-BEF6-E680D3C9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00" y="4046220"/>
            <a:ext cx="378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09B4A22-BAB1-45A5-9077-61AD25C4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425" y="4131945"/>
            <a:ext cx="36131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825" b="0">
                <a:solidFill>
                  <a:srgbClr val="17202A"/>
                </a:solidFill>
              </a:rPr>
              <a:t>Keycloak roles không giao với DB roles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ED09551-0EC1-4D51-B788-B0E54BF5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4046220"/>
            <a:ext cx="378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387A37F-699E-490E-A80C-750ED10C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025" y="4131945"/>
            <a:ext cx="36131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825" b="0">
                <a:solidFill>
                  <a:srgbClr val="17202A"/>
                </a:solidFill>
              </a:rPr>
              <a:t>401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4C227A2-3529-4E50-8824-575975BF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22470"/>
            <a:ext cx="378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156F593-97C1-4741-A16B-FB810D38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608195"/>
            <a:ext cx="36131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825" b="0">
                <a:solidFill>
                  <a:srgbClr val="17202A"/>
                </a:solidFill>
              </a:rPr>
              <a:t>Tenant mismatch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B470634-8F75-4ED6-9DEE-31F374C6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00" y="4522470"/>
            <a:ext cx="378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7EF9CFC-6093-473F-A135-53C21922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425" y="4608195"/>
            <a:ext cx="36131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825" b="0">
                <a:solidFill>
                  <a:srgbClr val="17202A"/>
                </a:solidFill>
              </a:rPr>
              <a:t>User tenant A gọi x-tenant-id tenant B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94525EE-BA2D-4B5B-8628-6A6FD463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4522470"/>
            <a:ext cx="378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58E3A6C-278C-4A2D-8533-109BD47D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025" y="4608195"/>
            <a:ext cx="36131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825" b="0">
                <a:solidFill>
                  <a:srgbClr val="17202A"/>
                </a:solidFill>
              </a:rPr>
              <a:t>403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271994B-617A-43AB-8F4D-BF990831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98720"/>
            <a:ext cx="378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F727B58-211A-48C2-A5EC-3EAD5185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084445"/>
            <a:ext cx="36131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825" b="0">
                <a:solidFill>
                  <a:srgbClr val="17202A"/>
                </a:solidFill>
              </a:rPr>
              <a:t>Permission denied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F0A9C22-1D7D-4241-AA3B-C3EF2B9B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00" y="4998720"/>
            <a:ext cx="378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6CD7FBB-CDE4-446C-899C-A1DC19BD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425" y="5084445"/>
            <a:ext cx="36131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825" b="0">
                <a:solidFill>
                  <a:srgbClr val="17202A"/>
                </a:solidFill>
              </a:rPr>
              <a:t>Chef/Barista gọi raw confirm order endpoint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6723C85-0BF7-40CD-A12B-BE019CF6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4998720"/>
            <a:ext cx="378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75326F4-6B62-42CC-BDD4-514BAA42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025" y="5084445"/>
            <a:ext cx="36131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825" b="0">
                <a:solidFill>
                  <a:srgbClr val="17202A"/>
                </a:solidFill>
              </a:rPr>
              <a:t>403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651E966-55F5-4DDA-994C-C66CEBA3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567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7A6F63"/>
                </a:solidFill>
              </a:rPr>
              <a:t>QRTable Thesis Deck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990F68A-1D14-449E-979D-4231009D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248400"/>
            <a:ext cx="567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7A6F63"/>
                </a:solidFill>
              </a:rPr>
              <a:t>Architecture / Phase 2A implemented</a:t>
            </a:r>
          </a:p>
        </p:txBody>
      </p:sp>
    </p:spTree>
    <p:extLst>
      <p:ext uri="{BB962C8B-B14F-4D97-AF65-F5344CB8AC3E}">
        <p14:creationId xmlns:p14="http://schemas.microsoft.com/office/powerpoint/2010/main" val="31407902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8904A7-76F1-4307-83A3-9B161682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92F8F-2E38-4CF5-A036-444ACD65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113538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0F766E"/>
                </a:solidFill>
              </a:rPr>
              <a:t>11 · Flow: QR join session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4EC4F3-8DFF-44A5-82B5-BB135175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1990"/>
            <a:ext cx="11353800" cy="8686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850" b="1">
                <a:solidFill>
                  <a:srgbClr val="17202A"/>
                </a:solidFill>
              </a:rPr>
              <a:t>Customer không login; QR xác thực tenant/table rồi Order tạo table session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831587-5FC6-4E50-84CE-0A4EE794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64970"/>
            <a:ext cx="113538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5D6673"/>
                </a:solidFill>
              </a:rPr>
              <a:t>Order session là source of truth cho customer ordering, khác với BFF anonymous session.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867EAA-7756-4B2A-A6CA-61C8C04D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9310"/>
            <a:ext cx="1428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02D997-EE39-441D-A5F4-8814A687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32660"/>
            <a:ext cx="11620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QR URL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782188-5DA7-43F9-ADC2-EAFABB14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2690"/>
            <a:ext cx="116205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tenant slug + table token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9A885-2FA4-410E-8DFE-348B775B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232660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FB2E09-493C-4E7B-95B3-CB040D20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99310"/>
            <a:ext cx="1428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DF4A05-0F7F-488B-8B19-DF62E122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232660"/>
            <a:ext cx="11620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Resolve tenant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44D624-6B69-43B7-BAB6-B026DD21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2690"/>
            <a:ext cx="11620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pho-viet → tenantId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45930E-77A3-4E26-99E5-A6B07363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32660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5CA0BA-57C2-4FC2-ACC2-3317CE1F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99310"/>
            <a:ext cx="1428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3A5F9F-0E4A-42BB-BFF4-B9BF2A62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32660"/>
            <a:ext cx="11620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Validate QR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49539E-20E6-40C5-9D57-6F95FE8C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72690"/>
            <a:ext cx="11620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Catalog TCP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592623-8B37-44EE-ADA3-C0A7522D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32660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7C2BFA-9BC2-4899-B9F7-6ED33C71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99310"/>
            <a:ext cx="1428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A69347-4969-44FB-9503-60328CEF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2660"/>
            <a:ext cx="11620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Join session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363852-CCE5-447B-BBA0-2B18AB89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2690"/>
            <a:ext cx="11620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BFF → Order TCP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C8DEDC-85EB-4752-B97A-73529DBE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32660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AF2805-60F2-47CD-914E-C9282FF5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9310"/>
            <a:ext cx="1428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89878D-C42A-4BCC-B2FA-FC34ACF6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32660"/>
            <a:ext cx="11620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Persist/cache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B9290A-AFE0-45A2-874C-0066BF6E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72690"/>
            <a:ext cx="116205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PostgreSQL + Redis hash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324FD4-DAE4-43FC-87CA-BA33FD6E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232660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F30238-86C1-47AC-8007-EBF8723C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099310"/>
            <a:ext cx="1428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93BCA4-D660-438C-BB8F-909C768C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232660"/>
            <a:ext cx="11620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PWA headers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E9CC79-C4FE-4F4D-865F-E75F0615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472690"/>
            <a:ext cx="116205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x-tenant-id + x-session-id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6BB1CE-E9D7-4227-85A4-8780BEA1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08960"/>
            <a:ext cx="3784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F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A7200C-685A-42AE-A989-5FFD1269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04210"/>
            <a:ext cx="35941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FFFFFF"/>
                </a:solidFill>
              </a:rPr>
              <a:t>Case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F7ED79-D9A2-42AE-8971-72F89CA0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00" y="3108960"/>
            <a:ext cx="3784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F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213D72-57F7-4BDB-89ED-DA9D8A64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3204210"/>
            <a:ext cx="35941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FFFFFF"/>
                </a:solidFill>
              </a:rPr>
              <a:t>Điều kiện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99199D-DA7C-467B-9A5A-DD4B2378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3108960"/>
            <a:ext cx="3784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F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5973CF-B433-47C0-954C-C266E876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3204210"/>
            <a:ext cx="35941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FFFFFF"/>
                </a:solidFill>
              </a:rPr>
              <a:t>Kết quả mong đợi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4A51B5-91CE-456F-9C12-1D4EA7C7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09010"/>
            <a:ext cx="378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3F79FE-ACE2-4C5A-95EC-F4721C7D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594735"/>
            <a:ext cx="36131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825" b="0">
                <a:solidFill>
                  <a:srgbClr val="17202A"/>
                </a:solidFill>
              </a:rPr>
              <a:t>Happy path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BB8844-15A2-4DCC-9EF9-E747362E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00" y="3509010"/>
            <a:ext cx="378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B0D838-BF7B-4DBA-8E44-96480BC7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425" y="3594735"/>
            <a:ext cx="36131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825" b="0">
                <a:solidFill>
                  <a:srgbClr val="17202A"/>
                </a:solidFill>
              </a:rPr>
              <a:t>Slug và QR token hợp lệ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5F1C25-8EF6-45C3-9528-C88A2B9E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3509010"/>
            <a:ext cx="378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1D3D6E-6296-4D37-8DCC-E95D48F8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025" y="3594735"/>
            <a:ext cx="36131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825" b="0">
                <a:solidFill>
                  <a:srgbClr val="17202A"/>
                </a:solidFill>
              </a:rPr>
              <a:t>Session active, PWA vào menu/order flow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74648D-8C36-4219-9E1B-6F6B35E2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66210"/>
            <a:ext cx="378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BB88C0-D0E7-47A2-8E2F-67C34805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051935"/>
            <a:ext cx="36131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825" b="0">
                <a:solidFill>
                  <a:srgbClr val="17202A"/>
                </a:solidFill>
              </a:rPr>
              <a:t>Invalid QR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3FB866-0618-42BA-9586-9CD2BB56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00" y="3966210"/>
            <a:ext cx="378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ACCC1CC-E82F-4C13-8357-3ED4CD18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425" y="4051935"/>
            <a:ext cx="36131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825" b="0">
                <a:solidFill>
                  <a:srgbClr val="17202A"/>
                </a:solidFill>
              </a:rPr>
              <a:t>Token sai hoặc bị regenerate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9451231-9A12-4ACB-9AF7-784DC075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3966210"/>
            <a:ext cx="378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1488688-9D82-4CD7-9E9B-982D888B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025" y="4051935"/>
            <a:ext cx="36131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825" b="0">
                <a:solidFill>
                  <a:srgbClr val="17202A"/>
                </a:solidFill>
              </a:rPr>
              <a:t>Reject, không join session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C055356-EC3B-4D72-87D9-958C30AB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23410"/>
            <a:ext cx="378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D9B6FFB-EF05-4467-AA17-5B7DD179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509135"/>
            <a:ext cx="36131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825" b="0">
                <a:solidFill>
                  <a:srgbClr val="17202A"/>
                </a:solidFill>
              </a:rPr>
              <a:t>Unknown tenant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5D1B716-C241-43D1-8205-66A4AA3D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00" y="4423410"/>
            <a:ext cx="378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288AC18-8C42-41DE-9E12-7F7E611E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425" y="4509135"/>
            <a:ext cx="36131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825" b="0">
                <a:solidFill>
                  <a:srgbClr val="17202A"/>
                </a:solidFill>
              </a:rPr>
              <a:t>Slug không tồn tại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2E395F2-33C9-4587-A571-ED4DEE1C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4423410"/>
            <a:ext cx="378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DEC6CA-B9B4-4FE5-BEFC-DD21CA89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025" y="4509135"/>
            <a:ext cx="36131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825" b="0">
                <a:solidFill>
                  <a:srgbClr val="17202A"/>
                </a:solidFill>
              </a:rPr>
              <a:t>Resolve fail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37F29A2-79F8-457F-BB62-4364D8F8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80610"/>
            <a:ext cx="378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59F1962-E799-4F04-A0EF-8EE7F2E5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966335"/>
            <a:ext cx="36131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825" b="0">
                <a:solidFill>
                  <a:srgbClr val="17202A"/>
                </a:solidFill>
              </a:rPr>
              <a:t>Redis mất key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54FB2BB-C4F2-4F98-934A-A4349275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00" y="4880610"/>
            <a:ext cx="378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B1C8F1B-FFB7-44F2-A05F-50CF5FF6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425" y="4966335"/>
            <a:ext cx="36131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825" b="0">
                <a:solidFill>
                  <a:srgbClr val="17202A"/>
                </a:solidFill>
              </a:rPr>
              <a:t>PostgreSQL session còn hợp lệ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BDAAB04-09EF-47AA-8ECF-DCC70665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4880610"/>
            <a:ext cx="378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85D3C1F-6E5E-4B0B-81F6-17D0F82F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025" y="4966335"/>
            <a:ext cx="36131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825" b="0">
                <a:solidFill>
                  <a:srgbClr val="17202A"/>
                </a:solidFill>
              </a:rPr>
              <a:t>Hydrate lại Redis session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F7EFAB6-917B-4BD5-BB75-9E11DEB0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37810"/>
            <a:ext cx="378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CFAEB8C-2E9B-484F-BF60-C8AA2646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423535"/>
            <a:ext cx="36131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825" b="0">
                <a:solidFill>
                  <a:srgbClr val="17202A"/>
                </a:solidFill>
              </a:rPr>
              <a:t>Wrong session owner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7783ECA-A183-4584-8553-C4AD6E40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00" y="5337810"/>
            <a:ext cx="378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84A5729-4047-44F3-8C45-12FB660C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425" y="5423535"/>
            <a:ext cx="36131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825" b="0">
                <a:solidFill>
                  <a:srgbClr val="17202A"/>
                </a:solidFill>
              </a:rPr>
              <a:t>x-session-id không thuộc tenant/table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850C487-7F84-456B-905A-0EB56FFD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5337810"/>
            <a:ext cx="378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9CAF28C-E3EB-4B9C-BEB8-2AC87E6F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025" y="5423535"/>
            <a:ext cx="36131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825" b="0">
                <a:solidFill>
                  <a:srgbClr val="17202A"/>
                </a:solidFill>
              </a:rPr>
              <a:t>Security/session error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F4221A9-0777-4ACA-B553-1A5F20DB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567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7A6F63"/>
                </a:solidFill>
              </a:rPr>
              <a:t>QRTable Thesis Deck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4021546-3E47-4C7B-B6F4-E1A1BFCF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248400"/>
            <a:ext cx="567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7A6F63"/>
                </a:solidFill>
              </a:rPr>
              <a:t>Architecture / Phase 2A implemented</a:t>
            </a:r>
          </a:p>
        </p:txBody>
      </p:sp>
    </p:spTree>
    <p:extLst>
      <p:ext uri="{BB962C8B-B14F-4D97-AF65-F5344CB8AC3E}">
        <p14:creationId xmlns:p14="http://schemas.microsoft.com/office/powerpoint/2010/main" val="102904098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CD5D15-5DC6-41F4-9F4A-ADE61095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B89706-7293-4D5D-A07B-26018941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113538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0F766E"/>
                </a:solidFill>
              </a:rPr>
              <a:t>12 · Flow: menu → cart → submit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35807F-14D2-42D6-B26E-D3912995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1990"/>
            <a:ext cx="11353800" cy="8686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850" b="1">
                <a:solidFill>
                  <a:srgbClr val="17202A"/>
                </a:solidFill>
              </a:rPr>
              <a:t>Cart là draft order trong Redis; order row chỉ sinh khi customer submit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3AA9DC-9B45-4E3D-8A39-A906EC7C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64970"/>
            <a:ext cx="113538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5D6673"/>
                </a:solidFill>
              </a:rPr>
              <a:t>CartVersion là concurrency token từ server, client không tự tăng.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0B0464-CA94-46A0-B94F-4644C087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9310"/>
            <a:ext cx="1428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DE6550-4622-4034-A1F9-E96E7E17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32660"/>
            <a:ext cx="11620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GET menu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004D8E-70DB-4B25-BC86-93BC3824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2690"/>
            <a:ext cx="116205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tenant-scoped catalog/menu cache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365A45-E8CC-40E4-AA10-2B34C05F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223135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162AEC-3825-460F-940C-5E4A9D28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99310"/>
            <a:ext cx="1428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3ACBC2-A224-45B8-8EE6-088AE287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232660"/>
            <a:ext cx="11620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GET cart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E057AE-5EDC-479C-BC47-B6551B9E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2690"/>
            <a:ext cx="116205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Redis snapshot + cartVersion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329D03-A4C1-4186-9E7C-CB6F3842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23135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33D9C9-CB4F-4F50-9CEE-5404A5F9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99310"/>
            <a:ext cx="1428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E4C095-9AD6-4466-B54B-57986F05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32660"/>
            <a:ext cx="11620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PATCH cart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A94C5C-5AA0-4B2F-83D2-E1A4B600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72690"/>
            <a:ext cx="11620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expectedCartVersion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0086D4-57E2-457C-8A40-AC3E8391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23135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01B6A9-86A1-44B0-B214-28F9DEE3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99310"/>
            <a:ext cx="1428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C3D26E-73EE-42FC-AB77-48B77AD2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2660"/>
            <a:ext cx="11620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POST order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08D343-431F-4526-B05B-14098E8F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2690"/>
            <a:ext cx="11620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idempotencyKey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7C4C60-16F0-4057-A1B1-56BA0F1D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23135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F9D202-0C96-4A0E-91DC-5FDCC951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9310"/>
            <a:ext cx="1428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1E5246-54B2-44D5-BD68-0305801E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32660"/>
            <a:ext cx="11620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Order DB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85B9D7-FDA1-475D-9313-062574DA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72690"/>
            <a:ext cx="116205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PENDING + bill OPEN if first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3D7705-F9AC-43C2-B59C-960CF07D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223135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746ACC-B615-4EBC-88C6-4A4D6E37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099310"/>
            <a:ext cx="1428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9F88B3-1269-4EA7-AD29-6D3B99A3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232660"/>
            <a:ext cx="11620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Tracking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458888-9B85-4BBF-ABB8-4A42859C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472690"/>
            <a:ext cx="116205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REST detail + WS hints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5E1718-46A0-4946-8DB4-4E4451FA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70860"/>
            <a:ext cx="56102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613764-6128-4563-A658-CCFCFF70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2310"/>
            <a:ext cx="5267325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0F766E"/>
                </a:solidFill>
              </a:rPr>
              <a:t>Cart rules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21C55F-3370-4876-AEBC-76090F57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43300"/>
            <a:ext cx="5267325" cy="7132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75">
                <a:solidFill>
                  <a:srgbClr val="17202A"/>
                </a:solidFill>
              </a:defRPr>
            </a:pPr>
            <a:r>
              <a:rPr sz="975">
                <a:solidFill>
                  <a:srgbClr val="17202A"/>
                </a:solidFill>
              </a:rPr>
              <a:t>Redis key: cart:{tenantId}:{sessionId}.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975">
                <a:solidFill>
                  <a:srgbClr val="17202A"/>
                </a:solidFill>
              </a:defRPr>
            </a:pPr>
            <a:r>
              <a:rPr sz="975">
                <a:solidFill>
                  <a:srgbClr val="17202A"/>
                </a:solidFill>
              </a:rPr>
              <a:t>Mutation phải gửi expectedCartVersion.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975">
                <a:solidFill>
                  <a:srgbClr val="17202A"/>
                </a:solidFill>
              </a:defRPr>
            </a:pPr>
            <a:r>
              <a:rPr sz="975">
                <a:solidFill>
                  <a:srgbClr val="17202A"/>
                </a:solidFill>
              </a:rPr>
              <a:t>409 CART_VERSION_CONFLICT → refetch cart + toast.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975">
                <a:solidFill>
                  <a:srgbClr val="17202A"/>
                </a:solidFill>
              </a:defRPr>
            </a:pPr>
            <a:r>
              <a:rPr sz="975">
                <a:solidFill>
                  <a:srgbClr val="17202A"/>
                </a:solidFill>
              </a:rPr>
              <a:t>Bill request sẽ lock ordering/cart.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893E1E-CDFD-4BA4-B1FA-54251EB7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070860"/>
            <a:ext cx="280511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162A25-AB16-4C17-880A-2E1563DD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166110"/>
            <a:ext cx="2614613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FFFFFF"/>
                </a:solidFill>
              </a:rPr>
              <a:t>Case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AF6589-D398-4E65-8E79-89C1D4B0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3070860"/>
            <a:ext cx="280511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F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989B6D-C021-42D4-AA6B-9D947423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038" y="3166110"/>
            <a:ext cx="2614613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FFFFFF"/>
                </a:solidFill>
              </a:rPr>
              <a:t>Expected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8A64E8-4CE2-4DD1-87F5-87DE86E5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470910"/>
            <a:ext cx="2805113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02BC21-34B6-4406-A877-7B9EF4D6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56635"/>
            <a:ext cx="2633663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Cart version khớp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2A5D34-0F87-45CD-B095-256599AB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3470910"/>
            <a:ext cx="2805113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8C7498-B24A-409A-BD8E-C963CAEE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3556635"/>
            <a:ext cx="2633663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Update thành công, server tăng version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41F8F2-869A-486C-A81F-7B3BE1AA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813810"/>
            <a:ext cx="2805113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27B6DA-F22A-4A4E-8931-A59C6C35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99535"/>
            <a:ext cx="2633663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Version cũ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711E0A-76A3-4F81-9219-03DF31BE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3813810"/>
            <a:ext cx="2805113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52EA50-A9DE-4D89-B881-5CF14D70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3899535"/>
            <a:ext cx="2633663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409 conflict, PWA refetch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82957F6-B328-484C-8479-41B4CF64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156710"/>
            <a:ext cx="2805113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3F1BF8F-A1C0-45E3-80B7-284334CA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42435"/>
            <a:ext cx="2633663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Submit trùng idempotency key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EA708DC-8A91-4E9A-B5E4-FE876CDF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4156710"/>
            <a:ext cx="2805113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1BFE9B7-3605-4DAC-AA26-A7A3A16A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4242435"/>
            <a:ext cx="2633663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Không tạo duplicate order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966B800-3875-48C1-A98F-036DBDFA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499610"/>
            <a:ext cx="2805113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30352F3-8279-4C62-BC1B-F1C3E3B0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85335"/>
            <a:ext cx="2633663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Cross-session order detail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987A172-D6A7-4A32-800B-6C8D76FA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4499610"/>
            <a:ext cx="2805113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6E4F7CC-C921-4A58-BCE2-2DF39359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4585335"/>
            <a:ext cx="2633663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Reject ownership check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5E0962C-689C-468C-9223-A55851EA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567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7A6F63"/>
                </a:solidFill>
              </a:rPr>
              <a:t>QRTable Thesis Deck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FEDEE46-E16B-47C1-A4B0-24BE359B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248400"/>
            <a:ext cx="567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7A6F63"/>
                </a:solidFill>
              </a:rPr>
              <a:t>Architecture / Phase 2A implemented</a:t>
            </a:r>
          </a:p>
        </p:txBody>
      </p:sp>
    </p:spTree>
    <p:extLst>
      <p:ext uri="{BB962C8B-B14F-4D97-AF65-F5344CB8AC3E}">
        <p14:creationId xmlns:p14="http://schemas.microsoft.com/office/powerpoint/2010/main" val="148861489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525A08-CAA2-46CA-8380-CF305C25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2FF0F-C139-43F0-A5B6-C3490EE2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113538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0F766E"/>
                </a:solidFill>
              </a:rPr>
              <a:t>13 · Flow: staff confirm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9BB594-A7A1-484A-A219-5750C1CB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1990"/>
            <a:ext cx="11353800" cy="8686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850" b="1">
                <a:solidFill>
                  <a:srgbClr val="17202A"/>
                </a:solidFill>
              </a:rPr>
              <a:t>Confirm order là giao điểm của RBAC, stock consistency và Kafka event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7E5E2-BA24-47CC-A096-6413A967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64970"/>
            <a:ext cx="113538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5D6673"/>
                </a:solidFill>
              </a:rPr>
              <a:t>Order chuyển PENDING → PROCESSING chỉ sau khi Catalog deduct stock thành công.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DC3151-E671-46B7-9E9E-05EC9D8D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9310"/>
            <a:ext cx="1428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D8818E-D0D3-4197-8B57-C7999C74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32660"/>
            <a:ext cx="11620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POS confirm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0DBBE9-03D5-4118-ADAD-C76E3B79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2690"/>
            <a:ext cx="116205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POST /admin/orders/:id/confirm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D59A81-CA5E-4721-819C-CDC1E76D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232660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63EFC0-69C1-4345-97CE-09F7E430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99310"/>
            <a:ext cx="1428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A90A03-0F4E-400D-AACB-D0FDC62A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232660"/>
            <a:ext cx="11620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BFF guards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CC5530-0728-4808-AA4F-4AC20330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2690"/>
            <a:ext cx="116205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order.confirm permission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044572-F5C9-47B5-853A-6E944925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32660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F02BFB-D0DC-487E-8519-8F83339D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99310"/>
            <a:ext cx="1428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032529-B82A-463A-A8C1-959D81AD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32660"/>
            <a:ext cx="11620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Order lock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8ACE3A-A472-4C09-93B0-44538F2F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72690"/>
            <a:ext cx="11620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validate PENDING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ACF6F7-FD60-46AD-BDB6-AD0CBB9F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32660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8E8FB2-0F97-4E0A-B4E5-D9DBED15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99310"/>
            <a:ext cx="1428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531FB0-7A32-42BC-A21F-6569E3E9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2660"/>
            <a:ext cx="11620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Catalog TCP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02E898-EF9D-4DC5-A69A-CFA84855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2690"/>
            <a:ext cx="116205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deduct stock in transaction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0017EF-EAFE-46B1-9C32-84034978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32660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D6888D-8F18-48A0-907C-7E080A37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9310"/>
            <a:ext cx="1428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DDF95C-0D0E-4351-8605-2350C45A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32660"/>
            <a:ext cx="11620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Outbox row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D5B368-C36E-44F5-ADEA-C6ED1CEA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72690"/>
            <a:ext cx="116205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order.confirmed payload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5115AE-A185-4431-80A6-A3F8B98B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232660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9517DE-A07E-457D-BECD-74F2BDD3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099310"/>
            <a:ext cx="1428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6FB0A1-176F-4A31-B7CF-F7CF4B99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232660"/>
            <a:ext cx="11620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Kafka publish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B45BBD-CDA0-4029-86A5-032935A7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472690"/>
            <a:ext cx="11620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future KDS/consumers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7E0003-3AA4-43B4-AAB6-2C0E92FF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89910"/>
            <a:ext cx="56102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1E8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2A61C5-DD29-4A6A-92D3-8E832C4C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61360"/>
            <a:ext cx="5267325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D65A3A"/>
                </a:solidFill>
              </a:rPr>
              <a:t>Why Kafka here?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B575DE-F1A6-4066-89C9-66387849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43300"/>
            <a:ext cx="526732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125" b="0">
                <a:solidFill>
                  <a:srgbClr val="5D6673"/>
                </a:solidFill>
              </a:rPr>
              <a:t>order.confirmed là domain event có thể kích hoạt nghiệp vụ ở Kitchen/Notification/Analytics. Producer không nên chờ consumer; event được ghi qua simplified outbox để giảm dual-write risk.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ABC2CF-33B5-4CB4-BDA7-24E1ADDC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089910"/>
            <a:ext cx="280511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4D99B7-BED7-443D-A4EA-5A5F6CD6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185160"/>
            <a:ext cx="2614613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FFFFFF"/>
                </a:solidFill>
              </a:rPr>
              <a:t>Failure case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33EE4A-0790-4D28-AC46-8AF78A1B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3089910"/>
            <a:ext cx="280511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F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9EF791-3567-4EA2-B528-71ABE82C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038" y="3185160"/>
            <a:ext cx="2614613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FFFFFF"/>
                </a:solidFill>
              </a:rPr>
              <a:t>Expected behavior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814849-1AEA-42EF-83E7-2BB691F2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489960"/>
            <a:ext cx="2805113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916915-DD25-4BB4-A4FB-2E648ED7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75685"/>
            <a:ext cx="2633663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Stock thiếu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E77821-52A3-46FB-9862-E6FC4118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3489960"/>
            <a:ext cx="2805113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DCCB79-9D2D-43FA-9F37-9FD367BC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3575685"/>
            <a:ext cx="2633663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Order giữ PENDING, trả item details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63988D-4121-4A77-B8B5-E8A1A4E9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851910"/>
            <a:ext cx="2805113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7A1AC81-1916-4634-9693-2A0F4F7C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37635"/>
            <a:ext cx="2633663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Order đã PROCESSING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67BF9D-4706-4B3C-B2A7-4D09D5D7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3851910"/>
            <a:ext cx="2805113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52C2354-BE75-46E6-A55E-C4992840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3937635"/>
            <a:ext cx="2633663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Reject invalid transition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E5F7FC6-6A46-480A-91FD-3C6A609D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213860"/>
            <a:ext cx="2805113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C155366-B251-47F3-96D5-FEF34991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99585"/>
            <a:ext cx="2633663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Kafka lỗi tạm thời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CDB6C4D-61DA-4A9B-A486-0F5AF2EC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4213860"/>
            <a:ext cx="2805113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CB70551-D498-4623-A4F2-05905205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4299585"/>
            <a:ext cx="2633663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Outbox giữ trạng thái retry/pending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EDEB568-4EA0-48A5-9006-50EB1983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567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7A6F63"/>
                </a:solidFill>
              </a:rPr>
              <a:t>QRTable Thesis Deck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6D85E73-BA21-4E72-8B80-0DF7F1B9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248400"/>
            <a:ext cx="567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7A6F63"/>
                </a:solidFill>
              </a:rPr>
              <a:t>Architecture / Phase 2A implemented</a:t>
            </a:r>
          </a:p>
        </p:txBody>
      </p:sp>
    </p:spTree>
    <p:extLst>
      <p:ext uri="{BB962C8B-B14F-4D97-AF65-F5344CB8AC3E}">
        <p14:creationId xmlns:p14="http://schemas.microsoft.com/office/powerpoint/2010/main" val="158255397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671FD9-6E8B-44BA-A391-FE0527DB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D8F792-9AFD-46AF-BC5E-1DF6C21A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113538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0F766E"/>
                </a:solidFill>
              </a:rPr>
              <a:t>14 · Realtime strategy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C4867-7C0C-4941-9035-81584D18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1990"/>
            <a:ext cx="11353800" cy="4343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850" b="1">
                <a:solidFill>
                  <a:srgbClr val="17202A"/>
                </a:solidFill>
              </a:rPr>
              <a:t>Realtime UI dùng BFF Direct; domain event dùng Kafka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535548-7F12-4C05-9898-A4EAEAA3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30630"/>
            <a:ext cx="113538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5D6673"/>
                </a:solidFill>
              </a:rPr>
              <a:t>WebSocket chỉ là hint để client refetch REST, không thay REST làm source of truth.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051BD0-7003-45C2-9844-FEABCE1A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64970"/>
            <a:ext cx="1809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8EC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5E38E2-955B-47DF-B871-A3D891EE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8320"/>
            <a:ext cx="15430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Order submitted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7E50C-CB0F-41AC-A8D8-25CCB019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154305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BFF nhận response từ Order TCP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1B38BD-2C3D-4B7F-8C55-7E776139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798320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613DFB-9ECE-4694-AB43-5BE55A35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64970"/>
            <a:ext cx="2476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6F4F1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C9691A-3576-4703-8D1B-D1D97EAD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98320"/>
            <a:ext cx="220980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BFF Direct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ED6285-7A3F-408C-B638-9E1CA35B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38350"/>
            <a:ext cx="22098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order.created / cart.updated / service.requested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2F7C84-8767-4D5E-9070-C37A6618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798320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2EA67E-E9E6-44DA-ABF0-12B33756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64970"/>
            <a:ext cx="2000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2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CBA63F-DA26-4BF1-91ED-CEDA0E10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8320"/>
            <a:ext cx="17335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Client refetch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35ABD9-A836-4CEC-A43D-062FFB20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17335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POS/PWA invalidate React Query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43F5CD-B57D-4C17-8342-13760C44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98320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91BB40-718C-4FF4-89C5-332917FC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64970"/>
            <a:ext cx="1809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4F6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B6CDD9-DC37-4FB1-B2F7-CC5530C9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98320"/>
            <a:ext cx="15430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REST source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A5CE38-E60A-47A8-8E0E-E4634BD0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38350"/>
            <a:ext cx="15430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GET order/cart/list detail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2AD566-F488-49BC-8BA9-8DA3D882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74620"/>
            <a:ext cx="55911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20DBB5-EB2D-4B78-B56D-E1A9C3A9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46070"/>
            <a:ext cx="5248275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0F766E"/>
                </a:solidFill>
              </a:rPr>
              <a:t>BFF Direct events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0EE5A8-ECC4-466C-B580-440FFED5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7060"/>
            <a:ext cx="5248275" cy="11521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order.created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order.status_changed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cart.updated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service.requested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bill.requested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table.transferred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CBF763-4CF6-4916-A495-4F7F98C0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674620"/>
            <a:ext cx="55911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603D92-C18E-4FDC-9428-BE6E69C3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846070"/>
            <a:ext cx="5248275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D65A3A"/>
                </a:solidFill>
              </a:rPr>
              <a:t>Kafka events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35CFE6-DCB0-4461-9168-BD053DB8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147060"/>
            <a:ext cx="5248275" cy="7680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order.confirmed trong Phase 2A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payment.completed/refunded ở Phase 3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kitchen.sla_warning ở Phase 2B/4A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tenant.created ở SaaS onboarding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BCC5A7-FE70-4039-A3A5-635C5341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567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7A6F63"/>
                </a:solidFill>
              </a:rPr>
              <a:t>QRTable Thesis Deck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18F02D-5ECA-4EDA-A57C-8DC68777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248400"/>
            <a:ext cx="567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7A6F63"/>
                </a:solidFill>
              </a:rPr>
              <a:t>Architecture / Phase 2A implemented</a:t>
            </a:r>
          </a:p>
        </p:txBody>
      </p:sp>
    </p:spTree>
    <p:extLst>
      <p:ext uri="{BB962C8B-B14F-4D97-AF65-F5344CB8AC3E}">
        <p14:creationId xmlns:p14="http://schemas.microsoft.com/office/powerpoint/2010/main" val="104496369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A91A7D-C61D-4C6B-A39D-E774F320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11D183-16C1-4CB4-B1A1-3DF28AC9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113538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0F766E"/>
                </a:solidFill>
              </a:rPr>
              <a:t>15 · Operational flows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5FBD05-04EE-497B-8CED-7D8CDDF7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1990"/>
            <a:ext cx="11353800" cy="8686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850" b="1">
                <a:solidFill>
                  <a:srgbClr val="17202A"/>
                </a:solidFill>
              </a:rPr>
              <a:t>Service request, bill request và transfer table mở rộng luồng ordering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E434C4-D594-4CE3-9675-93211062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64970"/>
            <a:ext cx="113538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5D6673"/>
                </a:solidFill>
              </a:rPr>
              <a:t>Ba flow này chứng minh session/table/order/bill không thể tách rời ở POS runtime.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176442-1A43-4999-9DE0-A38615FC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9310"/>
            <a:ext cx="113538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887B3-5A7C-4A3C-B0CB-2C12BC76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70760"/>
            <a:ext cx="110109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0F766E"/>
                </a:solidFill>
              </a:rPr>
              <a:t>Service request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89C3F8-68A8-4ED3-BDD3-A4AA3449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52700"/>
            <a:ext cx="16954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5AB8C9-6C4D-46E7-8DFD-575E5A60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14287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Customer 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5D787B-3327-41A4-8313-FA0CF81A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26080"/>
            <a:ext cx="142875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CALL_STAFF / GENERAL_HELP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807314-88EF-4BAB-B751-47E94FA8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600325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A56CF2-46A5-4F23-ACD1-7EC11F98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52700"/>
            <a:ext cx="16954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6D7D2B-F704-46D1-821B-9A36BC7D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86050"/>
            <a:ext cx="14287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Order Service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0BF143-197E-49E4-95C7-582675C9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26080"/>
            <a:ext cx="14287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create service request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FE7970-F127-41AC-ADE9-0D850E15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00325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62625F-AFEB-40AC-B24C-AD3491D3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52700"/>
            <a:ext cx="16954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DC255F-76B3-4A66-A256-6C22BC22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86050"/>
            <a:ext cx="14287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BFF Direct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78E837-A8F1-4FEF-9769-1F2A73DC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26080"/>
            <a:ext cx="14287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service.requested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C9B7D4-D7F0-4D4A-88BE-E85E6A88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00325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35860F-327B-4AE1-B6C9-EA5A0F65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52700"/>
            <a:ext cx="16954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0CBE3E-B856-4478-AAF2-BCB61C1D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86050"/>
            <a:ext cx="14287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Staff inbox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FC2459-5751-46C9-B0F5-AC5BD0FC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26080"/>
            <a:ext cx="14287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acknowledge / resolve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C15C4C-5066-4B6F-9027-3E9386AD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32810"/>
            <a:ext cx="113538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8EC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888991-7715-4C04-87AE-9BB89826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04260"/>
            <a:ext cx="110109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C47A22"/>
                </a:solidFill>
              </a:rPr>
              <a:t>Bill request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476EFA-AACA-4602-B64E-00F7A29D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86200"/>
            <a:ext cx="16954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AD739D-EDFA-49B4-BFBD-3972659C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14287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Customer bill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3D5211-33C8-4A55-8955-5ABB8C92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9580"/>
            <a:ext cx="14287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explicit command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462668-3FD0-4A7A-B90E-812E549C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933825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43FA14-7C31-4B1D-B901-6360D4E2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86200"/>
            <a:ext cx="16954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9534D9-4A69-4AC4-ABD7-72444830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19550"/>
            <a:ext cx="14287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Order checks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B4A572-DDF6-4724-9556-1EB5688E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259580"/>
            <a:ext cx="14287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bill/session readiness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E3D2A7-DC99-43B6-9E12-F3548D96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33825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9C7D0D-A4D2-430D-B4EE-E2051F3F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86200"/>
            <a:ext cx="16954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272E20-0F32-4B12-AA16-DC66A7C4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19550"/>
            <a:ext cx="14287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Bill status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C7DD86-A3D7-4F60-89D0-2F8A534D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59580"/>
            <a:ext cx="142875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OPEN → PENDING_PAYMENT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145B2F-B059-40C0-BB66-3C373D3E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33825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A4BFD5-5BE1-4501-BDCC-4B52FCCE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86200"/>
            <a:ext cx="16954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2879A4-448E-4B16-84C4-402FF3BE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19550"/>
            <a:ext cx="14287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Cart locked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A6E2DB-0F92-4B1E-8EB9-2DCEFB80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259580"/>
            <a:ext cx="14287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payment Phase 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0D216E-88E9-455D-80F9-D36C4180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6310"/>
            <a:ext cx="113538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EF2FF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FB2654-A7E8-449F-A329-E5895893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37760"/>
            <a:ext cx="110109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2563EB"/>
                </a:solidFill>
              </a:rPr>
              <a:t>Transfer table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A0FA948-42D2-4AED-A5DC-3065BBA2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6954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448386-CEF1-42EC-B679-CE8FEB14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53050"/>
            <a:ext cx="14287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Staff transfer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32522B3-1405-4960-9275-D47A9106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93080"/>
            <a:ext cx="14287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fromTable → toTable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212E3FA-F172-4029-963F-0EAA0FBB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267325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EC668D9-6517-44A1-A423-650E468D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219700"/>
            <a:ext cx="16954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6A54704-E272-4685-B3F0-56F35B7B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353050"/>
            <a:ext cx="14287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Order saga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843ACF9-1174-4970-BB4A-379D8CD7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593080"/>
            <a:ext cx="14287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locks + validate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48D7A5D-1944-4390-96A0-E286ADAF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67325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FF6CB0B-2B04-4DA9-B80A-9B512894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219700"/>
            <a:ext cx="16954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75256EE-7074-4FFB-A858-8FD3BA73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53050"/>
            <a:ext cx="14287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Catalog TCP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96D3404-BA98-4FCB-A204-35F270C6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593080"/>
            <a:ext cx="14287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table status update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60E5D22-EBEE-410D-A26A-FC96D514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267325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0974B8B-595D-4190-AAC5-CC953F70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219700"/>
            <a:ext cx="16954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A922E61-245D-47FC-8FE3-37F1EEFB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353050"/>
            <a:ext cx="14287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Redis/DB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78B2A54-C184-44ED-B50D-9AE75C13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593080"/>
            <a:ext cx="14287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session metadata updated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DDFBCA9-A767-4844-AEC7-7A9FBDDD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567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7A6F63"/>
                </a:solidFill>
              </a:rPr>
              <a:t>QRTable Thesis Deck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EF1F7DB-2CA3-42AB-A0F4-9A19B3E4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248400"/>
            <a:ext cx="567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7A6F63"/>
                </a:solidFill>
              </a:rPr>
              <a:t>Architecture / Phase 2A implemented</a:t>
            </a:r>
          </a:p>
        </p:txBody>
      </p:sp>
    </p:spTree>
    <p:extLst>
      <p:ext uri="{BB962C8B-B14F-4D97-AF65-F5344CB8AC3E}">
        <p14:creationId xmlns:p14="http://schemas.microsoft.com/office/powerpoint/2010/main" val="155423586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A85347-922A-4C87-B7A9-FE8A3A3F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3D13CC-3F18-4EBC-A4E5-5D966085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113538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0F766E"/>
                </a:solidFill>
              </a:rPr>
              <a:t>16 · Consistency / error handling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E17420-4668-4098-B2C7-D045C5BB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1990"/>
            <a:ext cx="11353800" cy="4343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850" b="1">
                <a:solidFill>
                  <a:srgbClr val="17202A"/>
                </a:solidFill>
              </a:rPr>
              <a:t>Lỗi nghiệp vụ được đặt tên rõ để UI biết refetch, retry hay dừng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3DF9BE-A7D2-43CC-8D11-1289727B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30630"/>
            <a:ext cx="113538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5D6673"/>
                </a:solidFill>
              </a:rPr>
              <a:t>Response wrapper thống nhất giúp frontend xử lý lỗi và logging theo processID/duration.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1B0B2E-E1C3-4755-95ED-A50BEF1D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64970"/>
            <a:ext cx="11353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6F4F1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4CFC45-8AD7-4602-ADE4-A7D2D202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6420"/>
            <a:ext cx="110109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0F766E"/>
                </a:solidFill>
              </a:rPr>
              <a:t>{ data, message, statusCode, duration, processID 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7C0E2F-FF4C-4248-952C-22820A5A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03170"/>
            <a:ext cx="3784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9E5FE3-145C-4AD4-9B70-5EB2DB9A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8420"/>
            <a:ext cx="35941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FFFFFF"/>
                </a:solidFill>
              </a:rPr>
              <a:t>Error 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A759CE-577C-428B-B8C5-33173CE5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00" y="2503170"/>
            <a:ext cx="3784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368539-DBBF-46B7-BF0F-D33DFBE1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2598420"/>
            <a:ext cx="35941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FFFFFF"/>
                </a:solidFill>
              </a:rPr>
              <a:t>Khi nào xảy 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2EF0F7-98B5-4B00-B694-1E12B9C1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503170"/>
            <a:ext cx="3784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21F19D-4652-4620-A6AE-74C66946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2598420"/>
            <a:ext cx="35941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FFFFFF"/>
                </a:solidFill>
              </a:rPr>
              <a:t>UI / hệ thống nên làm gì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1B6961-4E04-472C-A9B3-14141D6D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03220"/>
            <a:ext cx="378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BA1889-E4A4-4D37-8DFF-5306CDC8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988945"/>
            <a:ext cx="36131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CART_VERSION_CONFLICT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F06252-2C90-4886-8D1D-C32C71E7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00" y="2903220"/>
            <a:ext cx="378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9D1AD4-F540-4ED4-8B34-01432956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425" y="2988945"/>
            <a:ext cx="36131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Client gửi expectedCartVersion cũ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C5AC6A-85AA-4807-A60E-DC43846B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903220"/>
            <a:ext cx="378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3A9729-5C17-446F-BECB-EF42ED2A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025" y="2988945"/>
            <a:ext cx="36131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Refetch cart, toast conflict, không tự tăng version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7FC417-4B3E-4FA9-91F4-13AB4A23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60420"/>
            <a:ext cx="378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89D702-34B7-4878-9096-E9E6F1B6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446145"/>
            <a:ext cx="36131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ITEM_UNAVAILABLE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6E339F-968A-4706-A810-89635970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00" y="3360420"/>
            <a:ext cx="378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C906B0-C9C6-4B41-833A-E646DF74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425" y="3446145"/>
            <a:ext cx="36131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Món không còn order được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097F14-9E2D-480A-BA0D-DBDFF96C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3360420"/>
            <a:ext cx="378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E11794-27F6-4A3E-9573-CBA24A56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025" y="3446145"/>
            <a:ext cx="36131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Disable/remove item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04DFE3-7AEA-4E10-BD15-512AD0AE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7620"/>
            <a:ext cx="378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21B592-85B4-4324-86E9-6A4C9DA8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903345"/>
            <a:ext cx="36131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PRICE_CHANGED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6F25B0-BB31-4BE9-BFA7-4457DE54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00" y="3817620"/>
            <a:ext cx="378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06BB7B-B5BD-4142-8065-39B7957B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425" y="3903345"/>
            <a:ext cx="36131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Giá thay đổi so với cart snapshot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29F67E-B8B2-4658-9D13-B3330D87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3817620"/>
            <a:ext cx="378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57CE89-6ABA-42CA-A8BE-40F07298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025" y="3903345"/>
            <a:ext cx="36131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Hiển thị giá mới, yêu cầu xác nhận lại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C0699A-0289-4CD1-8A85-917ABB1D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74820"/>
            <a:ext cx="378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6D368D-EEA6-4573-8973-59C25AA5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360545"/>
            <a:ext cx="36131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INSUFFICIENT_STOCK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D8CFDB-3EAE-4DFA-AFC5-88E26392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00" y="4274820"/>
            <a:ext cx="378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D089DF-5C78-40B3-AC20-CE6E5756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425" y="4360545"/>
            <a:ext cx="36131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Confirm thất bại do stock thiếu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062950-9478-4F74-9257-B0F2B875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4274820"/>
            <a:ext cx="378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DE5581-B25B-4D50-8061-A8BA6E3F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025" y="4360545"/>
            <a:ext cx="36131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Giữ order PENDING, staff xử lý món thay thế/cancel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D2FC4D-A146-4C13-9174-291C72A7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32020"/>
            <a:ext cx="378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3A4D67-C50D-4AE1-9C73-563A8CC5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817745"/>
            <a:ext cx="36131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BILL_NOT_READY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1F9175-0CD3-40CD-9F3A-3D8ED3D6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00" y="4732020"/>
            <a:ext cx="378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2444BA-C292-41FE-8B88-45BA81B7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425" y="4817745"/>
            <a:ext cx="36131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Gọi hóa đơn quá sớm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49E07C6-6778-4811-8A5C-7566D915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4732020"/>
            <a:ext cx="378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BE58C6-03B9-4B6D-BA5E-B29767F7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025" y="4817745"/>
            <a:ext cx="36131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Thông báo order/item chưa đủ điều kiện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868D279-DE9F-44D3-B93F-75655392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89220"/>
            <a:ext cx="378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16C8EF1-F764-48BD-8585-FCB6C93F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274945"/>
            <a:ext cx="36131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TENANT_MISMATCH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46F45C6-ADC6-4484-B447-639E1370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00" y="5189220"/>
            <a:ext cx="378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F9F65EA-5F4D-4E40-91A9-E9B5517A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425" y="5274945"/>
            <a:ext cx="36131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Sai tenant/session xuyên miền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3CF85CE-1BC4-41AA-866F-BB2B9DD2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5189220"/>
            <a:ext cx="378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A3D0CD3-977A-4D3D-A814-04F180FE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025" y="5274945"/>
            <a:ext cx="36131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2A"/>
                </a:solidFill>
              </a:rPr>
              <a:t>Security error, không auto retry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622346D-BC36-418A-A37B-863EC6AB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567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7A6F63"/>
                </a:solidFill>
              </a:rPr>
              <a:t>QRTable Thesis Deck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36924B5-BAF2-42A6-8D2F-6B0C522D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248400"/>
            <a:ext cx="567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7A6F63"/>
                </a:solidFill>
              </a:rPr>
              <a:t>Architecture / Phase 2A implemented</a:t>
            </a:r>
          </a:p>
        </p:txBody>
      </p:sp>
    </p:spTree>
    <p:extLst>
      <p:ext uri="{BB962C8B-B14F-4D97-AF65-F5344CB8AC3E}">
        <p14:creationId xmlns:p14="http://schemas.microsoft.com/office/powerpoint/2010/main" val="127636832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0AFDD6-1E53-42FB-BB3C-AAB157AA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089883-F242-4B25-9785-44B3452B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113538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0F766E"/>
                </a:solidFill>
              </a:rPr>
              <a:t>17 · Verification strategy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7F4D65-36F1-4107-99AF-F6E2B1DF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1990"/>
            <a:ext cx="11353800" cy="4343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850" b="1">
                <a:solidFill>
                  <a:srgbClr val="17202A"/>
                </a:solidFill>
              </a:rPr>
              <a:t>Kiểm thử được tổ chức theo tầng và theo flow nghiệp vụ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342A9F-246C-4EAE-BF3F-9209963E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30630"/>
            <a:ext cx="113538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5D6673"/>
                </a:solidFill>
              </a:rPr>
              <a:t>Mục tiêu không chỉ là pass unit test, mà là chứng minh flow UI → BFF → service → DB/Redis/Kafka đúng.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C4241E-64C2-4655-BE3C-F4541D08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64970"/>
            <a:ext cx="2724150" cy="304800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ABB20-F8EA-41D6-A286-11D1780F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6420"/>
            <a:ext cx="2381250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2563EB"/>
                </a:solidFill>
              </a:rPr>
              <a:t>Unit tests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EA880A-1A6D-4AAF-91DF-1CAF083E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67890"/>
            <a:ext cx="2381250" cy="11521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Cart version conflict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Order lifecycle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Bill totals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Session policy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Transfer service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Permission guard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AA6D23-0BCF-40DB-AA61-88CFB535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664970"/>
            <a:ext cx="2724150" cy="304800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6F87D6-5833-4AC7-BACF-FBB06286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36420"/>
            <a:ext cx="2381250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0F766E"/>
                </a:solidFill>
              </a:rPr>
              <a:t>Integration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3F966D-F201-406E-9079-317656AC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67890"/>
            <a:ext cx="2381250" cy="9601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BFF controller → TCP payload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Order → Catalog deduct stock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Redis session/cart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Outbox event creation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Tenant filtering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B099AE-B15F-4AE1-933E-3CD31573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64970"/>
            <a:ext cx="2724150" cy="304800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830D77-FA16-48E5-8F45-CA069FA0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36420"/>
            <a:ext cx="2381250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C47A22"/>
                </a:solidFill>
              </a:rPr>
              <a:t>Frontend tests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7EE8BD-B1B0-411D-BEC7-176855E0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67890"/>
            <a:ext cx="2381250" cy="11521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React Query keys tenant/session scoped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Cart mutation rollback/refetch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POS polling and invalidation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QR URL/tenant slug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Toast/error states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D29805-AF67-4CD9-87A5-15A5D291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64970"/>
            <a:ext cx="2724150" cy="304800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F3E833-26E7-4776-A519-126C1660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36420"/>
            <a:ext cx="2381250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D65A3A"/>
                </a:solidFill>
              </a:rPr>
              <a:t>Manual E2E demo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56413F-2EC4-4830-B8F0-7EEEBC4A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67890"/>
            <a:ext cx="2381250" cy="11521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QR join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Menu + cart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Submit order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Staff confirm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Tracking update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Service request/transfer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BE7D8A-58C6-45D9-8070-10BD24FD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567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7A6F63"/>
                </a:solidFill>
              </a:rPr>
              <a:t>QRTable Thesis Deck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F885DB-A50C-4F6A-8B74-BA500FF4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248400"/>
            <a:ext cx="567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7A6F63"/>
                </a:solidFill>
              </a:rPr>
              <a:t>Architecture / Phase 2A implemented</a:t>
            </a:r>
          </a:p>
        </p:txBody>
      </p:sp>
    </p:spTree>
    <p:extLst>
      <p:ext uri="{BB962C8B-B14F-4D97-AF65-F5344CB8AC3E}">
        <p14:creationId xmlns:p14="http://schemas.microsoft.com/office/powerpoint/2010/main" val="8889450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571629-C40D-44EA-BCF4-B09A8AA3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5DE851-C0D6-4DD4-BFB1-5E1B397E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113538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0F766E"/>
                </a:solidFill>
              </a:rPr>
              <a:t>18 · Test matrix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90A232-56D0-4C71-AA87-4804F3C0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1990"/>
            <a:ext cx="11353800" cy="4343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850" b="1">
                <a:solidFill>
                  <a:srgbClr val="17202A"/>
                </a:solidFill>
              </a:rPr>
              <a:t>Các test case trọng yếu theo từng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4AB44-768A-4146-9AF4-ADA09582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30630"/>
            <a:ext cx="113538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5D6673"/>
                </a:solidFill>
              </a:rPr>
              <a:t>Mỗi flow cần happy path, authorization failure, tenant/session mismatch và consistency edge case.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58C3B5-3F84-4B05-B221-A926E09C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64970"/>
            <a:ext cx="2838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A5099-59AC-4EC4-AA6C-7FE768FA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0220"/>
            <a:ext cx="26479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FFFFFF"/>
                </a:solidFill>
              </a:rPr>
              <a:t>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0B517D-D624-4F7F-8338-B9E4F2C5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64970"/>
            <a:ext cx="2838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B9049E-5C21-4918-95FA-6918462A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760220"/>
            <a:ext cx="26479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FFFFFF"/>
                </a:solidFill>
              </a:rPr>
              <a:t>Happy case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059C50-EEC1-47ED-99DA-3AD65532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4970"/>
            <a:ext cx="2838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26203-C6DB-402A-904B-683E4A64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0220"/>
            <a:ext cx="26479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FFFFFF"/>
                </a:solidFill>
              </a:rPr>
              <a:t>Failure / edge case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8368A4-A8A9-48F6-8C64-D5C95B82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64970"/>
            <a:ext cx="2838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B7C0EC-E9B0-4672-A75F-1E182B20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60220"/>
            <a:ext cx="26479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FFFFFF"/>
                </a:solidFill>
              </a:rPr>
              <a:t>Expected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39A7EF-9DE0-4D0C-977D-F861D94D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65020"/>
            <a:ext cx="2838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CEA7A9-A5DE-4966-BCE7-A7F78111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150745"/>
            <a:ext cx="2667000" cy="108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13" b="0">
                <a:solidFill>
                  <a:srgbClr val="17202A"/>
                </a:solidFill>
              </a:rPr>
              <a:t>Login / RBAC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AF1545-9D45-4CE4-96C6-C4362133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65020"/>
            <a:ext cx="2838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9FE69E-BDD0-439C-9D66-04D762F3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150745"/>
            <a:ext cx="2667000" cy="108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13" b="0">
                <a:solidFill>
                  <a:srgbClr val="17202A"/>
                </a:solidFill>
              </a:rPr>
              <a:t>JWT hợp lệ, role khớp Mongo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E66075-EF6D-479E-8DEF-6CDEFCA5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65020"/>
            <a:ext cx="2838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1C4B22-4D5F-4406-A47F-72ED1E95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150745"/>
            <a:ext cx="2667000" cy="108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13" b="0">
                <a:solidFill>
                  <a:srgbClr val="17202A"/>
                </a:solidFill>
              </a:rPr>
              <a:t>JWT expired / missing permission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C07457-7208-437F-B945-FA4FB58B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65020"/>
            <a:ext cx="2838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EA783A-702E-474D-86B5-BC6AA98A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150745"/>
            <a:ext cx="2667000" cy="108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13" b="0">
                <a:solidFill>
                  <a:srgbClr val="17202A"/>
                </a:solidFill>
              </a:rPr>
              <a:t>200 hoặc 401/403 rõ ràng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12783F-F355-49EC-AD3C-9830E2FD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93645"/>
            <a:ext cx="2838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C23A2C-5700-4822-98DE-B6A0A974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579370"/>
            <a:ext cx="2667000" cy="108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13" b="0">
                <a:solidFill>
                  <a:srgbClr val="17202A"/>
                </a:solidFill>
              </a:rPr>
              <a:t>QR join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4148C2-75B9-432F-8EEA-B11BA820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93645"/>
            <a:ext cx="2838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0F034C-97AD-494E-BAE8-A3CB8DE6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579370"/>
            <a:ext cx="2667000" cy="108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13" b="0">
                <a:solidFill>
                  <a:srgbClr val="17202A"/>
                </a:solidFill>
              </a:rPr>
              <a:t>Slug + token hợp lệ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644CA1-A569-49EC-8608-AE196274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93645"/>
            <a:ext cx="2838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795A2F-5220-4CEB-80D4-9B2049A2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579370"/>
            <a:ext cx="2667000" cy="108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13" b="0">
                <a:solidFill>
                  <a:srgbClr val="17202A"/>
                </a:solidFill>
              </a:rPr>
              <a:t>Token sai, token cũ sau regenerate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384F65-3F3C-46EE-9D05-AC70F517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93645"/>
            <a:ext cx="2838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04C20C-0706-4B84-ABE6-D20E95F0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579370"/>
            <a:ext cx="2667000" cy="108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13" b="0">
                <a:solidFill>
                  <a:srgbClr val="17202A"/>
                </a:solidFill>
              </a:rPr>
              <a:t>Không join session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FC0A4B-53AE-4927-8D26-57C3B7F5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22270"/>
            <a:ext cx="2838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7F599E-EC98-410D-8CD8-ED5ACAB7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007995"/>
            <a:ext cx="2667000" cy="108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13" b="0">
                <a:solidFill>
                  <a:srgbClr val="17202A"/>
                </a:solidFill>
              </a:rPr>
              <a:t>Menu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3E5AB9-208B-4BBC-9831-D2DC9FCE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22270"/>
            <a:ext cx="2838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062AFC-438B-4E67-AD8A-9E20F861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007995"/>
            <a:ext cx="2667000" cy="108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13" b="0">
                <a:solidFill>
                  <a:srgbClr val="17202A"/>
                </a:solidFill>
              </a:rPr>
              <a:t>Menu đúng tenant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047A7C-1EFF-48AB-A713-792BEAF1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22270"/>
            <a:ext cx="2838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123723-C1B6-4561-86B0-C71EC57B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007995"/>
            <a:ext cx="2667000" cy="108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13" b="0">
                <a:solidFill>
                  <a:srgbClr val="17202A"/>
                </a:solidFill>
              </a:rPr>
              <a:t>Cache cũ hoặc tenant khác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A846F3-5114-455C-AC8E-A495226B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22270"/>
            <a:ext cx="2838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D372EF-432D-4450-9511-99278A29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007995"/>
            <a:ext cx="2667000" cy="108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13" b="0">
                <a:solidFill>
                  <a:srgbClr val="17202A"/>
                </a:solidFill>
              </a:rPr>
              <a:t>Không lộ cross-tenant data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CF5F92-95EB-4207-9224-4EB56C21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0895"/>
            <a:ext cx="2838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E3ABD6-FF74-4509-945D-22FD4C26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436620"/>
            <a:ext cx="2667000" cy="108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13" b="0">
                <a:solidFill>
                  <a:srgbClr val="17202A"/>
                </a:solidFill>
              </a:rPr>
              <a:t>Cart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BC06CA-91C1-4BF6-8D58-1E11C4E3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50895"/>
            <a:ext cx="2838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37656E-E500-40DC-8694-2B65C16C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436620"/>
            <a:ext cx="2667000" cy="108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13" b="0">
                <a:solidFill>
                  <a:srgbClr val="17202A"/>
                </a:solidFill>
              </a:rPr>
              <a:t>Version khớp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23514E-FF20-4575-A8D0-AA4CC9D0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50895"/>
            <a:ext cx="2838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CD066CE-E84B-4529-A211-544B2960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436620"/>
            <a:ext cx="2667000" cy="108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13" b="0">
                <a:solidFill>
                  <a:srgbClr val="17202A"/>
                </a:solidFill>
              </a:rPr>
              <a:t>Version cũ, bill locked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7927906-F6AC-453A-A40A-6FD10365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50895"/>
            <a:ext cx="2838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7053139-DD9D-4ACF-BD69-F02304C2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436620"/>
            <a:ext cx="2667000" cy="108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13" b="0">
                <a:solidFill>
                  <a:srgbClr val="17202A"/>
                </a:solidFill>
              </a:rPr>
              <a:t>409 conflict hoặc reject mutate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CC9B3B3-0DB3-430D-9538-8BB20F67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79520"/>
            <a:ext cx="2838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D44B49D-CB39-4CEB-BED4-A69EDF22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865245"/>
            <a:ext cx="2667000" cy="108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13" b="0">
                <a:solidFill>
                  <a:srgbClr val="17202A"/>
                </a:solidFill>
              </a:rPr>
              <a:t>Submit order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1A4845E-96EA-4319-AD3B-3A73E4C3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79520"/>
            <a:ext cx="2838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ADDA5D5-CEA2-45D6-BEBD-D6CFA3E6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865245"/>
            <a:ext cx="2667000" cy="108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13" b="0">
                <a:solidFill>
                  <a:srgbClr val="17202A"/>
                </a:solidFill>
              </a:rPr>
              <a:t>Cart có item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E0264EB-5100-405F-A622-78ABEE74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79520"/>
            <a:ext cx="2838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8067FA7-313D-45C4-9A5F-B226B1D9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865245"/>
            <a:ext cx="2667000" cy="108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13" b="0">
                <a:solidFill>
                  <a:srgbClr val="17202A"/>
                </a:solidFill>
              </a:rPr>
              <a:t>Duplicate idempotency key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E88466A-AFC7-4E57-8E8C-0B5A7AEF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79520"/>
            <a:ext cx="2838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1B8B9A3-C3CC-42D9-BCD3-DB26BE1A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865245"/>
            <a:ext cx="2667000" cy="108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13" b="0">
                <a:solidFill>
                  <a:srgbClr val="17202A"/>
                </a:solidFill>
              </a:rPr>
              <a:t>Không tạo duplicate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B910C4D-3CAE-4947-BD7F-54615F44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08145"/>
            <a:ext cx="2838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7E39BD6-90ED-4FBC-BE4D-B486FF64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293870"/>
            <a:ext cx="2667000" cy="108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13" b="0">
                <a:solidFill>
                  <a:srgbClr val="17202A"/>
                </a:solidFill>
              </a:rPr>
              <a:t>Confirm order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DF5F238-DFCC-4174-B7C5-02AFEB34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208145"/>
            <a:ext cx="2838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11B062D-2093-44BB-B2F4-7CCFE866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293870"/>
            <a:ext cx="2667000" cy="108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13" b="0">
                <a:solidFill>
                  <a:srgbClr val="17202A"/>
                </a:solidFill>
              </a:rPr>
              <a:t>Stock đủ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868B48F-1476-4D6A-B907-9C010427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08145"/>
            <a:ext cx="2838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35E62BD-5760-49F5-857B-D02A6B7B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293870"/>
            <a:ext cx="2667000" cy="108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13" b="0">
                <a:solidFill>
                  <a:srgbClr val="17202A"/>
                </a:solidFill>
              </a:rPr>
              <a:t>Stock thiếu / invalid state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40FB3DB-8B6D-4F8B-80EE-70B8710C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08145"/>
            <a:ext cx="2838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89F8636-A741-4B17-9571-D935D38D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293870"/>
            <a:ext cx="2667000" cy="108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13" b="0">
                <a:solidFill>
                  <a:srgbClr val="17202A"/>
                </a:solidFill>
              </a:rPr>
              <a:t>PROCESSING hoặc giữ PENDING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0CF01F0-50BC-44FD-842B-0AFE6812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36770"/>
            <a:ext cx="2838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1994A9F-E90E-47F9-B412-ECDF450E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722495"/>
            <a:ext cx="2667000" cy="108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13" b="0">
                <a:solidFill>
                  <a:srgbClr val="17202A"/>
                </a:solidFill>
              </a:rPr>
              <a:t>Service/Bill/Transfer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936132E-3B96-4B36-AFA0-3FB6D1ED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636770"/>
            <a:ext cx="2838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09C8E0E-5708-43B5-B2DD-C7251EB4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722495"/>
            <a:ext cx="2667000" cy="108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13" b="0">
                <a:solidFill>
                  <a:srgbClr val="17202A"/>
                </a:solidFill>
              </a:rPr>
              <a:t>Session/table hợp lệ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FBA61E9-0630-4AD8-AC1E-9DF779C3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36770"/>
            <a:ext cx="2838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4EA5CF8-F618-46D0-BB73-C0722891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722495"/>
            <a:ext cx="2667000" cy="108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13" b="0">
                <a:solidFill>
                  <a:srgbClr val="17202A"/>
                </a:solidFill>
              </a:rPr>
              <a:t>Session invalid, bàn đích occupied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BDAC00D-D89E-4108-A2FF-C94911C1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636770"/>
            <a:ext cx="2838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9C18CE8-9BBF-42C8-B651-258C7C3C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722495"/>
            <a:ext cx="2667000" cy="108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13" b="0">
                <a:solidFill>
                  <a:srgbClr val="17202A"/>
                </a:solidFill>
              </a:rPr>
              <a:t>Reject không orphan data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47CADC3-EB59-4708-B608-79B63448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567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7A6F63"/>
                </a:solidFill>
              </a:rPr>
              <a:t>QRTable Thesis Deck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46FFC88-9AFE-4D24-A536-B6BFFB03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248400"/>
            <a:ext cx="567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7A6F63"/>
                </a:solidFill>
              </a:rPr>
              <a:t>Architecture / Phase 2A implemented</a:t>
            </a:r>
          </a:p>
        </p:txBody>
      </p:sp>
    </p:spTree>
    <p:extLst>
      <p:ext uri="{BB962C8B-B14F-4D97-AF65-F5344CB8AC3E}">
        <p14:creationId xmlns:p14="http://schemas.microsoft.com/office/powerpoint/2010/main" val="44602128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C63723-1993-4E5A-93F2-AA731D7E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A5E478-B450-4689-A84F-6B947B18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113538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0F766E"/>
                </a:solidFill>
              </a:rPr>
              <a:t>19 · Hiện trạng triển khai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BB8A7-1621-4F04-965B-53B68D53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1990"/>
            <a:ext cx="11353800" cy="4343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850" b="1">
                <a:solidFill>
                  <a:srgbClr val="17202A"/>
                </a:solidFill>
              </a:rPr>
              <a:t>Phase 2A đã hiện thực hóa sâu luồng ordering end-to-end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CECC87-D460-4595-9EF0-1E6E1878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30630"/>
            <a:ext cx="113538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5D6673"/>
                </a:solidFill>
              </a:rPr>
              <a:t>Nên trình bày là “đã hoàn tất phạm vi Phase 2A”, không overclaim production-ready.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363A26-6631-4D9A-8287-BF0FDC0E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64970"/>
            <a:ext cx="5591175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ED179D-EF54-4B23-BCEC-730CF334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6420"/>
            <a:ext cx="52482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0F766E"/>
                </a:solidFill>
              </a:rPr>
              <a:t>Đã có trong 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A7E0F5-751F-46D5-AA12-6549B89F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9320"/>
            <a:ext cx="5248275" cy="9601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Order Service: session, cart, order, bill, service request, transfer, outbox.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BFF: customer/admin order REST + WebSocket gateway.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Customer PWA: real tenant/session/cart/order/service/bill APIs.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Management App: real POS orders, service inbox, transfer, QR dynamic tenant.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Canonical reseed tenant pho-viet.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D0D369-A0C9-4989-932A-A57C77CA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664970"/>
            <a:ext cx="5591175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1E8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189ED6-8752-42E7-91BD-B843FF47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836420"/>
            <a:ext cx="52482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D65A3A"/>
                </a:solidFill>
              </a:rPr>
              <a:t>Chưa overclaim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FB232A-1AED-49E2-A661-90237E0C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79320"/>
            <a:ext cx="5248275" cy="9601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Cash/Stripe payment confirmation thuộc Phase 3.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KDS full realtime và Redis Adapter thuộc Phase 2B.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Full saga/outbox hardening thuộc Phase 4A.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SaaS onboarding self-service thuộc Phase 4B.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Observability/Grafana tracing là phase sau.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204FAC-34A8-468C-A687-8686A643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567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7A6F63"/>
                </a:solidFill>
              </a:rPr>
              <a:t>QRTable Thesis Deck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570181-A1BE-4EEA-A33A-90A81CBD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248400"/>
            <a:ext cx="567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7A6F63"/>
                </a:solidFill>
              </a:rPr>
              <a:t>Architecture / Phase 2A implemented</a:t>
            </a:r>
          </a:p>
        </p:txBody>
      </p:sp>
    </p:spTree>
    <p:extLst>
      <p:ext uri="{BB962C8B-B14F-4D97-AF65-F5344CB8AC3E}">
        <p14:creationId xmlns:p14="http://schemas.microsoft.com/office/powerpoint/2010/main" val="1218609326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687A0C-91E0-4609-B9AC-F72114F9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279D2F-00A9-4E25-A200-A556272F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113538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0F766E"/>
                </a:solidFill>
              </a:rPr>
              <a:t>20 · Demo narrative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A223C5-BC24-4D6C-A21F-F02230C4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1990"/>
            <a:ext cx="11353800" cy="4343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850" b="1">
                <a:solidFill>
                  <a:srgbClr val="17202A"/>
                </a:solidFill>
              </a:rPr>
              <a:t>Demo nên chứng minh kiến trúc, không chỉ bấm qua UI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F381E-5F5D-4F05-8CEE-F38566CD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30630"/>
            <a:ext cx="113538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5D6673"/>
                </a:solidFill>
              </a:rPr>
              <a:t>Mỗi bước demo nên nói rõ request đi qua thành phần nào và state đổi ở đâu.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3DD9B2-BA2A-476B-91E8-B56FA1D8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64970"/>
            <a:ext cx="5591175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EA3BBF-49C0-4668-8C51-A4B2686C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6420"/>
            <a:ext cx="5248275" cy="18882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1. Reseed dev với tenant pho-viet.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2. Mở Management App xem bàn và QR.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3. Mở Customer PWA từ QR URL.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4. Resolve tenant, validate QR, join session.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5. Xem menu thật, thêm món vào cart Redis.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6. Submit order tạo PENDING order.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7. POS thấy order pending.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8. Waiter confirm order, Catalog deduct stock.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9. Customer tracking cập nhật status.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050">
                <a:solidFill>
                  <a:srgbClr val="17202A"/>
                </a:solidFill>
              </a:defRPr>
            </a:pPr>
            <a:r>
              <a:rPr sz="1050">
                <a:solidFill>
                  <a:srgbClr val="17202A"/>
                </a:solidFill>
              </a:rPr>
              <a:t>10. Gửi service request hoặc transfer table.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8D3287-0D11-4EEB-8048-BEFD7C3E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664970"/>
            <a:ext cx="5591175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E6F4F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135A4B-C4A6-494A-A1CE-13F23B65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12620"/>
            <a:ext cx="50958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0F766E"/>
                </a:solidFill>
              </a:rPr>
              <a:t>Câu nói xuyên suốt demo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196F02-2829-4957-9C0B-AD39BA22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74570"/>
            <a:ext cx="5095875" cy="9601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75" b="0">
                <a:solidFill>
                  <a:srgbClr val="17202A"/>
                </a:solidFill>
              </a:rPr>
              <a:t>Một thao tác UI đi qua BFF guard/controller, chuyển thành TCP command đến service sở hữu domain, ghi PostgreSQL/Redis, rồi trả response hoặc phát realtime/Kafka event đúng vai trò.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B096DC-D6FC-4210-925C-DD4E2718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567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7A6F63"/>
                </a:solidFill>
              </a:rPr>
              <a:t>QRTable Thesis Deck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9E9645-8357-43AB-8D33-EF895F6D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248400"/>
            <a:ext cx="567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7A6F63"/>
                </a:solidFill>
              </a:rPr>
              <a:t>Architecture / Phase 2A implemented</a:t>
            </a:r>
          </a:p>
        </p:txBody>
      </p:sp>
    </p:spTree>
    <p:extLst>
      <p:ext uri="{BB962C8B-B14F-4D97-AF65-F5344CB8AC3E}">
        <p14:creationId xmlns:p14="http://schemas.microsoft.com/office/powerpoint/2010/main" val="136354842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B9CD4B-9D47-4631-A002-70E6312A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7368E7-0B7F-4047-A1A3-241EF533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113538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0F766E"/>
                </a:solidFill>
              </a:rPr>
              <a:t>21 · Roadmap / 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0C9C7B-97F5-43E6-AA3C-3A69C502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1990"/>
            <a:ext cx="11353800" cy="8686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850" b="1">
                <a:solidFill>
                  <a:srgbClr val="17202A"/>
                </a:solidFill>
              </a:rPr>
              <a:t>Kiến trúc lõi đã chứng minh được flow đặt món; các phase sau mở rộng chiều sâu vận hành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C435B0-8478-476F-ABBC-DD90E93A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64970"/>
            <a:ext cx="113538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5D6673"/>
                </a:solidFill>
              </a:rPr>
              <a:t>Deck này có thể tiếp tục lớn dần thành slide bảo vệ chính thức khi các phase tiếp theo hoàn thành.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FD7F48-E4C1-4778-924C-F8809B3F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9310"/>
            <a:ext cx="1714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6F4F1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95B499-14D8-4DF2-B848-DC61E86A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32660"/>
            <a:ext cx="144780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Phase 2A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685F7A-E49C-4739-85D1-45CE3F05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2690"/>
            <a:ext cx="14478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Permissions + Order + Kafka implemented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88D5DA-718B-4EEF-BBFC-4B51C7D7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232660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BB6C51-6913-44DB-9190-C3EB4698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099310"/>
            <a:ext cx="1619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2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B378B6-12A7-4768-85C3-F30984C5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232660"/>
            <a:ext cx="13525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Phase 2B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F2B5BF-326A-4014-A472-207C5D0D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72690"/>
            <a:ext cx="13525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KDS realtime hardening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433829-C0BA-427E-81B0-6315EC62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32660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53AE2D-A9ED-4FDB-860A-2C2FD328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99310"/>
            <a:ext cx="1619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8EC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985751-D574-4848-A2DD-C87C3F1B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32660"/>
            <a:ext cx="13525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Phase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0B9C1D-4BD0-4951-B451-8830FBBF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72690"/>
            <a:ext cx="13525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Payment + bill finalization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BCA242-38EF-482A-912F-50C30CCE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2660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3E9733-BCA6-4CD3-B82B-326CA238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99310"/>
            <a:ext cx="1809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1E8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EA20FF-0E0B-436E-81FD-19C72F5A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32660"/>
            <a:ext cx="15430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Phase 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BA9865-99C9-4B7B-A026-ACFD658B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2690"/>
            <a:ext cx="154305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Saga / SaaS onboarding / hardening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FB9D4A-C169-41E6-976D-C16FF592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32660"/>
            <a:ext cx="3619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47A22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01820B-F7E7-4793-9EAE-E8555B3C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99310"/>
            <a:ext cx="1714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4F6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0895EF-6089-46AB-B290-15F854EA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32660"/>
            <a:ext cx="144780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02A"/>
                </a:solidFill>
              </a:rPr>
              <a:t>Phase 5-7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A9E009-0A3D-4A99-A275-B188CE2B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2690"/>
            <a:ext cx="14478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5D6673"/>
                </a:solidFill>
              </a:rPr>
              <a:t>Observability, tests, final demo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CF1B0C-409D-40BB-8E42-E938EA35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28010"/>
            <a:ext cx="113538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B33CE5-46C6-4565-AE7D-E9075AC0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4710"/>
            <a:ext cx="10820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0F766E"/>
                </a:solidFill>
              </a:rPr>
              <a:t>Kết luận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9D53F9-5655-4FF2-85CE-724E648B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5710"/>
            <a:ext cx="10820400" cy="7543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650" b="0">
                <a:solidFill>
                  <a:srgbClr val="17202A"/>
                </a:solidFill>
              </a:rPr>
              <a:t>QRTable không chỉ là một app đặt món bằng QR. Đây là nền tảng SaaS POS đa tenant, có BFF kiểm soát auth/RBAC, service boundary theo ownership, Redis cho runtime state, Kafka cho domain event và flow ordering end-to-end đã được hiện thực hóa đến Phase 2A.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E8482D-BDB4-49E4-BB02-F37F2F2B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567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7A6F63"/>
                </a:solidFill>
              </a:rPr>
              <a:t>QRTable Thesis Deck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35551B-D8B3-4600-A555-641E6A2E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248400"/>
            <a:ext cx="56769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7A6F63"/>
                </a:solidFill>
              </a:rPr>
              <a:t>Architecture / Phase 2A implemented</a:t>
            </a:r>
          </a:p>
        </p:txBody>
      </p:sp>
    </p:spTree>
    <p:extLst>
      <p:ext uri="{BB962C8B-B14F-4D97-AF65-F5344CB8AC3E}">
        <p14:creationId xmlns:p14="http://schemas.microsoft.com/office/powerpoint/2010/main" val="1345264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2026-05-03T07:51:20.7830000Z</dcterms:created>
  <dcterms:modified xsi:type="dcterms:W3CDTF">2026-05-03T07:51:20.7830000Z</dcterms:modified>
</coreProperties>
</file>