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bằng tên đề tài chính thức. Ảnh nền hiện là prototype apps/management-app/public/landing-hero-ambient.png; logo ở footer là placeholder riêng và tên trường là text độc lập.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năm phần chính. Không đọc như mục lục của report; nhấn mạnh đây là mạch lập luận kỹ thuật.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Dẫn từ bối cảnh nghiệp vụ. Không nói hệ thống chỉ là QR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bản đồ luồng nghiệp vụ, chưa phải demo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dùng claim tuyệt đối. Đây là bốn nhóm bài toán dẫn tới các quyết định kiến trúc.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ranh giới rõ nhưng không biến slide thành disclaimer. Đây là phạm vi chính thức của phần trình bày.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Customer không thuộc role RBAC; customer dùng session context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claim thuật toán mới. Đây là đóng góp kỹ thuật phần mềm và tích hợp hệ thống.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Chưa nói công nghệ. Đây là yêu cầu chất lượng dẫn dắt kiến trúc.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cả cơ sở lựa chọn và chi phí. Không khẳng định microservices luôn tốt hơn modular monolith.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bản đồ vấn đề. Không giải thích sâu từng cơ chế tại slide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SLIDE_ARCHITECTURE_OVERVIEW. Nguồn và hướng dẫn thay nằm trong asset registry.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SLIDE_SERVICE_DATA_OWNERSHIP. Nhấn mạnh Catalog là dịch vụ duy nhất ghi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khung system design, không gọi là thuật toán hoặc phương pháp nghiên cứu.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 cho slide evidence cuối và phần demo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tiêu chí lựa chọn trước khi liệt kê kênh giao tiếp QRTable.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Registry canonical hiện có năm topic. Không thêm topic UI hoặc menu.updated.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không nằm trong role seed và không đi qua RBAC như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đưa số permission cụ thể vì tài liệu canonical còn drift giữa 62 và 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 đại diện có guard specs và live smoke; không dùng từ “tuyệt đối”.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biệt local consistency với eventual consistency giữa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nối cơ chế với mục tiêu, không đưa command test chi tiết.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claim QRTable có full Saga platform, durable saga state hoặc retry 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SLIDE_ORDER_CONFIRM_SAGA. Unit/contract chứng minh orchestration, replay, Catalog error và compensation; live deterministic fault injection sau deduct còn thiếu.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Bám saga-validation-strategy và P0-ORD-STATE-STOCK partial.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WebSocket không phải nguồn sự thật; Redis projection có cơ chế dedupe đại diện.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claim live provider SePay toàn diện; slide tập trung internal bridge đã có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SLIDE_GOLDEN_FLOW_SCREENSHOTS; demo live tách khỏi 20-25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38/9/1/4 lấy từ phase-5-7-finalization. Không đưa exact permission count vì document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phần trình bày chính. Sau đó chuyển sang demo riêng nếu lịch bảo vệ cho phép.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Phụ lục dùng để trả lời câu hỏi về ranh giới và quyền sở hữu dữ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dùng ERD cũ làm source of truth nếu chưa đối chiếu entity/schema hiện tại.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đưa exact permission count do drift tài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Canonical source: libs/constants/src/lib/kafka-topic.constants.ts.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Redis mất, khả năng phục hồi khác nhau theo domain; không claim Redis là durable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SLIDE_ORDER_CONFIRM_SAGA; phụ lục dành cho câu hỏi về các nhánh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Bám payment-events-consumer, BillService và integration bridge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tiết asset ID và replacement instructions nằm trong asset-registry.json.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docs/phases/phase-5-7-finalization.md. Không dùng exact permission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cuối cho phản biện. Không đọc trong phần trình bày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hyperlink" Target="file:///Users/vodinhquan/Developer/Graduation-Thesis/graduation-thesis/qr-order/docs/graduation-thesis-resources/thesis-report/assets/diagrams/chapter4-overall-architecture.mmd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hyperlink" Target="file:///Users/vodinhquan/Developer/Graduation-Thesis/graduation-thesis/qr-order/docs/graduation-thesis-resources/thesis-report/chapters/04-thiet-ke-va-kien-truc-he-thong.tex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hyperlink" Target="file:///Users/vodinhquan/Developer/Graduation-Thesis/graduation-thesis/qr-order/docs/graduation-thesis-resources/thesis-report/assets/diagrams/chapter5-order-confirm-stock.mmd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hyperlink" Target="file:///Users/vodinhquan/Developer/Graduation-Thesis/graduation-thesis/qr-order/apps/management-app/public/landing-pwa-customer-menu.png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sv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hyperlink" Target="file:///Users/vodinhquan/Developer/Graduation-Thesis/graduation-thesis/qr-order/docs/graduation-thesis-resources/thesis-report/chapters/04-thiet-ke-va-kien-truc-he-thong.tex" TargetMode="External"/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hyperlink" Target="file:///Users/vodinhquan/Developer/Graduation-Thesis/graduation-thesis/qr-order/docs/graduation-thesis-resources/thesis-report/assets/diagrams/chapter5-order-confirm-stock.mmd" TargetMode="External"/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hyperlink" Target="file:///Users/vodinhquan/Developer/Graduation-Thesis/graduation-thesis/qr-order/apps/order/src/app/modules/order/tests/order-payment-finalization.integration.spec.ts" TargetMode="External"/><Relationship Id="rId6" Type="http://schemas.openxmlformats.org/officeDocument/2006/relationships/hyperlink" Target="file:///Users/vodinhquan/Developer/Graduation-Thesis/graduation-thesis/qr-order/libs/observability" TargetMode="External"/><Relationship Id="rId8" Type="http://schemas.openxmlformats.org/officeDocument/2006/relationships/hyperlink" Target="file:///Users/vodinhquan/Developer/Graduation-Thesis/graduation-thesis/qr-order/docs/graduation-thesis-resources/thesis-report/assets/test-evidence/appendix-d-order-saga-tests.txt" TargetMode="External"/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5" Type="http://schemas.openxmlformats.org/officeDocument/2006/relationships/image" Target="../media/image-38-4.png"/><Relationship Id="rId7" Type="http://schemas.openxmlformats.org/officeDocument/2006/relationships/image" Target="../media/image-38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/Users/vodinhquan/Developer/Graduation-Thesis/graduation-thesis/qr-order/apps/management-app/public/landing-hero-ambient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>
              <a:alpha val="82000"/>
            </a:srgbClr>
          </a:solidFill>
          <a:ln w="12700">
            <a:solidFill>
              <a:srgbClr val="09090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8138160" cy="6858000"/>
          </a:xfrm>
          <a:prstGeom prst="rect">
            <a:avLst/>
          </a:prstGeom>
          <a:solidFill>
            <a:srgbClr val="09090B">
              <a:alpha val="92000"/>
            </a:srgbClr>
          </a:solidFill>
          <a:ln w="12700">
            <a:solidFill>
              <a:srgbClr val="09090B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9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0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01_cover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58952" y="548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KHÓA LUẬN TỐT NGHIỆP · 2026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58952" y="1115568"/>
            <a:ext cx="77724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Nghiên cứu và xây dựng nền tảng POS theo mô hình SaaS tích hợp đặt món qua mã QR dựa trên kiến trúc vi dịch vụ</a:t>
            </a:r>
            <a:endParaRPr lang="en-US" sz="3100" dirty="0"/>
          </a:p>
        </p:txBody>
      </p:sp>
      <p:sp>
        <p:nvSpPr>
          <p:cNvPr id="17" name="Text 13"/>
          <p:cNvSpPr/>
          <p:nvPr/>
        </p:nvSpPr>
        <p:spPr>
          <a:xfrm>
            <a:off x="758952" y="37673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SaaS POS · Đặt món qua mã QR · Kiến trúc vi dịch vụ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58952" y="48280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Võ Đình Minh Quân · MSSV 22521193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58952" y="52303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Khoa Hệ thống Thông tin · Giảng viên hướng dẫn: TS. Nguyễn Thanh Bình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TỔNG QUAN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Nội dung trình bày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Mạch trình bày đi từ bài toán nghiệp vụ đến các quyết định thiết kế và bằng chứng kiểm chứng.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02_agenda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60120" y="2414016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23774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Bối cảnh và bài toán hệ thống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60120" y="3072384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00200" y="30358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Phân tích và quyết định kiến trúc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60120" y="373075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00200" y="369417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Khung phân tích và kiểm chứng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960120" y="4389120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600200" y="435254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Các cơ chế cốt lõi của QRTable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60120" y="5047488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600200" y="50109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Bằng chứng, giới hạn và kết luận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1 · BỐI CẢNH VÀ BÀI TOÁN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Một ca phục vụ F&amp;B là chuỗi phối hợp giữa nhiều tác nhân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Khách, nhân viên phục vụ, bếp, thu ngân và quản lý cùng tác động lên một phiên bàn và các trạng thái liên quan.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03_business_context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004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Khách tại bàn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94183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Quét QR, xem thực đơn, thao tác giỏ món và theo dõi trạng thái đơn.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346786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26700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074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Nhân viên POS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365074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nhận đơn, xử lý yêu cầu phục vụ, hóa đơn và thanh toán.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677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2670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65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Bếp và quầy</a:t>
            </a:r>
            <a:endParaRPr lang="en-US" sz="1620" dirty="0"/>
          </a:p>
        </p:txBody>
      </p:sp>
      <p:sp>
        <p:nvSpPr>
          <p:cNvPr id="26" name="Text 20"/>
          <p:cNvSpPr/>
          <p:nvPr/>
        </p:nvSpPr>
        <p:spPr>
          <a:xfrm>
            <a:off x="635965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Nhận phiếu theo trạm, ưu tiên công việc và cập nhật trạng thái món.</a:t>
            </a:r>
            <a:endParaRPr lang="en-US" sz="1180" dirty="0"/>
          </a:p>
        </p:txBody>
      </p:sp>
      <p:sp>
        <p:nvSpPr>
          <p:cNvPr id="27" name="Shape 21"/>
          <p:cNvSpPr/>
          <p:nvPr/>
        </p:nvSpPr>
        <p:spPr>
          <a:xfrm>
            <a:off x="888568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267004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6856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Quản lý</a:t>
            </a:r>
            <a:endParaRPr lang="en-US" sz="1620" dirty="0"/>
          </a:p>
        </p:txBody>
      </p:sp>
      <p:sp>
        <p:nvSpPr>
          <p:cNvPr id="30" name="Text 23"/>
          <p:cNvSpPr/>
          <p:nvPr/>
        </p:nvSpPr>
        <p:spPr>
          <a:xfrm>
            <a:off x="906856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Quản trị thực đơn, nhân sự, báo cáo và cấu hình theo đơn vị thuê bao.</a:t>
            </a:r>
            <a:endParaRPr lang="en-US" sz="1180" dirty="0"/>
          </a:p>
        </p:txBody>
      </p:sp>
      <p:sp>
        <p:nvSpPr>
          <p:cNvPr id="31" name="Text 24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Mã QR chỉ là điểm bắt đầu; bài toán chính là duy trì một luồng vận hành thống nhất qua nhiều vai trò và hệ thống con.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1 · BỐI CẢNH VÀ BÀI TOÁN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Từ mã QR đến thanh toán: một luồng, nhiều trạng thái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Luồng nghiệp vụ này là trục demo sau phần trình bày và cũng là trục kiểm chứng tích hợp của đề tài.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04_golden_flow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505456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7004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37206" y="270662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63824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 và phiên bàn</a:t>
            </a:r>
            <a:endParaRPr lang="en-US" sz="1480" dirty="0"/>
          </a:p>
        </p:txBody>
      </p:sp>
      <p:sp>
        <p:nvSpPr>
          <p:cNvPr id="19" name="Text 15"/>
          <p:cNvSpPr/>
          <p:nvPr/>
        </p:nvSpPr>
        <p:spPr>
          <a:xfrm>
            <a:off x="923544" y="3666744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định đúng đơn vị thuê bao, bàn và phiên phục vụ.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2794406" y="374904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922422" y="2505456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014" y="267004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00677" y="270662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087014" y="3163824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Giỏ và gửi đơn</a:t>
            </a:r>
            <a:endParaRPr lang="en-US" sz="1480" dirty="0"/>
          </a:p>
        </p:txBody>
      </p:sp>
      <p:sp>
        <p:nvSpPr>
          <p:cNvPr id="25" name="Text 20"/>
          <p:cNvSpPr/>
          <p:nvPr/>
        </p:nvSpPr>
        <p:spPr>
          <a:xfrm>
            <a:off x="3087014" y="3666744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Giỏ dùng chung có phiên bản; gửi đơn có tính lũy đẳng.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4957877" y="374904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085893" y="2505456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485" y="26700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64147" y="270662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250485" y="3163824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nhận đơn</a:t>
            </a:r>
            <a:endParaRPr lang="en-US" sz="1480" dirty="0"/>
          </a:p>
        </p:txBody>
      </p:sp>
      <p:sp>
        <p:nvSpPr>
          <p:cNvPr id="31" name="Text 25"/>
          <p:cNvSpPr/>
          <p:nvPr/>
        </p:nvSpPr>
        <p:spPr>
          <a:xfrm>
            <a:off x="5250485" y="3666744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Nhân viên xác nhận; Catalog xử lý tồn kho.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7121347" y="374904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249363" y="2505456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2670048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827618" y="270662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7413955" y="3163824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</a:t>
            </a:r>
            <a:endParaRPr lang="en-US" sz="1480" dirty="0"/>
          </a:p>
        </p:txBody>
      </p:sp>
      <p:sp>
        <p:nvSpPr>
          <p:cNvPr id="37" name="Text 30"/>
          <p:cNvSpPr/>
          <p:nvPr/>
        </p:nvSpPr>
        <p:spPr>
          <a:xfrm>
            <a:off x="7413955" y="3666744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 dựng phiếu bếp từ sự kiện xác nhận đơn.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9284818" y="374904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412834" y="2505456"/>
            <a:ext cx="2017166" cy="2487168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26" y="267004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91088" y="270662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9577426" y="3163824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Thanh toán</a:t>
            </a:r>
            <a:endParaRPr lang="en-US" sz="1480" dirty="0"/>
          </a:p>
        </p:txBody>
      </p:sp>
      <p:sp>
        <p:nvSpPr>
          <p:cNvPr id="43" name="Text 35"/>
          <p:cNvSpPr/>
          <p:nvPr/>
        </p:nvSpPr>
        <p:spPr>
          <a:xfrm>
            <a:off x="9577426" y="3666744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Bill và payment khép phiên; bàn chuyển sang dọn dẹp.</a:t>
            </a:r>
            <a:endParaRPr lang="en-US" sz="1080" dirty="0"/>
          </a:p>
        </p:txBody>
      </p:sp>
      <p:sp>
        <p:nvSpPr>
          <p:cNvPr id="44" name="Text 36"/>
          <p:cNvSpPr/>
          <p:nvPr/>
        </p:nvSpPr>
        <p:spPr>
          <a:xfrm>
            <a:off x="96012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Demo riêng 5-7 phút: QR → Cart → Order → KDS → Payment.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1 · BỐI CẢNH VÀ BÀI TOÁN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Bài toán hệ thống đặt ra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Bài toán nằm ở việc phối hợp dữ liệu, trạng thái và quyền truy cập trong toàn bộ quy trình phục vụ.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05_problem_statement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004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Cô lập đơn vị thuê bao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94183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nhà hàng có dữ liệu, cấu hình và phạm vi truy cập riêng. Mọi yêu cầu phải duy trì đúng ngữ cảnh đơn vị thuê bao.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346786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26700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074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Phối hợp trạng thái vận hành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365074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Đơn hàng thay đổi qua Customer, POS và KDS. Client nhận tín hiệu cập nhật nhưng vẫn tải lại trạng thái từ nguồn dữ liệu đúng.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677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2670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65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Nhất quán giữa các dịch vụ</a:t>
            </a:r>
            <a:endParaRPr lang="en-US" sz="1620" dirty="0"/>
          </a:p>
        </p:txBody>
      </p:sp>
      <p:sp>
        <p:nvSpPr>
          <p:cNvPr id="26" name="Text 20"/>
          <p:cNvSpPr/>
          <p:nvPr/>
        </p:nvSpPr>
        <p:spPr>
          <a:xfrm>
            <a:off x="635965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Order, tồn kho và thanh toán thuộc các ranh giới khác nhau. Lỗi một phần không được để lại trạng thái nghiệp vụ sai.</a:t>
            </a:r>
            <a:endParaRPr lang="en-US" sz="1180" dirty="0"/>
          </a:p>
        </p:txBody>
      </p:sp>
      <p:sp>
        <p:nvSpPr>
          <p:cNvPr id="27" name="Shape 21"/>
          <p:cNvSpPr/>
          <p:nvPr/>
        </p:nvSpPr>
        <p:spPr>
          <a:xfrm>
            <a:off x="888568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267004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6856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soát truy cập nhiều lớp</a:t>
            </a:r>
            <a:endParaRPr lang="en-US" sz="1620" dirty="0"/>
          </a:p>
        </p:txBody>
      </p:sp>
      <p:sp>
        <p:nvSpPr>
          <p:cNvPr id="30" name="Text 23"/>
          <p:cNvSpPr/>
          <p:nvPr/>
        </p:nvSpPr>
        <p:spPr>
          <a:xfrm>
            <a:off x="906856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Nhân viên, chủ quán, quản trị nền tảng và khách qua QR sử dụng các cơ chế xác thực và giới hạn phạm vi khác nhau.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1 · BỐI CẢNH VÀ BÀI TOÁN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Mục tiêu và phạm vi của đề tài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Đề tài tập trung vào lõi vận hành của nền tảng SaaS POS và các cơ chế cần thiết để hiện thực luồng QR ordering theo kiến trúc vi dịch vụ.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06_objective_scope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95728"/>
            <a:ext cx="5230368" cy="3611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395728"/>
            <a:ext cx="5230368" cy="3611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61518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5389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Phạm vi chính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87552" y="3200400"/>
            <a:ext cx="47091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 session, giỏ dùng chung, gửi và xác nhận đơn.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 projection và cập nhật gần thời gian thực.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Thanh toán tiền mặt, VietQR/SePay và hoàn tất hóa đơn.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RBAC, cô lập đơn vị thuê bao, quyền lợi theo gói.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Confirm Saga và bằng chứng kiểm thử tương ứng.</a:t>
            </a:r>
            <a:endParaRPr lang="en-US" sz="122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6151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9457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Giới hạn kết luận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28232" y="3200400"/>
            <a:ext cx="47091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khẳng định hệ thống đã sẵn sàng vận hành thực tế toàn diện.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Chưa có phép đo hiệu năng để kết luận khả năng chịu tải lớn.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khẳng định cơ chế phân phối đúng một lần (exactly-once).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có tiêm lỗi toàn ngăn xếp cho mọi nhánh Saga.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suy rộng một luồng đại diện thành bằng chứng cho mọi nhánh lỗi.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1 · BỐI CẢNH VÀ BÀI TOÁN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Các tác nhân truy cập hệ thống theo hai mô hình khác nhau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Nhân viên và quản trị viên dùng định danh Keycloak cùng RBAC; khách tại bàn dùng mã QR và ngữ cảnh phiên phục vụ.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07_actors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44318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004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Khách tại bàn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941832" y="3721608"/>
            <a:ext cx="217855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 token + customer session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Menu, cart, submit và theo dõi đơn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3467862" y="2487168"/>
            <a:ext cx="2544318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26700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074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Nhân viên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3650742" y="3721608"/>
            <a:ext cx="217855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JWT + RBAC + tenant context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POS, xác nhận đơn và thanh toán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6772" y="2487168"/>
            <a:ext cx="2544318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2670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65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Bếp / quầy</a:t>
            </a:r>
            <a:endParaRPr lang="en-US" sz="1620" dirty="0"/>
          </a:p>
        </p:txBody>
      </p:sp>
      <p:sp>
        <p:nvSpPr>
          <p:cNvPr id="26" name="Text 20"/>
          <p:cNvSpPr/>
          <p:nvPr/>
        </p:nvSpPr>
        <p:spPr>
          <a:xfrm>
            <a:off x="6359652" y="3721608"/>
            <a:ext cx="217855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JWT + station access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 queue và trạng thái món</a:t>
            </a:r>
            <a:endParaRPr lang="en-US" sz="1180" dirty="0"/>
          </a:p>
        </p:txBody>
      </p:sp>
      <p:sp>
        <p:nvSpPr>
          <p:cNvPr id="27" name="Shape 21"/>
          <p:cNvSpPr/>
          <p:nvPr/>
        </p:nvSpPr>
        <p:spPr>
          <a:xfrm>
            <a:off x="8885682" y="2487168"/>
            <a:ext cx="2544318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267004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6856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Owner / Manager</a:t>
            </a:r>
            <a:endParaRPr lang="en-US" sz="1620" dirty="0"/>
          </a:p>
        </p:txBody>
      </p:sp>
      <p:sp>
        <p:nvSpPr>
          <p:cNvPr id="30" name="Text 23"/>
          <p:cNvSpPr/>
          <p:nvPr/>
        </p:nvSpPr>
        <p:spPr>
          <a:xfrm>
            <a:off x="9068562" y="3721608"/>
            <a:ext cx="217855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JWT + RBAC + entitlement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Thực đơn, nhân sự, báo cáo, cấu hình</a:t>
            </a:r>
            <a:endParaRPr lang="en-US" sz="1180" dirty="0"/>
          </a:p>
        </p:txBody>
      </p:sp>
      <p:sp>
        <p:nvSpPr>
          <p:cNvPr id="31" name="Shape 24"/>
          <p:cNvSpPr/>
          <p:nvPr/>
        </p:nvSpPr>
        <p:spPr>
          <a:xfrm>
            <a:off x="3419856" y="5102352"/>
            <a:ext cx="2468880" cy="7772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528523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02736" y="57972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602736" y="6336792"/>
            <a:ext cx="2103120" cy="-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Quyền quản trị nền tảng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309360" y="5102352"/>
            <a:ext cx="2468880" cy="7772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28523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92240" y="579729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SePay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92240" y="6336792"/>
            <a:ext cx="2103120" cy="-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webhook/OAuth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1 · BỐI CẢNH VÀ BÀI TOÁN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Đóng góp của đề tài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Đóng góp nằm ở việc mô hình hóa, thiết kế, hiện thực và kiểm chứng một lõi SaaS POS tích hợp QR ordering có ranh giới kỹ thuật rõ ràng.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08_contributions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004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Mô hình SaaS POS F&amp;B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94183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Kết nối QR ordering, POS, KDS, payment và quản trị nhiều đơn vị thuê bao.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346786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26700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074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 dịch vụ có ranh giới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365074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Service boundary, data ownership và hợp đồng giao tiếp được xác định theo domain.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677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2670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65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Cơ chế phân tán</a:t>
            </a:r>
            <a:endParaRPr lang="en-US" sz="1620" dirty="0"/>
          </a:p>
        </p:txBody>
      </p:sp>
      <p:sp>
        <p:nvSpPr>
          <p:cNvPr id="26" name="Text 20"/>
          <p:cNvSpPr/>
          <p:nvPr/>
        </p:nvSpPr>
        <p:spPr>
          <a:xfrm>
            <a:off x="635965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Tính lũy đẳng, loại trùng, outbox, Saga và bản chiếu KDS theo phạm vi đã hiện thực.</a:t>
            </a:r>
            <a:endParaRPr lang="en-US" sz="1180" dirty="0"/>
          </a:p>
        </p:txBody>
      </p:sp>
      <p:sp>
        <p:nvSpPr>
          <p:cNvPr id="27" name="Shape 21"/>
          <p:cNvSpPr/>
          <p:nvPr/>
        </p:nvSpPr>
        <p:spPr>
          <a:xfrm>
            <a:off x="888568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267004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6856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Bằng chứng truy vết</a:t>
            </a:r>
            <a:endParaRPr lang="en-US" sz="1620" dirty="0"/>
          </a:p>
        </p:txBody>
      </p:sp>
      <p:sp>
        <p:nvSpPr>
          <p:cNvPr id="30" name="Text 23"/>
          <p:cNvSpPr/>
          <p:nvPr/>
        </p:nvSpPr>
        <p:spPr>
          <a:xfrm>
            <a:off x="906856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thử, trạng thái dữ liệu, log/trace và ma trận yêu cầu được dùng để kiểm soát kết luận.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2 · PHÂN TÍCH VÀ THIẾT KẾ KIẾN TRÚC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Các động lực kiến trúc của QRTable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Bốn yêu cầu xuyên suốt chi phối cách phân rã dịch vụ, lựa chọn kênh giao tiếp và tổ chức các lớp kiểm soát.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09_architecture_drivers</a:t>
            </a:r>
            <a:endParaRPr lang="en-US" sz="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432304"/>
            <a:ext cx="621792" cy="6217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" y="33192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Đa đơn vị thuê bao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58952" y="3968496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Dữ liệu, phiên, bộ nhớ đệm và quyền truy cập luôn gắn với đúng đơn vị thuê bao.</a:t>
            </a:r>
            <a:endParaRPr lang="en-US" sz="11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432304"/>
            <a:ext cx="621792" cy="6217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47872" y="33192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Gần thời gian thực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3547872" y="3968496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POS, KDS và client khách cần nhận thay đổi nhanh; WebSocket chỉ là tín hiệu cập nhật.</a:t>
            </a:r>
            <a:endParaRPr lang="en-US" sz="118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432304"/>
            <a:ext cx="621792" cy="6217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6792" y="33192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Nhất quán phân tán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336792" y="3968496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dịch vụ sở hữu dữ liệu riêng; retry, duplicate và lỗi từng phần phải được kiểm soát.</a:t>
            </a:r>
            <a:endParaRPr lang="en-US" sz="118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432304"/>
            <a:ext cx="621792" cy="6217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25712" y="33192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Phân quyền nhiều lớp</a:t>
            </a:r>
            <a:endParaRPr lang="en-US" sz="1750" dirty="0"/>
          </a:p>
        </p:txBody>
      </p:sp>
      <p:sp>
        <p:nvSpPr>
          <p:cNvPr id="26" name="Text 19"/>
          <p:cNvSpPr/>
          <p:nvPr/>
        </p:nvSpPr>
        <p:spPr>
          <a:xfrm>
            <a:off x="9125712" y="3968496"/>
            <a:ext cx="22128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RBAC, tenant isolation, entitlement và quyền nền tảng là các lớp kiểm soát riêng biệt.</a:t>
            </a:r>
            <a:endParaRPr lang="en-US" sz="1180" dirty="0"/>
          </a:p>
        </p:txBody>
      </p:sp>
      <p:sp>
        <p:nvSpPr>
          <p:cNvPr id="27" name="Text 20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Các động lực này dẫn tới một kiến trúc có ranh giới dịch vụ rõ, giao tiếp có chọn lọc và bằng chứng kiểm chứng theo từng cơ chế.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2 · PHÂN TÍCH VÀ THIẾT KẾ KIẾN TRÚC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Cơ sở lựa chọn kiến trúc vi dịch vụ cho QRTable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Lựa chọn này phù hợp với ranh giới nghiệp vụ của hệ thống, nhưng chỉ có ý nghĩa khi các chi phí phân tán được xử lý có chủ đích.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10_microservices_decision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77440"/>
            <a:ext cx="5230368" cy="164592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56032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99032" y="26060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CƠ SỞ LỰA CHỌN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941832" y="3035808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nghiệp vụ có thể phân tách</a:t>
            </a:r>
            <a:endParaRPr lang="en-US" sz="1620" dirty="0"/>
          </a:p>
        </p:txBody>
      </p:sp>
      <p:sp>
        <p:nvSpPr>
          <p:cNvPr id="19" name="Text 15"/>
          <p:cNvSpPr/>
          <p:nvPr/>
        </p:nvSpPr>
        <p:spPr>
          <a:xfrm>
            <a:off x="941832" y="3493008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Catalog, Order, Kitchen, Payment và User-Access có trách nhiệm và vòng đời dữ liệu khác nhau.</a:t>
            </a:r>
            <a:endParaRPr lang="en-US" sz="1140" dirty="0"/>
          </a:p>
        </p:txBody>
      </p:sp>
      <p:sp>
        <p:nvSpPr>
          <p:cNvPr id="20" name="Shape 16"/>
          <p:cNvSpPr/>
          <p:nvPr/>
        </p:nvSpPr>
        <p:spPr>
          <a:xfrm>
            <a:off x="6199632" y="2377440"/>
            <a:ext cx="5230368" cy="164592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56032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39712" y="260604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CƠ SỞ LỰA CHỌN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6382512" y="3035808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Quyền sở hữu dữ liệu được xác định rõ</a:t>
            </a:r>
            <a:endParaRPr lang="en-US" sz="1620" dirty="0"/>
          </a:p>
        </p:txBody>
      </p:sp>
      <p:sp>
        <p:nvSpPr>
          <p:cNvPr id="24" name="Text 19"/>
          <p:cNvSpPr/>
          <p:nvPr/>
        </p:nvSpPr>
        <p:spPr>
          <a:xfrm>
            <a:off x="6382512" y="3493008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dịch vụ quản lý dữ liệu của mình; dịch vụ khác tương tác qua hợp đồng thay vì truy cập CSDL chéo.</a:t>
            </a:r>
            <a:endParaRPr lang="en-US" sz="1140" dirty="0"/>
          </a:p>
        </p:txBody>
      </p:sp>
      <p:sp>
        <p:nvSpPr>
          <p:cNvPr id="25" name="Shape 20"/>
          <p:cNvSpPr/>
          <p:nvPr/>
        </p:nvSpPr>
        <p:spPr>
          <a:xfrm>
            <a:off x="758952" y="4242816"/>
            <a:ext cx="5230368" cy="164592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42569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99032" y="4471416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CHI PHÍ PHÁT SINH</a:t>
            </a:r>
            <a:endParaRPr lang="en-US" sz="820" dirty="0"/>
          </a:p>
        </p:txBody>
      </p:sp>
      <p:sp>
        <p:nvSpPr>
          <p:cNvPr id="28" name="Text 22"/>
          <p:cNvSpPr/>
          <p:nvPr/>
        </p:nvSpPr>
        <p:spPr>
          <a:xfrm>
            <a:off x="941832" y="4901184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Giao tiếp và nhất quán trở nên phức tạp hơn</a:t>
            </a:r>
            <a:endParaRPr lang="en-US" sz="1620" dirty="0"/>
          </a:p>
        </p:txBody>
      </p:sp>
      <p:sp>
        <p:nvSpPr>
          <p:cNvPr id="29" name="Text 23"/>
          <p:cNvSpPr/>
          <p:nvPr/>
        </p:nvSpPr>
        <p:spPr>
          <a:xfrm>
            <a:off x="941832" y="5358384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Hệ thống phải lựa chọn giữa lời gọi đồng bộ, sự kiện bất đồng bộ, tính lũy đẳng, loại trùng và bù trừ.</a:t>
            </a:r>
            <a:endParaRPr lang="en-US" sz="1140" dirty="0"/>
          </a:p>
        </p:txBody>
      </p:sp>
      <p:sp>
        <p:nvSpPr>
          <p:cNvPr id="30" name="Shape 24"/>
          <p:cNvSpPr/>
          <p:nvPr/>
        </p:nvSpPr>
        <p:spPr>
          <a:xfrm>
            <a:off x="6199632" y="4242816"/>
            <a:ext cx="5230368" cy="164592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42569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39712" y="4471416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CHI PHÍ PHÁT SINH</a:t>
            </a:r>
            <a:endParaRPr lang="en-US" sz="820" dirty="0"/>
          </a:p>
        </p:txBody>
      </p:sp>
      <p:sp>
        <p:nvSpPr>
          <p:cNvPr id="33" name="Text 26"/>
          <p:cNvSpPr/>
          <p:nvPr/>
        </p:nvSpPr>
        <p:spPr>
          <a:xfrm>
            <a:off x="6382512" y="4901184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và vận hành cần nhiều lớp bằng chứng</a:t>
            </a:r>
            <a:endParaRPr lang="en-US" sz="1620" dirty="0"/>
          </a:p>
        </p:txBody>
      </p:sp>
      <p:sp>
        <p:nvSpPr>
          <p:cNvPr id="34" name="Text 27"/>
          <p:cNvSpPr/>
          <p:nvPr/>
        </p:nvSpPr>
        <p:spPr>
          <a:xfrm>
            <a:off x="6382512" y="5358384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Một giao diện hoạt động chưa đủ chứng minh ranh giới dịch vụ, nhánh lỗi, trạng thái dữ liệu và hành vi khi phát lại.</a:t>
            </a:r>
            <a:endParaRPr lang="en-US" sz="1140" dirty="0"/>
          </a:p>
        </p:txBody>
      </p:sp>
      <p:sp>
        <p:nvSpPr>
          <p:cNvPr id="35" name="Text 28"/>
          <p:cNvSpPr/>
          <p:nvPr/>
        </p:nvSpPr>
        <p:spPr>
          <a:xfrm>
            <a:off x="960120" y="61081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QRTable xem vi dịch vụ là quyết định thiết kế gắn với ranh giới nghiệp vụ và cơ chế kiểm soát lỗi phân tán, không phải mục tiêu tự thân.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2 · PHÂN TÍCH VÀ THIẾT KẾ KIẾN TRÚC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 dịch vụ làm phát sinh một tập thách thức cần giải quyết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Phần còn lại của deck lần lượt trả lời cách QRTable xử lý các vấn đề do chính ranh giới phân tán tạo ra.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11_microservices_challenges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40864"/>
            <a:ext cx="3456432" cy="135331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523744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03580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Giao tiếp liên dịch vụ</a:t>
            </a:r>
            <a:endParaRPr lang="en-US" sz="1420" dirty="0"/>
          </a:p>
        </p:txBody>
      </p:sp>
      <p:sp>
        <p:nvSpPr>
          <p:cNvPr id="18" name="Text 14"/>
          <p:cNvSpPr/>
          <p:nvPr/>
        </p:nvSpPr>
        <p:spPr>
          <a:xfrm>
            <a:off x="941832" y="3575304"/>
            <a:ext cx="309067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Chọn đúng kênh đồng bộ hoặc bất đồng bộ.</a:t>
            </a:r>
            <a:endParaRPr lang="en-US" sz="1040" dirty="0"/>
          </a:p>
        </p:txBody>
      </p:sp>
      <p:sp>
        <p:nvSpPr>
          <p:cNvPr id="19" name="Shape 15"/>
          <p:cNvSpPr/>
          <p:nvPr/>
        </p:nvSpPr>
        <p:spPr>
          <a:xfrm>
            <a:off x="4434840" y="2340864"/>
            <a:ext cx="3456432" cy="135331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2374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17720" y="303580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thực và ngữ cảnh</a:t>
            </a:r>
            <a:endParaRPr lang="en-US" sz="1420" dirty="0"/>
          </a:p>
        </p:txBody>
      </p:sp>
      <p:sp>
        <p:nvSpPr>
          <p:cNvPr id="22" name="Text 17"/>
          <p:cNvSpPr/>
          <p:nvPr/>
        </p:nvSpPr>
        <p:spPr>
          <a:xfrm>
            <a:off x="4617720" y="3575304"/>
            <a:ext cx="309067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định chủ thể, tenant và phiên tin cậy.</a:t>
            </a:r>
            <a:endParaRPr lang="en-US" sz="1040" dirty="0"/>
          </a:p>
        </p:txBody>
      </p:sp>
      <p:sp>
        <p:nvSpPr>
          <p:cNvPr id="23" name="Shape 18"/>
          <p:cNvSpPr/>
          <p:nvPr/>
        </p:nvSpPr>
        <p:spPr>
          <a:xfrm>
            <a:off x="8110728" y="2340864"/>
            <a:ext cx="3456432" cy="135331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52374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93608" y="303580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Phân quyền nhiều lớp</a:t>
            </a:r>
            <a:endParaRPr lang="en-US" sz="1420" dirty="0"/>
          </a:p>
        </p:txBody>
      </p:sp>
      <p:sp>
        <p:nvSpPr>
          <p:cNvPr id="26" name="Text 20"/>
          <p:cNvSpPr/>
          <p:nvPr/>
        </p:nvSpPr>
        <p:spPr>
          <a:xfrm>
            <a:off x="8293608" y="3575304"/>
            <a:ext cx="309067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RBAC, tenant isolation và entitlement.</a:t>
            </a:r>
            <a:endParaRPr lang="en-US" sz="1040" dirty="0"/>
          </a:p>
        </p:txBody>
      </p:sp>
      <p:sp>
        <p:nvSpPr>
          <p:cNvPr id="27" name="Shape 21"/>
          <p:cNvSpPr/>
          <p:nvPr/>
        </p:nvSpPr>
        <p:spPr>
          <a:xfrm>
            <a:off x="758952" y="3959352"/>
            <a:ext cx="3456432" cy="135331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4223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1832" y="4654296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Nhất quán dữ liệu</a:t>
            </a:r>
            <a:endParaRPr lang="en-US" sz="1420" dirty="0"/>
          </a:p>
        </p:txBody>
      </p:sp>
      <p:sp>
        <p:nvSpPr>
          <p:cNvPr id="30" name="Text 23"/>
          <p:cNvSpPr/>
          <p:nvPr/>
        </p:nvSpPr>
        <p:spPr>
          <a:xfrm>
            <a:off x="941832" y="5193792"/>
            <a:ext cx="309067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Retry, duplicate và nguồn dữ liệu đúng.</a:t>
            </a:r>
            <a:endParaRPr lang="en-US" sz="1040" dirty="0"/>
          </a:p>
        </p:txBody>
      </p:sp>
      <p:sp>
        <p:nvSpPr>
          <p:cNvPr id="31" name="Shape 24"/>
          <p:cNvSpPr/>
          <p:nvPr/>
        </p:nvSpPr>
        <p:spPr>
          <a:xfrm>
            <a:off x="4434840" y="3959352"/>
            <a:ext cx="3456432" cy="135331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14223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617720" y="4654296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Giao dịch phân tán</a:t>
            </a:r>
            <a:endParaRPr lang="en-US" sz="1420" dirty="0"/>
          </a:p>
        </p:txBody>
      </p:sp>
      <p:sp>
        <p:nvSpPr>
          <p:cNvPr id="34" name="Text 26"/>
          <p:cNvSpPr/>
          <p:nvPr/>
        </p:nvSpPr>
        <p:spPr>
          <a:xfrm>
            <a:off x="4617720" y="5193792"/>
            <a:ext cx="309067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Saga, điểm commit và hành động bù trừ.</a:t>
            </a:r>
            <a:endParaRPr lang="en-US" sz="1040" dirty="0"/>
          </a:p>
        </p:txBody>
      </p:sp>
      <p:sp>
        <p:nvSpPr>
          <p:cNvPr id="35" name="Shape 27"/>
          <p:cNvSpPr/>
          <p:nvPr/>
        </p:nvSpPr>
        <p:spPr>
          <a:xfrm>
            <a:off x="8110728" y="3959352"/>
            <a:ext cx="3456432" cy="135331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414223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93608" y="4654296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Bản chiếu realtime</a:t>
            </a:r>
            <a:endParaRPr lang="en-US" sz="1420" dirty="0"/>
          </a:p>
        </p:txBody>
      </p:sp>
      <p:sp>
        <p:nvSpPr>
          <p:cNvPr id="38" name="Text 29"/>
          <p:cNvSpPr/>
          <p:nvPr/>
        </p:nvSpPr>
        <p:spPr>
          <a:xfrm>
            <a:off x="8293608" y="5193792"/>
            <a:ext cx="309067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 projection và WebSocket hint/refetch.</a:t>
            </a:r>
            <a:endParaRPr lang="en-US" sz="10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2 · PHÂN TÍCH VÀ THIẾT KẾ KIẾN TRÚC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Kiến trúc tổng thể phân bổ trách nhiệm theo ranh giới dịch vụ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BFF bảo vệ biên hệ thống; các dịch vụ nghiệp vụ sở hữu dữ liệu riêng và chỉ tương tác qua hợp đồng hoặc sự kiện.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12_overall_architecture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31720"/>
            <a:ext cx="7818120" cy="3611880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4" y="2990088"/>
            <a:ext cx="768096" cy="7680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3959352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Kiến trúc tổng thể QRTable theo ranh giới dịch vụ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53312" y="454456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Vị trí dành cho sơ đồ tổng thể: client đi qua BFF, các dịch vụ nội bộ và cách TCP, gRPC, Kafka, Redis cùng các CSDL được sử dụng.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1216152" y="5193792"/>
            <a:ext cx="2191512" cy="310896"/>
          </a:xfrm>
          <a:prstGeom prst="rect">
            <a:avLst/>
          </a:prstGeom>
          <a:solidFill>
            <a:srgbClr val="22D3EE">
              <a:alpha val="12000"/>
            </a:srgbClr>
          </a:solidFill>
          <a:ln w="889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61872" y="5276088"/>
            <a:ext cx="2100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Client edge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572256" y="5193792"/>
            <a:ext cx="2191512" cy="310896"/>
          </a:xfrm>
          <a:prstGeom prst="rect">
            <a:avLst/>
          </a:prstGeom>
          <a:solidFill>
            <a:srgbClr val="34D399">
              <a:alpha val="12000"/>
            </a:srgbClr>
          </a:solidFill>
          <a:ln w="889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17976" y="5276088"/>
            <a:ext cx="2100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Ranh giới dịch vụ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5928360" y="5193792"/>
            <a:ext cx="2191512" cy="310896"/>
          </a:xfrm>
          <a:prstGeom prst="rect">
            <a:avLst/>
          </a:prstGeom>
          <a:solidFill>
            <a:srgbClr val="FBBF24">
              <a:alpha val="12000"/>
            </a:srgbClr>
          </a:solidFill>
          <a:ln w="889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74080" y="5276088"/>
            <a:ext cx="2100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Event / state</a:t>
            </a:r>
            <a:endParaRPr lang="en-US" sz="730" dirty="0"/>
          </a:p>
        </p:txBody>
      </p:sp>
      <p:sp>
        <p:nvSpPr>
          <p:cNvPr id="25" name="Text 21">
            <a:hlinkClick r:id="rId4" tooltip="docs/graduation-thesis-resources/thesis-report/assets/diagrams/chapter4-overall-architecture.mmd"/>
          </p:cNvPr>
          <p:cNvSpPr/>
          <p:nvPr/>
        </p:nvSpPr>
        <p:spPr>
          <a:xfrm>
            <a:off x="1078992" y="5687568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docs/graduation-thesis-resources/thesis-report/assets/diagrams/chapter4-overall-architecture.m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887968" y="23957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 nguyên tắc chính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8887968" y="292608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BFF là cửa ngõ HTTP/WebSocket, không chứa nghiệp vụ lõi.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dịch vụ sở hữu dữ liệu và quy tắc xử lý của domain.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Giao tiếp đồng bộ và bất đồng bộ được chọn theo loại tương tác.</a:t>
            </a:r>
            <a:endParaRPr lang="en-US" sz="11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2 · PHÂN TÍCH VÀ THIẾT KẾ KIẾN TRÚC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dịch vụ đi cùng quyền sở hữu dữ liệu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Một dịch vụ sở hữu dữ liệu và hành vi của domain; dịch vụ khác chỉ tương tác qua hợp đồng, không truy cập cơ sở dữ liệu chéo.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13_service_ownership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59152"/>
            <a:ext cx="5669280" cy="3547872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3017520"/>
            <a:ext cx="768096" cy="7680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39867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dịch vụ và quyền sở hữu dữ liệu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53312" y="45720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Ownership map cuối cần gắn mỗi nhóm dữ liệu với đúng dịch vụ sở hữu và thể hiện Kitchen là Redis projection.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1216152" y="5157216"/>
            <a:ext cx="2295144" cy="310896"/>
          </a:xfrm>
          <a:prstGeom prst="rect">
            <a:avLst/>
          </a:prstGeom>
          <a:solidFill>
            <a:srgbClr val="22D3EE">
              <a:alpha val="12000"/>
            </a:srgbClr>
          </a:solidFill>
          <a:ln w="889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61872" y="5239512"/>
            <a:ext cx="2203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Database per service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675888" y="5157216"/>
            <a:ext cx="2295144" cy="310896"/>
          </a:xfrm>
          <a:prstGeom prst="rect">
            <a:avLst/>
          </a:prstGeom>
          <a:solidFill>
            <a:srgbClr val="34D399">
              <a:alpha val="12000"/>
            </a:srgbClr>
          </a:solidFill>
          <a:ln w="889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21608" y="5239512"/>
            <a:ext cx="2203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Contract only</a:t>
            </a:r>
            <a:endParaRPr lang="en-US" sz="730" dirty="0"/>
          </a:p>
        </p:txBody>
      </p:sp>
      <p:sp>
        <p:nvSpPr>
          <p:cNvPr id="23" name="Text 19">
            <a:hlinkClick r:id="rId4" tooltip="docs/graduation-thesis-resources/thesis-report/chapters/04-thiet-ke-va-kien-truc-he-thong.tex"/>
          </p:cNvPr>
          <p:cNvSpPr/>
          <p:nvPr/>
        </p:nvSpPr>
        <p:spPr>
          <a:xfrm>
            <a:off x="1078992" y="56509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docs/graduation-thesis-resources/thesis-report/chapters/04-thiet-ke-va-kien-truc-he-thong.te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6711696" y="2267712"/>
            <a:ext cx="1627001" cy="493776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93992" y="2359152"/>
            <a:ext cx="1462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Dịch vụ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8338697" y="2267712"/>
            <a:ext cx="3091303" cy="493776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20993" y="2359152"/>
            <a:ext cx="2926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Dữ liệu sở hữu</a:t>
            </a:r>
            <a:endParaRPr lang="en-US" sz="870" dirty="0"/>
          </a:p>
        </p:txBody>
      </p:sp>
      <p:sp>
        <p:nvSpPr>
          <p:cNvPr id="28" name="Shape 24"/>
          <p:cNvSpPr/>
          <p:nvPr/>
        </p:nvSpPr>
        <p:spPr>
          <a:xfrm>
            <a:off x="6711696" y="2761488"/>
            <a:ext cx="1627001" cy="49377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93992" y="2852928"/>
            <a:ext cx="1462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Catalog</a:t>
            </a:r>
            <a:endParaRPr lang="en-US" sz="940" dirty="0"/>
          </a:p>
        </p:txBody>
      </p:sp>
      <p:sp>
        <p:nvSpPr>
          <p:cNvPr id="30" name="Shape 26"/>
          <p:cNvSpPr/>
          <p:nvPr/>
        </p:nvSpPr>
        <p:spPr>
          <a:xfrm>
            <a:off x="8338697" y="2761488"/>
            <a:ext cx="3091303" cy="49377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20993" y="2852928"/>
            <a:ext cx="2926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Menu, table, QR, stock</a:t>
            </a:r>
            <a:endParaRPr lang="en-US" sz="940" dirty="0"/>
          </a:p>
        </p:txBody>
      </p:sp>
      <p:sp>
        <p:nvSpPr>
          <p:cNvPr id="32" name="Shape 28"/>
          <p:cNvSpPr/>
          <p:nvPr/>
        </p:nvSpPr>
        <p:spPr>
          <a:xfrm>
            <a:off x="6711696" y="3255264"/>
            <a:ext cx="1627001" cy="49377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793992" y="3346704"/>
            <a:ext cx="1462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</a:t>
            </a:r>
            <a:endParaRPr lang="en-US" sz="940" dirty="0"/>
          </a:p>
        </p:txBody>
      </p:sp>
      <p:sp>
        <p:nvSpPr>
          <p:cNvPr id="34" name="Shape 30"/>
          <p:cNvSpPr/>
          <p:nvPr/>
        </p:nvSpPr>
        <p:spPr>
          <a:xfrm>
            <a:off x="8338697" y="3255264"/>
            <a:ext cx="3091303" cy="49377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420993" y="3346704"/>
            <a:ext cx="2926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Session, cart, order, bill</a:t>
            </a:r>
            <a:endParaRPr lang="en-US" sz="940" dirty="0"/>
          </a:p>
        </p:txBody>
      </p:sp>
      <p:sp>
        <p:nvSpPr>
          <p:cNvPr id="36" name="Shape 32"/>
          <p:cNvSpPr/>
          <p:nvPr/>
        </p:nvSpPr>
        <p:spPr>
          <a:xfrm>
            <a:off x="6711696" y="3749040"/>
            <a:ext cx="1627001" cy="49377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793992" y="3840480"/>
            <a:ext cx="1462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</a:t>
            </a:r>
            <a:endParaRPr lang="en-US" sz="940" dirty="0"/>
          </a:p>
        </p:txBody>
      </p:sp>
      <p:sp>
        <p:nvSpPr>
          <p:cNvPr id="38" name="Shape 34"/>
          <p:cNvSpPr/>
          <p:nvPr/>
        </p:nvSpPr>
        <p:spPr>
          <a:xfrm>
            <a:off x="8338697" y="3749040"/>
            <a:ext cx="3091303" cy="49377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420993" y="3840480"/>
            <a:ext cx="2926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 Redis projection</a:t>
            </a:r>
            <a:endParaRPr lang="en-US" sz="940" dirty="0"/>
          </a:p>
        </p:txBody>
      </p:sp>
      <p:sp>
        <p:nvSpPr>
          <p:cNvPr id="40" name="Shape 36"/>
          <p:cNvSpPr/>
          <p:nvPr/>
        </p:nvSpPr>
        <p:spPr>
          <a:xfrm>
            <a:off x="6711696" y="4242816"/>
            <a:ext cx="1627001" cy="49377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793992" y="4334256"/>
            <a:ext cx="1462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</a:t>
            </a:r>
            <a:endParaRPr lang="en-US" sz="940" dirty="0"/>
          </a:p>
        </p:txBody>
      </p:sp>
      <p:sp>
        <p:nvSpPr>
          <p:cNvPr id="42" name="Shape 38"/>
          <p:cNvSpPr/>
          <p:nvPr/>
        </p:nvSpPr>
        <p:spPr>
          <a:xfrm>
            <a:off x="8338697" y="4242816"/>
            <a:ext cx="3091303" cy="49377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420993" y="4334256"/>
            <a:ext cx="2926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Transaction, settings</a:t>
            </a:r>
            <a:endParaRPr lang="en-US" sz="940" dirty="0"/>
          </a:p>
        </p:txBody>
      </p:sp>
      <p:sp>
        <p:nvSpPr>
          <p:cNvPr id="44" name="Shape 40"/>
          <p:cNvSpPr/>
          <p:nvPr/>
        </p:nvSpPr>
        <p:spPr>
          <a:xfrm>
            <a:off x="6711696" y="4736592"/>
            <a:ext cx="1627001" cy="49377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793992" y="4828032"/>
            <a:ext cx="1462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SaaS</a:t>
            </a:r>
            <a:endParaRPr lang="en-US" sz="940" dirty="0"/>
          </a:p>
        </p:txBody>
      </p:sp>
      <p:sp>
        <p:nvSpPr>
          <p:cNvPr id="46" name="Shape 42"/>
          <p:cNvSpPr/>
          <p:nvPr/>
        </p:nvSpPr>
        <p:spPr>
          <a:xfrm>
            <a:off x="8338697" y="4736592"/>
            <a:ext cx="3091303" cy="49377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420993" y="4828032"/>
            <a:ext cx="2926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Tenant, plan, subscription</a:t>
            </a:r>
            <a:endParaRPr lang="en-US" sz="940" dirty="0"/>
          </a:p>
        </p:txBody>
      </p:sp>
      <p:sp>
        <p:nvSpPr>
          <p:cNvPr id="48" name="Shape 44"/>
          <p:cNvSpPr/>
          <p:nvPr/>
        </p:nvSpPr>
        <p:spPr>
          <a:xfrm>
            <a:off x="6711696" y="5230368"/>
            <a:ext cx="1627001" cy="49377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793992" y="5321808"/>
            <a:ext cx="1462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User-Access</a:t>
            </a:r>
            <a:endParaRPr lang="en-US" sz="940" dirty="0"/>
          </a:p>
        </p:txBody>
      </p:sp>
      <p:sp>
        <p:nvSpPr>
          <p:cNvPr id="50" name="Shape 46"/>
          <p:cNvSpPr/>
          <p:nvPr/>
        </p:nvSpPr>
        <p:spPr>
          <a:xfrm>
            <a:off x="8338697" y="5230368"/>
            <a:ext cx="3091303" cy="49377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420993" y="5321808"/>
            <a:ext cx="2926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Profile, role, staff</a:t>
            </a:r>
            <a:endParaRPr lang="en-US" sz="9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3 · KHUNG PHÂN TÍCH VÀ KIỂM CHỨNG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Khung phân tích các quyết định thiết kế của QRTable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cơ chế được trình bày theo cùng một chuỗi lập luận để nối vấn đề kiến trúc với cách hiện thực và mức bằng chứng.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14_design_framework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514600"/>
            <a:ext cx="2017166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7919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37206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72968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Thách thức</a:t>
            </a:r>
            <a:endParaRPr lang="en-US" sz="1480" dirty="0"/>
          </a:p>
        </p:txBody>
      </p:sp>
      <p:sp>
        <p:nvSpPr>
          <p:cNvPr id="19" name="Text 15"/>
          <p:cNvSpPr/>
          <p:nvPr/>
        </p:nvSpPr>
        <p:spPr>
          <a:xfrm>
            <a:off x="923544" y="3675888"/>
            <a:ext cx="168798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Vấn đề phân tán hoặc vận hành cần giải quyết.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2794406" y="372618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922422" y="2514600"/>
            <a:ext cx="2017166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014" y="267919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00677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087014" y="3172968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Bất biến</a:t>
            </a:r>
            <a:endParaRPr lang="en-US" sz="1480" dirty="0"/>
          </a:p>
        </p:txBody>
      </p:sp>
      <p:sp>
        <p:nvSpPr>
          <p:cNvPr id="25" name="Text 20"/>
          <p:cNvSpPr/>
          <p:nvPr/>
        </p:nvSpPr>
        <p:spPr>
          <a:xfrm>
            <a:off x="3087014" y="3675888"/>
            <a:ext cx="168798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Điều hệ thống không được phép vi phạm.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4957877" y="372618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085893" y="2514600"/>
            <a:ext cx="2017166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485" y="267919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64147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250485" y="3172968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Quyết định</a:t>
            </a:r>
            <a:endParaRPr lang="en-US" sz="1480" dirty="0"/>
          </a:p>
        </p:txBody>
      </p:sp>
      <p:sp>
        <p:nvSpPr>
          <p:cNvPr id="31" name="Text 25"/>
          <p:cNvSpPr/>
          <p:nvPr/>
        </p:nvSpPr>
        <p:spPr>
          <a:xfrm>
            <a:off x="5250485" y="3675888"/>
            <a:ext cx="168798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Cơ chế hoặc mẫu thiết kế được lựa chọn.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7121347" y="372618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249363" y="2514600"/>
            <a:ext cx="2017166" cy="24231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2679192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827618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7413955" y="3172968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Hiện thực</a:t>
            </a:r>
            <a:endParaRPr lang="en-US" sz="1480" dirty="0"/>
          </a:p>
        </p:txBody>
      </p:sp>
      <p:sp>
        <p:nvSpPr>
          <p:cNvPr id="37" name="Text 30"/>
          <p:cNvSpPr/>
          <p:nvPr/>
        </p:nvSpPr>
        <p:spPr>
          <a:xfrm>
            <a:off x="7413955" y="3675888"/>
            <a:ext cx="168798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Service, guard, event, database hoặc Redis liên quan.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9284818" y="3726180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412834" y="2514600"/>
            <a:ext cx="2017166" cy="2423160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26" y="2679192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91088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9577426" y="3172968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Bằng chứng</a:t>
            </a:r>
            <a:endParaRPr lang="en-US" sz="1480" dirty="0"/>
          </a:p>
        </p:txBody>
      </p:sp>
      <p:sp>
        <p:nvSpPr>
          <p:cNvPr id="43" name="Text 35"/>
          <p:cNvSpPr/>
          <p:nvPr/>
        </p:nvSpPr>
        <p:spPr>
          <a:xfrm>
            <a:off x="9577426" y="3675888"/>
            <a:ext cx="168798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UI, state, log, test và traceability hỗ trợ kết luận.</a:t>
            </a:r>
            <a:endParaRPr lang="en-US" sz="1080" dirty="0"/>
          </a:p>
        </p:txBody>
      </p:sp>
      <p:sp>
        <p:nvSpPr>
          <p:cNvPr id="44" name="Text 36"/>
          <p:cNvSpPr/>
          <p:nvPr/>
        </p:nvSpPr>
        <p:spPr>
          <a:xfrm>
            <a:off x="960120" y="5532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Ví dụ: giao dịch phân tán → không giữ đơn đã xác nhận khi tồn kho hoặc commit lỗi → Saga và bù trừ → Order/Catalog → kiểm thử và trạng thái dữ liệu.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3 · KHUNG PHÂN TÍCH VÀ KIỂM CHỨNG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Phương pháp kiểm chứng kết hợp nhiều lớp bằng chứng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một loại hiện vật đơn lẻ có thể chứng minh đầy đủ hành vi người dùng, trạng thái dữ liệu và cơ chế phân tán.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15_evidence_model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004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UI demo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94183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Chứng minh luồng mà người dùng quan sát được và sự phối hợp giữa các client.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346786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26700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074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Database / Redis state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365074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Chứng minh dữ liệu thật đã chuyển trạng thái sau thao tác.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677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2670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65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Log / trace</a:t>
            </a:r>
            <a:endParaRPr lang="en-US" sz="1620" dirty="0"/>
          </a:p>
        </p:txBody>
      </p:sp>
      <p:sp>
        <p:nvSpPr>
          <p:cNvPr id="26" name="Text 20"/>
          <p:cNvSpPr/>
          <p:nvPr/>
        </p:nvSpPr>
        <p:spPr>
          <a:xfrm>
            <a:off x="635965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Chứng minh đường đi liên dịch vụ, correlation, event và nhánh lỗi.</a:t>
            </a:r>
            <a:endParaRPr lang="en-US" sz="1180" dirty="0"/>
          </a:p>
        </p:txBody>
      </p:sp>
      <p:sp>
        <p:nvSpPr>
          <p:cNvPr id="27" name="Shape 21"/>
          <p:cNvSpPr/>
          <p:nvPr/>
        </p:nvSpPr>
        <p:spPr>
          <a:xfrm>
            <a:off x="888568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267004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6856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và truy vết</a:t>
            </a:r>
            <a:endParaRPr lang="en-US" sz="1620" dirty="0"/>
          </a:p>
        </p:txBody>
      </p:sp>
      <p:sp>
        <p:nvSpPr>
          <p:cNvPr id="30" name="Text 23"/>
          <p:cNvSpPr/>
          <p:nvPr/>
        </p:nvSpPr>
        <p:spPr>
          <a:xfrm>
            <a:off x="906856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Chứng minh bất biến có thể kiểm tra lặp lại và nối yêu cầu với evidence.</a:t>
            </a:r>
            <a:endParaRPr lang="en-US" sz="1180" dirty="0"/>
          </a:p>
        </p:txBody>
      </p:sp>
      <p:sp>
        <p:nvSpPr>
          <p:cNvPr id="31" name="Text 24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kết luận chỉ được nâng mức khi có hiện vật đã thu và kiểm tra; sơ đồ minh họa không thay thế bằng chứng.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Giao tiếp liên dịch vụ được chọn theo tính chất tương tác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QRTable không đưa mọi tương tác qua Kafka và cũng không dùng lời gọi đồng bộ cho mọi tác dụng phụ.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16_sync_async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95728"/>
            <a:ext cx="5230368" cy="3611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395728"/>
            <a:ext cx="5230368" cy="3611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61518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5389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Giao tiếp đồng bộ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87552" y="3200400"/>
            <a:ext cx="47091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Phù hợp khi caller cần kết quả ngay để tiếp tục nghiệp vụ.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Lỗi được trả về trực tiếp để caller quyết định.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QRTable dùng TCP cho lời gọi nội bộ và gRPC cho Authorizer.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Đánh đổi: ghép nối theo thời gian và cần xử lý timeout/lỗi downstream.</a:t>
            </a:r>
            <a:endParaRPr lang="en-US" sz="122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6151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9457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Giao tiếp bất đồng bộ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28232" y="3200400"/>
            <a:ext cx="47091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Phù hợp với tác dụng phụ sau commit và các bản chiếu dữ liệu.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Producer và consumer không phải hoàn tất cùng thời điểm.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QRTable dùng Kafka cho một số domain event có owner rõ.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Đánh đổi: cần loại trùng, retry và kiểm soát tính nhất quán cuối cùng.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Mô hình giao tiếp của QRTable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Client đi qua BFF; lời gọi nội bộ dùng contract đồng bộ; domain event chỉ được sử dụng cho các tác dụng phụ phù hợp.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17_communication_model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004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HTTP và WebSocket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94183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BFF là biên giao tiếp cho Customer PWA và Management App.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346786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26700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074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TCP nội bộ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365074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Command/query giữa các dịch vụ nghiệp vụ cần phản hồi trực tiếp.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677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2670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65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gRPC Authorizer</a:t>
            </a:r>
            <a:endParaRPr lang="en-US" sz="1620" dirty="0"/>
          </a:p>
        </p:txBody>
      </p:sp>
      <p:sp>
        <p:nvSpPr>
          <p:cNvPr id="26" name="Text 20"/>
          <p:cNvSpPr/>
          <p:nvPr/>
        </p:nvSpPr>
        <p:spPr>
          <a:xfrm>
            <a:off x="635965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BFF xác minh JWT và thiết lập ngữ cảnh người dùng tin cậy.</a:t>
            </a:r>
            <a:endParaRPr lang="en-US" sz="1180" dirty="0"/>
          </a:p>
        </p:txBody>
      </p:sp>
      <p:sp>
        <p:nvSpPr>
          <p:cNvPr id="27" name="Shape 21"/>
          <p:cNvSpPr/>
          <p:nvPr/>
        </p:nvSpPr>
        <p:spPr>
          <a:xfrm>
            <a:off x="888568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267004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6856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Kafka domain event</a:t>
            </a:r>
            <a:endParaRPr lang="en-US" sz="1620" dirty="0"/>
          </a:p>
        </p:txBody>
      </p:sp>
      <p:sp>
        <p:nvSpPr>
          <p:cNvPr id="30" name="Text 23"/>
          <p:cNvSpPr/>
          <p:nvPr/>
        </p:nvSpPr>
        <p:spPr>
          <a:xfrm>
            <a:off x="906856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Tác dụng phụ sau commit như KDS hoặc payment finalization.</a:t>
            </a:r>
            <a:endParaRPr lang="en-US" sz="1180" dirty="0"/>
          </a:p>
        </p:txBody>
      </p:sp>
      <p:sp>
        <p:nvSpPr>
          <p:cNvPr id="31" name="Shape 24"/>
          <p:cNvSpPr/>
          <p:nvPr/>
        </p:nvSpPr>
        <p:spPr>
          <a:xfrm>
            <a:off x="1965960" y="5138928"/>
            <a:ext cx="2669458" cy="20116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048256" y="5230368"/>
            <a:ext cx="250486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Topic canonical</a:t>
            </a:r>
            <a:endParaRPr lang="en-US" sz="640" dirty="0"/>
          </a:p>
        </p:txBody>
      </p:sp>
      <p:sp>
        <p:nvSpPr>
          <p:cNvPr id="33" name="Shape 26"/>
          <p:cNvSpPr/>
          <p:nvPr/>
        </p:nvSpPr>
        <p:spPr>
          <a:xfrm>
            <a:off x="4635418" y="5138928"/>
            <a:ext cx="5605862" cy="20116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717714" y="5230368"/>
            <a:ext cx="544127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Vai trò chính</a:t>
            </a:r>
            <a:endParaRPr lang="en-US" sz="640" dirty="0"/>
          </a:p>
        </p:txBody>
      </p:sp>
      <p:sp>
        <p:nvSpPr>
          <p:cNvPr id="35" name="Shape 28"/>
          <p:cNvSpPr/>
          <p:nvPr/>
        </p:nvSpPr>
        <p:spPr>
          <a:xfrm>
            <a:off x="1965960" y="5340096"/>
            <a:ext cx="2669458" cy="20116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048256" y="5431536"/>
            <a:ext cx="250486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order.confirmed</a:t>
            </a:r>
            <a:endParaRPr lang="en-US" sz="650" dirty="0"/>
          </a:p>
        </p:txBody>
      </p:sp>
      <p:sp>
        <p:nvSpPr>
          <p:cNvPr id="37" name="Shape 30"/>
          <p:cNvSpPr/>
          <p:nvPr/>
        </p:nvSpPr>
        <p:spPr>
          <a:xfrm>
            <a:off x="4635418" y="5340096"/>
            <a:ext cx="5605862" cy="20116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717714" y="5431536"/>
            <a:ext cx="544127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 tạo KDS projection</a:t>
            </a:r>
            <a:endParaRPr lang="en-US" sz="650" dirty="0"/>
          </a:p>
        </p:txBody>
      </p:sp>
      <p:sp>
        <p:nvSpPr>
          <p:cNvPr id="39" name="Shape 32"/>
          <p:cNvSpPr/>
          <p:nvPr/>
        </p:nvSpPr>
        <p:spPr>
          <a:xfrm>
            <a:off x="1965960" y="5541264"/>
            <a:ext cx="2669458" cy="20116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2048256" y="5632704"/>
            <a:ext cx="250486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order.status_changed</a:t>
            </a:r>
            <a:endParaRPr lang="en-US" sz="650" dirty="0"/>
          </a:p>
        </p:txBody>
      </p:sp>
      <p:sp>
        <p:nvSpPr>
          <p:cNvPr id="41" name="Shape 34"/>
          <p:cNvSpPr/>
          <p:nvPr/>
        </p:nvSpPr>
        <p:spPr>
          <a:xfrm>
            <a:off x="4635418" y="5541264"/>
            <a:ext cx="5605862" cy="20116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717714" y="5632704"/>
            <a:ext cx="544127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Lan truyền trạng thái đơn phù hợp</a:t>
            </a:r>
            <a:endParaRPr lang="en-US" sz="650" dirty="0"/>
          </a:p>
        </p:txBody>
      </p:sp>
      <p:sp>
        <p:nvSpPr>
          <p:cNvPr id="43" name="Shape 36"/>
          <p:cNvSpPr/>
          <p:nvPr/>
        </p:nvSpPr>
        <p:spPr>
          <a:xfrm>
            <a:off x="1965960" y="5742432"/>
            <a:ext cx="2669458" cy="20116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2048256" y="5833872"/>
            <a:ext cx="250486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payment.completed</a:t>
            </a:r>
            <a:endParaRPr lang="en-US" sz="650" dirty="0"/>
          </a:p>
        </p:txBody>
      </p:sp>
      <p:sp>
        <p:nvSpPr>
          <p:cNvPr id="45" name="Shape 38"/>
          <p:cNvSpPr/>
          <p:nvPr/>
        </p:nvSpPr>
        <p:spPr>
          <a:xfrm>
            <a:off x="4635418" y="5742432"/>
            <a:ext cx="5605862" cy="20116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717714" y="5833872"/>
            <a:ext cx="544127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hoàn tất bill và session</a:t>
            </a:r>
            <a:endParaRPr lang="en-US" sz="650" dirty="0"/>
          </a:p>
        </p:txBody>
      </p:sp>
      <p:sp>
        <p:nvSpPr>
          <p:cNvPr id="47" name="Shape 40"/>
          <p:cNvSpPr/>
          <p:nvPr/>
        </p:nvSpPr>
        <p:spPr>
          <a:xfrm>
            <a:off x="1965960" y="5943600"/>
            <a:ext cx="2669458" cy="20116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2048256" y="6035040"/>
            <a:ext cx="250486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kitchen.sla_warning</a:t>
            </a:r>
            <a:endParaRPr lang="en-US" sz="650" dirty="0"/>
          </a:p>
        </p:txBody>
      </p:sp>
      <p:sp>
        <p:nvSpPr>
          <p:cNvPr id="49" name="Shape 42"/>
          <p:cNvSpPr/>
          <p:nvPr/>
        </p:nvSpPr>
        <p:spPr>
          <a:xfrm>
            <a:off x="4635418" y="5943600"/>
            <a:ext cx="5605862" cy="20116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717714" y="6035040"/>
            <a:ext cx="544127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Cảnh báo SLA bếp</a:t>
            </a:r>
            <a:endParaRPr lang="en-US" sz="650" dirty="0"/>
          </a:p>
        </p:txBody>
      </p:sp>
      <p:sp>
        <p:nvSpPr>
          <p:cNvPr id="51" name="Shape 44"/>
          <p:cNvSpPr/>
          <p:nvPr/>
        </p:nvSpPr>
        <p:spPr>
          <a:xfrm>
            <a:off x="1965960" y="6144768"/>
            <a:ext cx="2669458" cy="20116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2048256" y="6236208"/>
            <a:ext cx="250486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tenant.created</a:t>
            </a:r>
            <a:endParaRPr lang="en-US" sz="650" dirty="0"/>
          </a:p>
        </p:txBody>
      </p:sp>
      <p:sp>
        <p:nvSpPr>
          <p:cNvPr id="53" name="Shape 46"/>
          <p:cNvSpPr/>
          <p:nvPr/>
        </p:nvSpPr>
        <p:spPr>
          <a:xfrm>
            <a:off x="4635418" y="6144768"/>
            <a:ext cx="5605862" cy="20116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717714" y="6236208"/>
            <a:ext cx="544127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Tác dụng phụ sau cấp phát tenant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thực tạo ra ngữ cảnh tin cậy cho các lớp kiểm soát phía sau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QRTable tách luồng định danh của nhân viên và quản trị viên khỏi luồng khách tại bàn sử dụng mã QR.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18_authentication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95728"/>
            <a:ext cx="5230368" cy="358444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395728"/>
            <a:ext cx="5230368" cy="358444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61518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5389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Nhân viên và quản trị viên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87552" y="320040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Keycloak JWT/OIDC là nguồn định danh.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BFF UserGuard gọi Authorizer qua gRPC.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Kết quả xác minh tạo user context cho tenant và permission.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Thông tin xác minh có thể được cache theo token hash.</a:t>
            </a:r>
            <a:endParaRPr lang="en-US" sz="122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6151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9457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Khách tại bàn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28232" y="320040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yêu cầu tài khoản Keycloak.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 token xác định đơn vị thuê bao và bàn.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Customer session trong Redis giới hạn hành vi theo phiên phục vụ.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Các API khách sử dụng guard và vòng đời session riêng.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Phân quyền nhiều lớp: RBAC không thay thế cô lập tenant và quyền lợi theo gói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lớp trả lời một câu hỏi kiểm soát khác nhau; gộp chúng thành một khái niệm authorization sẽ làm mất logic thiết kế.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19_authorization_layers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517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37206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UserGuard</a:t>
            </a:r>
            <a:endParaRPr lang="en-US" sz="1480" dirty="0"/>
          </a:p>
        </p:txBody>
      </p:sp>
      <p:sp>
        <p:nvSpPr>
          <p:cNvPr id="19" name="Text 15"/>
          <p:cNvSpPr/>
          <p:nvPr/>
        </p:nvSpPr>
        <p:spPr>
          <a:xfrm>
            <a:off x="923544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Chủ thể là ai và token có hợp lệ không?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2794406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922422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014" y="26517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00677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087014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TenantGuard</a:t>
            </a:r>
            <a:endParaRPr lang="en-US" sz="1480" dirty="0"/>
          </a:p>
        </p:txBody>
      </p:sp>
      <p:sp>
        <p:nvSpPr>
          <p:cNvPr id="25" name="Text 20"/>
          <p:cNvSpPr/>
          <p:nvPr/>
        </p:nvSpPr>
        <p:spPr>
          <a:xfrm>
            <a:off x="3087014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Yêu cầu thuộc đơn vị thuê bao nào?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4957877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085893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485" y="26517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64147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250485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PermissionGuard</a:t>
            </a:r>
            <a:endParaRPr lang="en-US" sz="1480" dirty="0"/>
          </a:p>
        </p:txBody>
      </p:sp>
      <p:sp>
        <p:nvSpPr>
          <p:cNvPr id="31" name="Text 25"/>
          <p:cNvSpPr/>
          <p:nvPr/>
        </p:nvSpPr>
        <p:spPr>
          <a:xfrm>
            <a:off x="5250485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Chủ thể có quyền thực hiện hành động?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7121347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249363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265176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82761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7413955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Subscription context</a:t>
            </a:r>
            <a:endParaRPr lang="en-US" sz="1480" dirty="0"/>
          </a:p>
        </p:txBody>
      </p:sp>
      <p:sp>
        <p:nvSpPr>
          <p:cNvPr id="37" name="Text 30"/>
          <p:cNvSpPr/>
          <p:nvPr/>
        </p:nvSpPr>
        <p:spPr>
          <a:xfrm>
            <a:off x="7413955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Đơn vị thuê bao có trạng thái gói phù hợp?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9284818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412834" y="2487168"/>
            <a:ext cx="2017166" cy="2487168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26" y="265176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9108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9577426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PlanFeatureGuard</a:t>
            </a:r>
            <a:endParaRPr lang="en-US" sz="1480" dirty="0"/>
          </a:p>
        </p:txBody>
      </p:sp>
      <p:sp>
        <p:nvSpPr>
          <p:cNvPr id="43" name="Text 35"/>
          <p:cNvSpPr/>
          <p:nvPr/>
        </p:nvSpPr>
        <p:spPr>
          <a:xfrm>
            <a:off x="9577426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Gói hiện tại có tính năng được yêu cầu?</a:t>
            </a:r>
            <a:endParaRPr lang="en-US" sz="1080" dirty="0"/>
          </a:p>
        </p:txBody>
      </p:sp>
      <p:sp>
        <p:nvSpPr>
          <p:cNvPr id="44" name="Text 36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Super Admin là ngoại lệ có kiểm soát; customer session đi theo guard riêng, không đi qua role seed.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Cô lập đơn vị thuê bao được duy trì xuyên suốt request và trạng thái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Bất biến cần bảo vệ: yêu cầu của đơn vị thuê bao A không được đọc hoặc ghi dữ liệu của đơn vị thuê bao B.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20_tenant_isolation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514600"/>
            <a:ext cx="2558034" cy="254203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7919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78074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72968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Thiết lập context</a:t>
            </a:r>
            <a:endParaRPr lang="en-US" sz="1480" dirty="0"/>
          </a:p>
        </p:txBody>
      </p:sp>
      <p:sp>
        <p:nvSpPr>
          <p:cNvPr id="19" name="Text 15"/>
          <p:cNvSpPr/>
          <p:nvPr/>
        </p:nvSpPr>
        <p:spPr>
          <a:xfrm>
            <a:off x="923544" y="3675888"/>
            <a:ext cx="22288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JWT, route hoặc QR/session cung cấp tenantId tin cậy.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3335274" y="3785616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463290" y="2514600"/>
            <a:ext cx="2558034" cy="254203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882" y="267919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82412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627882" y="3172968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tra mismatch</a:t>
            </a:r>
            <a:endParaRPr lang="en-US" sz="1480" dirty="0"/>
          </a:p>
        </p:txBody>
      </p:sp>
      <p:sp>
        <p:nvSpPr>
          <p:cNvPr id="25" name="Text 20"/>
          <p:cNvSpPr/>
          <p:nvPr/>
        </p:nvSpPr>
        <p:spPr>
          <a:xfrm>
            <a:off x="3627882" y="3675888"/>
            <a:ext cx="22288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TenantGuard từ chối yêu cầu có tenant context không phù hợp.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6039612" y="3785616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167628" y="2514600"/>
            <a:ext cx="2558034" cy="254203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67919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86750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332220" y="3172968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Giới hạn dữ liệu</a:t>
            </a:r>
            <a:endParaRPr lang="en-US" sz="1480" dirty="0"/>
          </a:p>
        </p:txBody>
      </p:sp>
      <p:sp>
        <p:nvSpPr>
          <p:cNvPr id="31" name="Text 25"/>
          <p:cNvSpPr/>
          <p:nvPr/>
        </p:nvSpPr>
        <p:spPr>
          <a:xfrm>
            <a:off x="6332220" y="3675888"/>
            <a:ext cx="22288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Repository/query sử dụng tenant scope trong dịch vụ sở hữu.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8743950" y="3785616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8871966" y="2514600"/>
            <a:ext cx="2558034" cy="2542032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558" y="2679192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91088" y="27157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9036558" y="3172968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Lan truyền có chủ đích</a:t>
            </a:r>
            <a:endParaRPr lang="en-US" sz="1480" dirty="0"/>
          </a:p>
        </p:txBody>
      </p:sp>
      <p:sp>
        <p:nvSpPr>
          <p:cNvPr id="37" name="Text 30"/>
          <p:cNvSpPr/>
          <p:nvPr/>
        </p:nvSpPr>
        <p:spPr>
          <a:xfrm>
            <a:off x="9036558" y="3675888"/>
            <a:ext cx="22288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Redis key, event payload và WebSocket room mang tenantId.</a:t>
            </a:r>
            <a:endParaRPr lang="en-US" sz="1080" dirty="0"/>
          </a:p>
        </p:txBody>
      </p:sp>
      <p:sp>
        <p:nvSpPr>
          <p:cNvPr id="38" name="Text 31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Cô lập tenant không chỉ là cột tenant_id; đó là chuỗi kiểm soát từ biên API đến nơi lưu trữ và kênh sự kiện.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Nhất quán và tính lũy đẳng xử lý retry trong hệ thống phân tán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Một yêu cầu, webhook hoặc sự kiện được phát lại không được tạo thêm order, payment hoặc KDS ticket ngoài ý muốn.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21_consistency_principles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95728"/>
            <a:ext cx="5230368" cy="358444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395728"/>
            <a:ext cx="5230368" cy="358444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61518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5389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Trong một dịch vụ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87552" y="320040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Dùng transaction cục bộ, lock và kiểm tra trạng thái.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Nguồn dữ liệu đúng nằm trong CSDL của dịch vụ sở hữu.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Ví dụ: Order khóa order/bill khi xác nhận.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Ví dụ: Payment kiểm tra trạng thái và giao dịch trùng.</a:t>
            </a:r>
            <a:endParaRPr lang="en-US" sz="122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6151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94576" y="26243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Giữa nhiều dịch vụ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28232" y="320040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có một transaction ACID duy nhất cho toàn hệ thống.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Cần idempotency key, dedupe key, outbox/event và bù trừ.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Các consumer phải chấp nhận khả năng nhận lại thông điệp.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QRTable không khẳng định exactly-once messaging.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Cơ chế nhất quán trong QRTable được lựa chọn theo từng luồng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luồng có owner, điểm ghi nhận và cơ chế chống lặp riêng; không có một giải pháp duy nhất cho mọi loại trạng thái.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22_consistency_mechanisms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267712"/>
            <a:ext cx="2371344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359152"/>
            <a:ext cx="2206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Luồng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3130296" y="2267712"/>
            <a:ext cx="3880381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2592" y="2359152"/>
            <a:ext cx="37157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Cơ chế chính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7010677" y="2267712"/>
            <a:ext cx="4419323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92973" y="2359152"/>
            <a:ext cx="42547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Mục tiêu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58952" y="2880360"/>
            <a:ext cx="2371344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2971800"/>
            <a:ext cx="2206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Giỏ và gửi đơn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3130296" y="2880360"/>
            <a:ext cx="3880381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12592" y="2971800"/>
            <a:ext cx="37157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cartVersion + idempotency key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7010677" y="2880360"/>
            <a:ext cx="4419323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92973" y="2971800"/>
            <a:ext cx="42547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Tránh ghi đè thay đổi mới và tạo đơn lặp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758952" y="3493008"/>
            <a:ext cx="2371344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3584448"/>
            <a:ext cx="2206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nhận đơn / tồn kho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3130296" y="3493008"/>
            <a:ext cx="3880381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12592" y="3584448"/>
            <a:ext cx="37157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lock + Catalog TCP + outbox + bù trừ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7010677" y="3493008"/>
            <a:ext cx="4419323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92973" y="3584448"/>
            <a:ext cx="42547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xác nhận đơn khi tồn kho hoặc commit thất bại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758952" y="4105656"/>
            <a:ext cx="2371344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1248" y="4197096"/>
            <a:ext cx="2206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 projection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3130296" y="4105656"/>
            <a:ext cx="3880381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12592" y="4197096"/>
            <a:ext cx="37157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Redis dedupe theo eventId và order/station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7010677" y="4105656"/>
            <a:ext cx="4419323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92973" y="4197096"/>
            <a:ext cx="42547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tạo nhiều ticket từ sự kiện phát lại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758952" y="4718304"/>
            <a:ext cx="2371344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4809744"/>
            <a:ext cx="2206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 finalization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3130296" y="4718304"/>
            <a:ext cx="3880381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12592" y="4809744"/>
            <a:ext cx="37157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payment.completed + markPaid lũy đẳng</a:t>
            </a:r>
            <a:endParaRPr lang="en-US" sz="920" dirty="0"/>
          </a:p>
        </p:txBody>
      </p:sp>
      <p:sp>
        <p:nvSpPr>
          <p:cNvPr id="43" name="Shape 40"/>
          <p:cNvSpPr/>
          <p:nvPr/>
        </p:nvSpPr>
        <p:spPr>
          <a:xfrm>
            <a:off x="7010677" y="4718304"/>
            <a:ext cx="4419323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92973" y="4809744"/>
            <a:ext cx="42547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hoàn tất hóa đơn và phiên nhiều lần</a:t>
            </a:r>
            <a:endParaRPr lang="en-US" sz="920" dirty="0"/>
          </a:p>
        </p:txBody>
      </p:sp>
      <p:sp>
        <p:nvSpPr>
          <p:cNvPr id="45" name="Shape 42"/>
          <p:cNvSpPr/>
          <p:nvPr/>
        </p:nvSpPr>
        <p:spPr>
          <a:xfrm>
            <a:off x="758952" y="5330952"/>
            <a:ext cx="2371344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1248" y="5422392"/>
            <a:ext cx="2206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 / RBAC</a:t>
            </a:r>
            <a:endParaRPr lang="en-US" sz="920" dirty="0"/>
          </a:p>
        </p:txBody>
      </p:sp>
      <p:sp>
        <p:nvSpPr>
          <p:cNvPr id="47" name="Shape 44"/>
          <p:cNvSpPr/>
          <p:nvPr/>
        </p:nvSpPr>
        <p:spPr>
          <a:xfrm>
            <a:off x="3130296" y="5330952"/>
            <a:ext cx="3880381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12592" y="5422392"/>
            <a:ext cx="37157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Guard chain + tenant-scoped API</a:t>
            </a:r>
            <a:endParaRPr lang="en-US" sz="920" dirty="0"/>
          </a:p>
        </p:txBody>
      </p:sp>
      <p:sp>
        <p:nvSpPr>
          <p:cNvPr id="49" name="Shape 46"/>
          <p:cNvSpPr/>
          <p:nvPr/>
        </p:nvSpPr>
        <p:spPr>
          <a:xfrm>
            <a:off x="7010677" y="5330952"/>
            <a:ext cx="4419323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92973" y="5422392"/>
            <a:ext cx="42547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truy cập sai phạm vi hoặc bỏ qua permission</a:t>
            </a:r>
            <a:endParaRPr lang="en-US" sz="920" dirty="0"/>
          </a:p>
        </p:txBody>
      </p:sp>
      <p:sp>
        <p:nvSpPr>
          <p:cNvPr id="51" name="Text 48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Outbox và sự kiện chỉ được trình bày trong phạm vi có dấu vết code/test; không suy rộng thành nền tảng exactly-once.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Saga phối hợp giao dịch phân tán bằng chuỗi transaction cục bộ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Khi mỗi dịch vụ sở hữu một cơ sở dữ liệu riêng, lỗi sau một tác dụng phụ cần được xử lý bằng điều phối và hành động bù trừ.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23_saga_principle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004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Transaction cục bộ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94183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Mỗi dịch vụ chỉ cập nhật dữ liệu thuộc quyền sở hữu của mình.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346786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26700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074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Điều phối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365074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Một dịch vụ xác định thứ tự gọi, điều kiện chuyển bước và điểm commit nghiệp vụ.</a:t>
            </a:r>
            <a:endParaRPr lang="en-US" sz="1180" dirty="0"/>
          </a:p>
        </p:txBody>
      </p:sp>
      <p:sp>
        <p:nvSpPr>
          <p:cNvPr id="23" name="Shape 18"/>
          <p:cNvSpPr/>
          <p:nvPr/>
        </p:nvSpPr>
        <p:spPr>
          <a:xfrm>
            <a:off x="617677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2670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65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Bù trừ</a:t>
            </a:r>
            <a:endParaRPr lang="en-US" sz="1620" dirty="0"/>
          </a:p>
        </p:txBody>
      </p:sp>
      <p:sp>
        <p:nvSpPr>
          <p:cNvPr id="26" name="Text 20"/>
          <p:cNvSpPr/>
          <p:nvPr/>
        </p:nvSpPr>
        <p:spPr>
          <a:xfrm>
            <a:off x="635965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Nếu tác dụng phụ đã xảy ra nhưng bước sau thất bại, hệ thống gọi hành động hoàn tác nghiệp vụ.</a:t>
            </a:r>
            <a:endParaRPr lang="en-US" sz="1180" dirty="0"/>
          </a:p>
        </p:txBody>
      </p:sp>
      <p:sp>
        <p:nvSpPr>
          <p:cNvPr id="27" name="Shape 21"/>
          <p:cNvSpPr/>
          <p:nvPr/>
        </p:nvSpPr>
        <p:spPr>
          <a:xfrm>
            <a:off x="8885682" y="2487168"/>
            <a:ext cx="2544318" cy="3090672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562" y="267004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68562" y="3182112"/>
            <a:ext cx="21785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Biên idempotency</a:t>
            </a:r>
            <a:endParaRPr lang="en-US" sz="1620" dirty="0"/>
          </a:p>
        </p:txBody>
      </p:sp>
      <p:sp>
        <p:nvSpPr>
          <p:cNvPr id="30" name="Text 23"/>
          <p:cNvSpPr/>
          <p:nvPr/>
        </p:nvSpPr>
        <p:spPr>
          <a:xfrm>
            <a:off x="9068562" y="3721608"/>
            <a:ext cx="21785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Retry và replay sử dụng khóa ổn định để không nhân đôi tác dụng phụ.</a:t>
            </a:r>
            <a:endParaRPr lang="en-US" sz="1180" dirty="0"/>
          </a:p>
        </p:txBody>
      </p:sp>
      <p:sp>
        <p:nvSpPr>
          <p:cNvPr id="31" name="Text 24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Deck chỉ đào sâu một trường hợp đại diện: Order Confirm Saga.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Confirm Saga: xác nhận đơn hàng và bảo toàn tồn kho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Luồng này phối hợp Order và Catalog mà không sử dụng một transaction cơ sở dữ liệu chung.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24_order_confirm_saga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31720"/>
            <a:ext cx="7086600" cy="3611880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204" y="2990088"/>
            <a:ext cx="768096" cy="7680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3959352"/>
            <a:ext cx="6080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Confirm Saga và nhánh bù trừ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53312" y="4544568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Vị trí dành cho sơ đồ thể hiện luồng thành công, lỗi sau khi Catalog đã trừ tồn kho, hành động bù trừ và biên lũy đẳng.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1216152" y="5193792"/>
            <a:ext cx="1419606" cy="310896"/>
          </a:xfrm>
          <a:prstGeom prst="rect">
            <a:avLst/>
          </a:prstGeom>
          <a:solidFill>
            <a:srgbClr val="34D399">
              <a:alpha val="12000"/>
            </a:srgbClr>
          </a:solidFill>
          <a:ln w="889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61872" y="5276088"/>
            <a:ext cx="13281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Luồng thành công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2800350" y="5193792"/>
            <a:ext cx="1419606" cy="310896"/>
          </a:xfrm>
          <a:prstGeom prst="rect">
            <a:avLst/>
          </a:prstGeom>
          <a:solidFill>
            <a:srgbClr val="FB7185">
              <a:alpha val="12000"/>
            </a:srgbClr>
          </a:solidFill>
          <a:ln w="889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846070" y="5276088"/>
            <a:ext cx="13281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Nhánh lỗi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384548" y="5193792"/>
            <a:ext cx="1419606" cy="310896"/>
          </a:xfrm>
          <a:prstGeom prst="rect">
            <a:avLst/>
          </a:prstGeom>
          <a:solidFill>
            <a:srgbClr val="FBBF24">
              <a:alpha val="12000"/>
            </a:srgbClr>
          </a:solidFill>
          <a:ln w="889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30268" y="5276088"/>
            <a:ext cx="13281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Bù trừ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5968746" y="5193792"/>
            <a:ext cx="1419606" cy="310896"/>
          </a:xfrm>
          <a:prstGeom prst="rect">
            <a:avLst/>
          </a:prstGeom>
          <a:solidFill>
            <a:srgbClr val="22D3EE">
              <a:alpha val="12000"/>
            </a:srgbClr>
          </a:solidFill>
          <a:ln w="889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14466" y="5276088"/>
            <a:ext cx="13281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Biên idempotency</a:t>
            </a:r>
            <a:endParaRPr lang="en-US" sz="730" dirty="0"/>
          </a:p>
        </p:txBody>
      </p:sp>
      <p:sp>
        <p:nvSpPr>
          <p:cNvPr id="27" name="Text 23">
            <a:hlinkClick r:id="rId4" tooltip="docs/graduation-thesis-resources/thesis-report/assets/diagrams/chapter5-order-confirm-stock.mmd"/>
          </p:cNvPr>
          <p:cNvSpPr/>
          <p:nvPr/>
        </p:nvSpPr>
        <p:spPr>
          <a:xfrm>
            <a:off x="1078992" y="5687568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docs/graduation-thesis-resources/thesis-report/assets/diagrams/chapter5-order-confirm-stock.m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Hình 5.2 trong báo cáo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8183880" y="23957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Bất biến cần bảo vệ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8183880" y="277063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Catalog là dịch vụ duy nhất cập nhật tồn kho; Order chỉ chuyển sang PROCESSING sau khi tồn kho được xử lý thành công; xác nhận lặp không được trừ tồn kho hai lần.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8183880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Điểm ghi nhận nghiệp vụ</a:t>
            </a:r>
            <a:endParaRPr lang="en-US" sz="1550" dirty="0"/>
          </a:p>
        </p:txBody>
      </p:sp>
      <p:sp>
        <p:nvSpPr>
          <p:cNvPr id="31" name="Text 27"/>
          <p:cNvSpPr/>
          <p:nvPr/>
        </p:nvSpPr>
        <p:spPr>
          <a:xfrm>
            <a:off x="8183880" y="432511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ghi PROCESSING cùng outbox order.confirmed. Nếu bước này thất bại sau khi Catalog đã trừ tồn kho, Order gọi Catalog hoàn tồn kho.</a:t>
            </a:r>
            <a:endParaRPr lang="en-US" sz="11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Nhánh lỗi, bù trừ và mức bằng chứng của Order Confirm Saga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Bằng chứng mạnh nhất hiện nằm ở kiểm thử đơn vị và hợp đồng; kiểm thử tích hợp xác minh một phần ranh giới Order–Catalog.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25_saga_evidence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212848"/>
            <a:ext cx="2855292" cy="530352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304288"/>
            <a:ext cx="2690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Điểm kiểm chứng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3614244" y="2212848"/>
            <a:ext cx="5033057" cy="530352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96540" y="2304288"/>
            <a:ext cx="48684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Bằng chứng hiện có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8647300" y="2212848"/>
            <a:ext cx="2782700" cy="530352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29596" y="2304288"/>
            <a:ext cx="2618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Mức kết luận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58952" y="2743200"/>
            <a:ext cx="2855292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2834640"/>
            <a:ext cx="2690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Luồng thành công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3614244" y="2743200"/>
            <a:ext cx="5033057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96540" y="2834640"/>
            <a:ext cx="48684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Trừ tồn kho, chuyển PROCESSING và ghi outbox order.confirmed</a:t>
            </a:r>
            <a:endParaRPr lang="en-US" sz="890" dirty="0"/>
          </a:p>
        </p:txBody>
      </p:sp>
      <p:sp>
        <p:nvSpPr>
          <p:cNvPr id="25" name="Shape 22"/>
          <p:cNvSpPr/>
          <p:nvPr/>
        </p:nvSpPr>
        <p:spPr>
          <a:xfrm>
            <a:off x="8647300" y="2743200"/>
            <a:ext cx="2782700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29596" y="2834640"/>
            <a:ext cx="2618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tự động</a:t>
            </a:r>
            <a:endParaRPr lang="en-US" sz="890" dirty="0"/>
          </a:p>
        </p:txBody>
      </p:sp>
      <p:sp>
        <p:nvSpPr>
          <p:cNvPr id="27" name="Shape 24"/>
          <p:cNvSpPr/>
          <p:nvPr/>
        </p:nvSpPr>
        <p:spPr>
          <a:xfrm>
            <a:off x="758952" y="3273552"/>
            <a:ext cx="2855292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3364992"/>
            <a:ext cx="2690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Phát lại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3614244" y="3273552"/>
            <a:ext cx="5033057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96540" y="3364992"/>
            <a:ext cx="48684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Đơn PROCESSING không trừ tồn kho hoặc ghi outbox lần hai</a:t>
            </a:r>
            <a:endParaRPr lang="en-US" sz="890" dirty="0"/>
          </a:p>
        </p:txBody>
      </p:sp>
      <p:sp>
        <p:nvSpPr>
          <p:cNvPr id="31" name="Shape 28"/>
          <p:cNvSpPr/>
          <p:nvPr/>
        </p:nvSpPr>
        <p:spPr>
          <a:xfrm>
            <a:off x="8647300" y="3273552"/>
            <a:ext cx="2782700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29596" y="3364992"/>
            <a:ext cx="2618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tự động</a:t>
            </a:r>
            <a:endParaRPr lang="en-US" sz="890" dirty="0"/>
          </a:p>
        </p:txBody>
      </p:sp>
      <p:sp>
        <p:nvSpPr>
          <p:cNvPr id="33" name="Shape 30"/>
          <p:cNvSpPr/>
          <p:nvPr/>
        </p:nvSpPr>
        <p:spPr>
          <a:xfrm>
            <a:off x="758952" y="3803904"/>
            <a:ext cx="2855292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1248" y="3895344"/>
            <a:ext cx="2690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Lỗi nghiệp vụ Catalog</a:t>
            </a:r>
            <a:endParaRPr lang="en-US" sz="890" dirty="0"/>
          </a:p>
        </p:txBody>
      </p:sp>
      <p:sp>
        <p:nvSpPr>
          <p:cNvPr id="35" name="Shape 32"/>
          <p:cNvSpPr/>
          <p:nvPr/>
        </p:nvSpPr>
        <p:spPr>
          <a:xfrm>
            <a:off x="3614244" y="3803904"/>
            <a:ext cx="5033057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96540" y="3895344"/>
            <a:ext cx="48684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không commit khi tồn kho không đủ</a:t>
            </a:r>
            <a:endParaRPr lang="en-US" sz="890" dirty="0"/>
          </a:p>
        </p:txBody>
      </p:sp>
      <p:sp>
        <p:nvSpPr>
          <p:cNvPr id="37" name="Shape 34"/>
          <p:cNvSpPr/>
          <p:nvPr/>
        </p:nvSpPr>
        <p:spPr>
          <a:xfrm>
            <a:off x="8647300" y="3803904"/>
            <a:ext cx="2782700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29596" y="3895344"/>
            <a:ext cx="2618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tự động + TCP error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758952" y="4334256"/>
            <a:ext cx="2855292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4425696"/>
            <a:ext cx="2690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Bù trừ</a:t>
            </a:r>
            <a:endParaRPr lang="en-US" sz="890" dirty="0"/>
          </a:p>
        </p:txBody>
      </p:sp>
      <p:sp>
        <p:nvSpPr>
          <p:cNvPr id="41" name="Shape 38"/>
          <p:cNvSpPr/>
          <p:nvPr/>
        </p:nvSpPr>
        <p:spPr>
          <a:xfrm>
            <a:off x="3614244" y="4334256"/>
            <a:ext cx="5033057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96540" y="4425696"/>
            <a:ext cx="48684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Hoàn tồn kho sau lỗi phát sinh sau bước trừ; giữ lỗi gốc</a:t>
            </a:r>
            <a:endParaRPr lang="en-US" sz="890" dirty="0"/>
          </a:p>
        </p:txBody>
      </p:sp>
      <p:sp>
        <p:nvSpPr>
          <p:cNvPr id="43" name="Shape 40"/>
          <p:cNvSpPr/>
          <p:nvPr/>
        </p:nvSpPr>
        <p:spPr>
          <a:xfrm>
            <a:off x="8647300" y="4334256"/>
            <a:ext cx="2782700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29596" y="4425696"/>
            <a:ext cx="2618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Tiêm lỗi tại lớp dịch vụ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758952" y="4864608"/>
            <a:ext cx="2855292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1248" y="4956048"/>
            <a:ext cx="2690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thật</a:t>
            </a:r>
            <a:endParaRPr lang="en-US" sz="890" dirty="0"/>
          </a:p>
        </p:txBody>
      </p:sp>
      <p:sp>
        <p:nvSpPr>
          <p:cNvPr id="47" name="Shape 44"/>
          <p:cNvSpPr/>
          <p:nvPr/>
        </p:nvSpPr>
        <p:spPr>
          <a:xfrm>
            <a:off x="3614244" y="4864608"/>
            <a:ext cx="5033057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96540" y="4956048"/>
            <a:ext cx="48684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Order–Catalog stock integration có điều kiện</a:t>
            </a:r>
            <a:endParaRPr lang="en-US" sz="890" dirty="0"/>
          </a:p>
        </p:txBody>
      </p:sp>
      <p:sp>
        <p:nvSpPr>
          <p:cNvPr id="49" name="Shape 46"/>
          <p:cNvSpPr/>
          <p:nvPr/>
        </p:nvSpPr>
        <p:spPr>
          <a:xfrm>
            <a:off x="8647300" y="4864608"/>
            <a:ext cx="2782700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729596" y="4956048"/>
            <a:ext cx="2618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Bằng chứng tích hợp một phần</a:t>
            </a:r>
            <a:endParaRPr lang="en-US" sz="890" dirty="0"/>
          </a:p>
        </p:txBody>
      </p:sp>
      <p:sp>
        <p:nvSpPr>
          <p:cNvPr id="51" name="Shape 48"/>
          <p:cNvSpPr/>
          <p:nvPr/>
        </p:nvSpPr>
        <p:spPr>
          <a:xfrm>
            <a:off x="758952" y="5394960"/>
            <a:ext cx="2855292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41248" y="5486400"/>
            <a:ext cx="2690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Còn thiếu</a:t>
            </a:r>
            <a:endParaRPr lang="en-US" sz="890" dirty="0"/>
          </a:p>
        </p:txBody>
      </p:sp>
      <p:sp>
        <p:nvSpPr>
          <p:cNvPr id="53" name="Shape 50"/>
          <p:cNvSpPr/>
          <p:nvPr/>
        </p:nvSpPr>
        <p:spPr>
          <a:xfrm>
            <a:off x="3614244" y="5394960"/>
            <a:ext cx="5033057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696540" y="5486400"/>
            <a:ext cx="48684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Lỗi ghi Order/outbox sau khi Catalog thật đã trừ tồn kho</a:t>
            </a:r>
            <a:endParaRPr lang="en-US" sz="890" dirty="0"/>
          </a:p>
        </p:txBody>
      </p:sp>
      <p:sp>
        <p:nvSpPr>
          <p:cNvPr id="55" name="Shape 52"/>
          <p:cNvSpPr/>
          <p:nvPr/>
        </p:nvSpPr>
        <p:spPr>
          <a:xfrm>
            <a:off x="8647300" y="5394960"/>
            <a:ext cx="2782700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729596" y="5486400"/>
            <a:ext cx="2618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Cần bộ tiêm lỗi xác định</a:t>
            </a:r>
            <a:endParaRPr lang="en-US" sz="890" dirty="0"/>
          </a:p>
        </p:txBody>
      </p:sp>
      <p:sp>
        <p:nvSpPr>
          <p:cNvPr id="57" name="Text 54"/>
          <p:cNvSpPr/>
          <p:nvPr/>
        </p:nvSpPr>
        <p:spPr>
          <a:xfrm>
            <a:off x="960120" y="59801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kết luận Saga đã bao phủ mọi nhánh lỗi trong môi trường tích hợp thực.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 là bản chiếu Redis được cập nhật từ sự kiện xác nhận đơn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 không sở hữu lịch sử đơn hàng; nó tạo bản chiếu vận hành để phục vụ hàng đợi theo trạm và phát tín hiệu cập nhật cho client.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26_kds_projection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58034" cy="26060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517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78074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order.confirmed</a:t>
            </a:r>
            <a:endParaRPr lang="en-US" sz="1480" dirty="0"/>
          </a:p>
        </p:txBody>
      </p:sp>
      <p:sp>
        <p:nvSpPr>
          <p:cNvPr id="19" name="Text 15"/>
          <p:cNvSpPr/>
          <p:nvPr/>
        </p:nvSpPr>
        <p:spPr>
          <a:xfrm>
            <a:off x="923544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Sự kiện được tạo sau điểm commit của Order.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3335274" y="379018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463290" y="2487168"/>
            <a:ext cx="2558034" cy="26060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882" y="26517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82412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627882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 consumer</a:t>
            </a:r>
            <a:endParaRPr lang="en-US" sz="1480" dirty="0"/>
          </a:p>
        </p:txBody>
      </p:sp>
      <p:sp>
        <p:nvSpPr>
          <p:cNvPr id="25" name="Text 20"/>
          <p:cNvSpPr/>
          <p:nvPr/>
        </p:nvSpPr>
        <p:spPr>
          <a:xfrm>
            <a:off x="3627882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tra payload và xác định các trạm nhận món.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6039612" y="379018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167628" y="2487168"/>
            <a:ext cx="2558034" cy="26060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6517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86750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332220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Redis projection</a:t>
            </a:r>
            <a:endParaRPr lang="en-US" sz="1480" dirty="0"/>
          </a:p>
        </p:txBody>
      </p:sp>
      <p:sp>
        <p:nvSpPr>
          <p:cNvPr id="31" name="Text 25"/>
          <p:cNvSpPr/>
          <p:nvPr/>
        </p:nvSpPr>
        <p:spPr>
          <a:xfrm>
            <a:off x="6332220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Lưu ticket, hàng đợi, chỉ mục và dedupe theo tenant/station.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8743950" y="379018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8871966" y="2487168"/>
            <a:ext cx="2558034" cy="2606040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558" y="265176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9108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9036558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WebSocket hint</a:t>
            </a:r>
            <a:endParaRPr lang="en-US" sz="1480" dirty="0"/>
          </a:p>
        </p:txBody>
      </p:sp>
      <p:sp>
        <p:nvSpPr>
          <p:cNvPr id="37" name="Text 30"/>
          <p:cNvSpPr/>
          <p:nvPr/>
        </p:nvSpPr>
        <p:spPr>
          <a:xfrm>
            <a:off x="9036558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Client nhận tín hiệu và tải lại snapshot khi cần.</a:t>
            </a:r>
            <a:endParaRPr lang="en-US" sz="1080" dirty="0"/>
          </a:p>
        </p:txBody>
      </p:sp>
      <p:sp>
        <p:nvSpPr>
          <p:cNvPr id="38" name="Text 31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Bất biến: sự kiện order.confirmed bị phát lại không tạo nhiều ticket cho cùng tenant, order và station.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4 · CÁC CƠ CHẾ CỐT LÕI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 hoàn tất giao dịch, Order hoàn tất hóa đơn và phiên phục vụ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Payment–Order được nối bằng sự kiện payment.completed và một thao tác markPaid có tính lũy đẳng.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27_payment_bridge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558034" cy="26060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517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78074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 settles</a:t>
            </a:r>
            <a:endParaRPr lang="en-US" sz="1480" dirty="0"/>
          </a:p>
        </p:txBody>
      </p:sp>
      <p:sp>
        <p:nvSpPr>
          <p:cNvPr id="19" name="Text 15"/>
          <p:cNvSpPr/>
          <p:nvPr/>
        </p:nvSpPr>
        <p:spPr>
          <a:xfrm>
            <a:off x="923544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 ghi nhận tiền mặt hoặc callback VietQR/SePay.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3335274" y="379018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463290" y="2487168"/>
            <a:ext cx="2558034" cy="26060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882" y="26517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82412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627882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payment.completed</a:t>
            </a:r>
            <a:endParaRPr lang="en-US" sz="1480" dirty="0"/>
          </a:p>
        </p:txBody>
      </p:sp>
      <p:sp>
        <p:nvSpPr>
          <p:cNvPr id="25" name="Text 20"/>
          <p:cNvSpPr/>
          <p:nvPr/>
        </p:nvSpPr>
        <p:spPr>
          <a:xfrm>
            <a:off x="3627882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Outbox/event mang billId, paymentId và tenant context.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6039612" y="379018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167628" y="2487168"/>
            <a:ext cx="2558034" cy="260604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6517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86750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332220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marks bill paid</a:t>
            </a:r>
            <a:endParaRPr lang="en-US" sz="1480" dirty="0"/>
          </a:p>
        </p:txBody>
      </p:sp>
      <p:sp>
        <p:nvSpPr>
          <p:cNvPr id="31" name="Text 25"/>
          <p:cNvSpPr/>
          <p:nvPr/>
        </p:nvSpPr>
        <p:spPr>
          <a:xfrm>
            <a:off x="6332220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BillService.markPaid xử lý phát lại theo cách lũy đẳng.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8743950" y="379018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8871966" y="2487168"/>
            <a:ext cx="2558034" cy="2606040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558" y="265176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9108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9036558" y="3145536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Khép phiên bàn</a:t>
            </a:r>
            <a:endParaRPr lang="en-US" sz="1480" dirty="0"/>
          </a:p>
        </p:txBody>
      </p:sp>
      <p:sp>
        <p:nvSpPr>
          <p:cNvPr id="37" name="Text 30"/>
          <p:cNvSpPr/>
          <p:nvPr/>
        </p:nvSpPr>
        <p:spPr>
          <a:xfrm>
            <a:off x="9036558" y="3648456"/>
            <a:ext cx="222885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Session/cart được dọn và bàn chuyển sang CLEANING.</a:t>
            </a:r>
            <a:endParaRPr lang="en-US" sz="1080" dirty="0"/>
          </a:p>
        </p:txBody>
      </p:sp>
      <p:sp>
        <p:nvSpPr>
          <p:cNvPr id="38" name="Text 31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tích hợp đại diện đã chứng minh payment.completed → bill paid → session closed → table cleaning và chấp nhận replay.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5 · BẰNG CHỨNG VÀ KẾT LUẬN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Chứng minh tích hợp theo luồng nghiệp vụ xuyên suốt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Demo UI được đối chiếu với trạng thái dữ liệu và các cơ chế nội bộ để tránh kết luận chỉ dựa trên giao diện.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28_golden_flow_evidence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31720"/>
            <a:ext cx="5897880" cy="3584448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844" y="2990088"/>
            <a:ext cx="768096" cy="7680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39593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Golden flow demo của QRTable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53312" y="4544568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Vị trí dành cho chuỗi ảnh QR, giỏ hàng, xác nhận đơn, KDS và thanh toán kèm chú thích trạng thái.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1216152" y="5166360"/>
            <a:ext cx="1122426" cy="310896"/>
          </a:xfrm>
          <a:prstGeom prst="rect">
            <a:avLst/>
          </a:prstGeom>
          <a:solidFill>
            <a:srgbClr val="22D3EE">
              <a:alpha val="12000"/>
            </a:srgbClr>
          </a:solidFill>
          <a:ln w="889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61872" y="5248656"/>
            <a:ext cx="10309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 PWA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2503170" y="5166360"/>
            <a:ext cx="1122426" cy="310896"/>
          </a:xfrm>
          <a:prstGeom prst="rect">
            <a:avLst/>
          </a:prstGeom>
          <a:solidFill>
            <a:srgbClr val="34D399">
              <a:alpha val="12000"/>
            </a:srgbClr>
          </a:solidFill>
          <a:ln w="889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48890" y="5248656"/>
            <a:ext cx="10309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3790188" y="5166360"/>
            <a:ext cx="1122426" cy="310896"/>
          </a:xfrm>
          <a:prstGeom prst="rect">
            <a:avLst/>
          </a:prstGeom>
          <a:solidFill>
            <a:srgbClr val="FBBF24">
              <a:alpha val="12000"/>
            </a:srgbClr>
          </a:solidFill>
          <a:ln w="889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35908" y="5248656"/>
            <a:ext cx="10309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KDS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5077206" y="5166360"/>
            <a:ext cx="1122426" cy="310896"/>
          </a:xfrm>
          <a:prstGeom prst="rect">
            <a:avLst/>
          </a:prstGeom>
          <a:solidFill>
            <a:srgbClr val="FB7185">
              <a:alpha val="12000"/>
            </a:srgbClr>
          </a:solidFill>
          <a:ln w="889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22926" y="5248656"/>
            <a:ext cx="10309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Thanh toán</a:t>
            </a:r>
            <a:endParaRPr lang="en-US" sz="730" dirty="0"/>
          </a:p>
        </p:txBody>
      </p:sp>
      <p:sp>
        <p:nvSpPr>
          <p:cNvPr id="27" name="Text 23">
            <a:hlinkClick r:id="rId4" tooltip="apps/management-app/public/landing-pwa-customer-menu.png"/>
          </p:cNvPr>
          <p:cNvSpPr/>
          <p:nvPr/>
        </p:nvSpPr>
        <p:spPr>
          <a:xfrm>
            <a:off x="1078992" y="566013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apps/management-app/public/landing-pwa-customer-menu.p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903720" y="2267712"/>
            <a:ext cx="1460090" cy="594360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86016" y="2359152"/>
            <a:ext cx="12954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Bước</a:t>
            </a:r>
            <a:endParaRPr lang="en-US" sz="870" dirty="0"/>
          </a:p>
        </p:txBody>
      </p:sp>
      <p:sp>
        <p:nvSpPr>
          <p:cNvPr id="30" name="Shape 26"/>
          <p:cNvSpPr/>
          <p:nvPr/>
        </p:nvSpPr>
        <p:spPr>
          <a:xfrm>
            <a:off x="8363810" y="2267712"/>
            <a:ext cx="3066190" cy="594360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46106" y="2359152"/>
            <a:ext cx="29015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Trạng thái cần đối chiếu</a:t>
            </a:r>
            <a:endParaRPr lang="en-US" sz="870" dirty="0"/>
          </a:p>
        </p:txBody>
      </p:sp>
      <p:sp>
        <p:nvSpPr>
          <p:cNvPr id="32" name="Shape 28"/>
          <p:cNvSpPr/>
          <p:nvPr/>
        </p:nvSpPr>
        <p:spPr>
          <a:xfrm>
            <a:off x="6903720" y="2862072"/>
            <a:ext cx="1460090" cy="594360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86016" y="2953512"/>
            <a:ext cx="12954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 / Thực đơn</a:t>
            </a:r>
            <a:endParaRPr lang="en-US" sz="890" dirty="0"/>
          </a:p>
        </p:txBody>
      </p:sp>
      <p:sp>
        <p:nvSpPr>
          <p:cNvPr id="34" name="Shape 30"/>
          <p:cNvSpPr/>
          <p:nvPr/>
        </p:nvSpPr>
        <p:spPr>
          <a:xfrm>
            <a:off x="8363810" y="2862072"/>
            <a:ext cx="3066190" cy="594360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446106" y="2953512"/>
            <a:ext cx="29015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Tenant, bàn, phiên đang hoạt động</a:t>
            </a:r>
            <a:endParaRPr lang="en-US" sz="890" dirty="0"/>
          </a:p>
        </p:txBody>
      </p:sp>
      <p:sp>
        <p:nvSpPr>
          <p:cNvPr id="36" name="Shape 32"/>
          <p:cNvSpPr/>
          <p:nvPr/>
        </p:nvSpPr>
        <p:spPr>
          <a:xfrm>
            <a:off x="6903720" y="3456432"/>
            <a:ext cx="1460090" cy="594360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986016" y="3547872"/>
            <a:ext cx="12954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Giỏ / Gửi đơn</a:t>
            </a:r>
            <a:endParaRPr lang="en-US" sz="890" dirty="0"/>
          </a:p>
        </p:txBody>
      </p:sp>
      <p:sp>
        <p:nvSpPr>
          <p:cNvPr id="38" name="Shape 34"/>
          <p:cNvSpPr/>
          <p:nvPr/>
        </p:nvSpPr>
        <p:spPr>
          <a:xfrm>
            <a:off x="8363810" y="3456432"/>
            <a:ext cx="3066190" cy="594360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446106" y="3547872"/>
            <a:ext cx="29015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cartVersion, một đơn PENDING</a:t>
            </a:r>
            <a:endParaRPr lang="en-US" sz="890" dirty="0"/>
          </a:p>
        </p:txBody>
      </p:sp>
      <p:sp>
        <p:nvSpPr>
          <p:cNvPr id="40" name="Shape 36"/>
          <p:cNvSpPr/>
          <p:nvPr/>
        </p:nvSpPr>
        <p:spPr>
          <a:xfrm>
            <a:off x="6903720" y="4050792"/>
            <a:ext cx="1460090" cy="594360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86016" y="4142232"/>
            <a:ext cx="12954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Nhân viên xác nhận</a:t>
            </a:r>
            <a:endParaRPr lang="en-US" sz="890" dirty="0"/>
          </a:p>
        </p:txBody>
      </p:sp>
      <p:sp>
        <p:nvSpPr>
          <p:cNvPr id="42" name="Shape 38"/>
          <p:cNvSpPr/>
          <p:nvPr/>
        </p:nvSpPr>
        <p:spPr>
          <a:xfrm>
            <a:off x="8363810" y="4050792"/>
            <a:ext cx="3066190" cy="594360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446106" y="4142232"/>
            <a:ext cx="29015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PROCESSING, tồn kho, order.confirmed</a:t>
            </a:r>
            <a:endParaRPr lang="en-US" sz="890" dirty="0"/>
          </a:p>
        </p:txBody>
      </p:sp>
      <p:sp>
        <p:nvSpPr>
          <p:cNvPr id="44" name="Shape 40"/>
          <p:cNvSpPr/>
          <p:nvPr/>
        </p:nvSpPr>
        <p:spPr>
          <a:xfrm>
            <a:off x="6903720" y="4645152"/>
            <a:ext cx="1460090" cy="594360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986016" y="4736592"/>
            <a:ext cx="12954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</a:t>
            </a:r>
            <a:endParaRPr lang="en-US" sz="890" dirty="0"/>
          </a:p>
        </p:txBody>
      </p:sp>
      <p:sp>
        <p:nvSpPr>
          <p:cNvPr id="46" name="Shape 42"/>
          <p:cNvSpPr/>
          <p:nvPr/>
        </p:nvSpPr>
        <p:spPr>
          <a:xfrm>
            <a:off x="8363810" y="4645152"/>
            <a:ext cx="3066190" cy="594360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446106" y="4736592"/>
            <a:ext cx="29015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Ticket trong Redis theo trạm</a:t>
            </a:r>
            <a:endParaRPr lang="en-US" sz="890" dirty="0"/>
          </a:p>
        </p:txBody>
      </p:sp>
      <p:sp>
        <p:nvSpPr>
          <p:cNvPr id="48" name="Shape 44"/>
          <p:cNvSpPr/>
          <p:nvPr/>
        </p:nvSpPr>
        <p:spPr>
          <a:xfrm>
            <a:off x="6903720" y="5239512"/>
            <a:ext cx="1460090" cy="594360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986016" y="5330952"/>
            <a:ext cx="12954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Thanh toán</a:t>
            </a:r>
            <a:endParaRPr lang="en-US" sz="890" dirty="0"/>
          </a:p>
        </p:txBody>
      </p:sp>
      <p:sp>
        <p:nvSpPr>
          <p:cNvPr id="50" name="Shape 46"/>
          <p:cNvSpPr/>
          <p:nvPr/>
        </p:nvSpPr>
        <p:spPr>
          <a:xfrm>
            <a:off x="8363810" y="5239512"/>
            <a:ext cx="3066190" cy="594360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446106" y="5330952"/>
            <a:ext cx="29015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Hóa đơn PAID, phiên đóng, bàn CLEANING</a:t>
            </a:r>
            <a:endParaRPr lang="en-US" sz="89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PHẦN 5 · BẰNG CHỨNG VÀ KẾT LUẬN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 trận bằng chứng và giới hạn kết luận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 trận truy vết hiện ghi nhận 52 dòng P0/P1: 38 đã bao phủ, 9 bao phủ một phần, 1 khoảng trống hiện thực và 4 nội dung hoãn theo giai đoạn.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29_evidence_matrix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194560"/>
            <a:ext cx="2897117" cy="530352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286000"/>
            <a:ext cx="2732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Nhóm cơ chế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3656069" y="2194560"/>
            <a:ext cx="4345676" cy="530352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38365" y="2286000"/>
            <a:ext cx="4181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Bằng chứng chính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8001745" y="2194560"/>
            <a:ext cx="3428255" cy="530352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84041" y="2286000"/>
            <a:ext cx="326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Mức trình bày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58952" y="2724912"/>
            <a:ext cx="2897117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2816352"/>
            <a:ext cx="2732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 / phiên / giỏ hàng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3656069" y="2724912"/>
            <a:ext cx="4345676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38365" y="2816352"/>
            <a:ext cx="4181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đơn vị, tích hợp và hook phía client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8001745" y="2724912"/>
            <a:ext cx="3428255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84041" y="2816352"/>
            <a:ext cx="326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Tương đối mạnh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758952" y="3255264"/>
            <a:ext cx="2897117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3346704"/>
            <a:ext cx="2732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Guard và cô lập tenant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3656069" y="3255264"/>
            <a:ext cx="4345676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38365" y="3346704"/>
            <a:ext cx="4181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guard + smoke đại diện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8001745" y="3255264"/>
            <a:ext cx="3428255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84041" y="3346704"/>
            <a:ext cx="326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Mạnh ở đường đại diện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758952" y="3785616"/>
            <a:ext cx="2897117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1248" y="3877056"/>
            <a:ext cx="2732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Confirm Saga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3656069" y="3785616"/>
            <a:ext cx="4345676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738365" y="3877056"/>
            <a:ext cx="4181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Đơn vị/hợp đồng + tích hợp tồn kho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8001745" y="3785616"/>
            <a:ext cx="3428255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84041" y="3877056"/>
            <a:ext cx="326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Một phần với tiêm lỗi tích hợp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758952" y="4315968"/>
            <a:ext cx="2897117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4407408"/>
            <a:ext cx="2732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Bản chiếu KDS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3656069" y="4315968"/>
            <a:ext cx="4345676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38365" y="4407408"/>
            <a:ext cx="4181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consumer + tích hợp Redis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8001745" y="4315968"/>
            <a:ext cx="3428255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84041" y="4407408"/>
            <a:ext cx="326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Tương đối mạnh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758952" y="4846320"/>
            <a:ext cx="2897117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1248" y="4937760"/>
            <a:ext cx="2732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Cầu nối thanh toán</a:t>
            </a:r>
            <a:endParaRPr lang="en-US" sz="880" dirty="0"/>
          </a:p>
        </p:txBody>
      </p:sp>
      <p:sp>
        <p:nvSpPr>
          <p:cNvPr id="47" name="Shape 44"/>
          <p:cNvSpPr/>
          <p:nvPr/>
        </p:nvSpPr>
        <p:spPr>
          <a:xfrm>
            <a:off x="3656069" y="4846320"/>
            <a:ext cx="4345676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738365" y="4937760"/>
            <a:ext cx="4181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Kiểm thử đơn vị + tích hợp liên dịch vụ</a:t>
            </a:r>
            <a:endParaRPr lang="en-US" sz="880" dirty="0"/>
          </a:p>
        </p:txBody>
      </p:sp>
      <p:sp>
        <p:nvSpPr>
          <p:cNvPr id="49" name="Shape 46"/>
          <p:cNvSpPr/>
          <p:nvPr/>
        </p:nvSpPr>
        <p:spPr>
          <a:xfrm>
            <a:off x="8001745" y="4846320"/>
            <a:ext cx="3428255" cy="530352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084041" y="4937760"/>
            <a:ext cx="326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Mạnh ở cầu nối nội bộ</a:t>
            </a:r>
            <a:endParaRPr lang="en-US" sz="880" dirty="0"/>
          </a:p>
        </p:txBody>
      </p:sp>
      <p:sp>
        <p:nvSpPr>
          <p:cNvPr id="51" name="Shape 48"/>
          <p:cNvSpPr/>
          <p:nvPr/>
        </p:nvSpPr>
        <p:spPr>
          <a:xfrm>
            <a:off x="758952" y="5376672"/>
            <a:ext cx="2897117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41248" y="5468112"/>
            <a:ext cx="2732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Triển khai</a:t>
            </a:r>
            <a:endParaRPr lang="en-US" sz="880" dirty="0"/>
          </a:p>
        </p:txBody>
      </p:sp>
      <p:sp>
        <p:nvSpPr>
          <p:cNvPr id="53" name="Shape 50"/>
          <p:cNvSpPr/>
          <p:nvPr/>
        </p:nvSpPr>
        <p:spPr>
          <a:xfrm>
            <a:off x="3656069" y="5376672"/>
            <a:ext cx="4345676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738365" y="5468112"/>
            <a:ext cx="4181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Nền tảng Compose và giám sát</a:t>
            </a:r>
            <a:endParaRPr lang="en-US" sz="880" dirty="0"/>
          </a:p>
        </p:txBody>
      </p:sp>
      <p:sp>
        <p:nvSpPr>
          <p:cNvPr id="55" name="Shape 52"/>
          <p:cNvSpPr/>
          <p:nvPr/>
        </p:nvSpPr>
        <p:spPr>
          <a:xfrm>
            <a:off x="8001745" y="5376672"/>
            <a:ext cx="3428255" cy="530352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084041" y="5468112"/>
            <a:ext cx="326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Chưa kết luận sẵn sàng vận hành</a:t>
            </a:r>
            <a:endParaRPr lang="en-US" sz="880" dirty="0"/>
          </a:p>
        </p:txBody>
      </p:sp>
      <p:sp>
        <p:nvSpPr>
          <p:cNvPr id="57" name="Text 54"/>
          <p:cNvSpPr/>
          <p:nvPr/>
        </p:nvSpPr>
        <p:spPr>
          <a:xfrm>
            <a:off x="960120" y="59618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Chưa đủ bằng chứng để kết luận về tải lớn, phân phối đúng một lần, tiêm lỗi Saga toàn diện hoặc khả năng sẵn sàng vận hành công khai.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/Users/vodinhquan/Developer/Graduation-Thesis/graduation-thesis/qr-order/apps/management-app/public/landing-hero-ambient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>
              <a:alpha val="82000"/>
            </a:srgbClr>
          </a:solidFill>
          <a:ln w="12700">
            <a:solidFill>
              <a:srgbClr val="09090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8138160" cy="6858000"/>
          </a:xfrm>
          <a:prstGeom prst="rect">
            <a:avLst/>
          </a:prstGeom>
          <a:solidFill>
            <a:srgbClr val="09090B">
              <a:alpha val="92000"/>
            </a:srgbClr>
          </a:solidFill>
          <a:ln w="12700">
            <a:solidFill>
              <a:srgbClr val="09090B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9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0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30_conclusion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58952" y="566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KẾT LUẬN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58952" y="1170432"/>
            <a:ext cx="8778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QRTable chứng minh tính khả thi của một nền tảng POS vi dịch vụ có kiểm soát</a:t>
            </a:r>
            <a:endParaRPr lang="en-US" sz="3200" dirty="0"/>
          </a:p>
        </p:txBody>
      </p:sp>
      <p:sp>
        <p:nvSpPr>
          <p:cNvPr id="17" name="Shape 13"/>
          <p:cNvSpPr/>
          <p:nvPr/>
        </p:nvSpPr>
        <p:spPr>
          <a:xfrm>
            <a:off x="758952" y="2907792"/>
            <a:ext cx="3401568" cy="19659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09067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1832" y="360273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Kết quả đạt được</a:t>
            </a:r>
            <a:endParaRPr lang="en-US" sz="1620" dirty="0"/>
          </a:p>
        </p:txBody>
      </p:sp>
      <p:sp>
        <p:nvSpPr>
          <p:cNvPr id="20" name="Text 15"/>
          <p:cNvSpPr/>
          <p:nvPr/>
        </p:nvSpPr>
        <p:spPr>
          <a:xfrm>
            <a:off x="941832" y="4142232"/>
            <a:ext cx="3035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Luồng xuyên suốt QR → POS → KDS → Thanh toán; ranh giới dịch vụ, guard, tính lũy đẳng và Saga đại diện có bằng chứng.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407408" y="2907792"/>
            <a:ext cx="3401568" cy="19659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09067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90288" y="360273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Giới hạn trung thực</a:t>
            </a:r>
            <a:endParaRPr lang="en-US" sz="1620" dirty="0"/>
          </a:p>
        </p:txBody>
      </p:sp>
      <p:sp>
        <p:nvSpPr>
          <p:cNvPr id="24" name="Text 18"/>
          <p:cNvSpPr/>
          <p:nvPr/>
        </p:nvSpPr>
        <p:spPr>
          <a:xfrm>
            <a:off x="4590288" y="4142232"/>
            <a:ext cx="3035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Chưa có phép đo tải, bằng chứng phân phối đúng một lần, bằng chứng vận hành công khai đầy đủ hoặc tiêm lỗi tích hợp cho mọi nhánh.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055864" y="2907792"/>
            <a:ext cx="3401568" cy="196596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309067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38744" y="360273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Hướng phát triển</a:t>
            </a:r>
            <a:endParaRPr lang="en-US" sz="1620" dirty="0"/>
          </a:p>
        </p:txBody>
      </p:sp>
      <p:sp>
        <p:nvSpPr>
          <p:cNvPr id="28" name="Text 21"/>
          <p:cNvSpPr/>
          <p:nvPr/>
        </p:nvSpPr>
        <p:spPr>
          <a:xfrm>
            <a:off x="8238744" y="4142232"/>
            <a:ext cx="3035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Đo hiệu năng, củng cố Saga và thanh toán, mở rộng kiểm thử toàn ngăn xếp, sao lưu/khôi phục và phân tích dữ liệu.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60120" y="54132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Đóng góp chính không nằm ở mã QR riêng lẻ, mà ở cách tích hợp luồng F&amp;B với các ranh giới kỹ thuật và mức bằng chứng có thể truy vết.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Chi tiết ranh giới dịch vụ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Bảng dự phòng khi hội đồng hỏi dịch vụ nào sở hữu hành vi và dữ liệu nào.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31_service_boundary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057400"/>
            <a:ext cx="1660391" cy="448056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148840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Ranh giới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2419343" y="2057400"/>
            <a:ext cx="2126110" cy="448056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01639" y="2148840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Kênh chính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545453" y="2057400"/>
            <a:ext cx="3037300" cy="448056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7749" y="2148840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Dữ liệu sở hữu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7582753" y="2057400"/>
            <a:ext cx="3847247" cy="448056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65049" y="2148840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Vai trò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758952" y="2505456"/>
            <a:ext cx="1660391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" y="2596896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BFF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2419343" y="2505456"/>
            <a:ext cx="212611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01639" y="2596896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HTTP / WebSocket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4545453" y="2505456"/>
            <a:ext cx="303730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27749" y="2596896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 có CSDL nghiệp vụ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7582753" y="2505456"/>
            <a:ext cx="3847247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65049" y="2596896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Chuỗi guard, proxy, biên thời gian thực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758952" y="2953512"/>
            <a:ext cx="1660391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1248" y="3044952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Authorizer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2419343" y="2953512"/>
            <a:ext cx="212611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01639" y="3044952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gRPC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4545453" y="2953512"/>
            <a:ext cx="303730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27749" y="3044952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Định danh / tích hợp Keycloak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7582753" y="2953512"/>
            <a:ext cx="3847247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65049" y="3044952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Xác minh JWT và quản trị định danh</a:t>
            </a:r>
            <a:endParaRPr lang="en-US" sz="780" dirty="0"/>
          </a:p>
        </p:txBody>
      </p:sp>
      <p:sp>
        <p:nvSpPr>
          <p:cNvPr id="39" name="Shape 36"/>
          <p:cNvSpPr/>
          <p:nvPr/>
        </p:nvSpPr>
        <p:spPr>
          <a:xfrm>
            <a:off x="758952" y="3401568"/>
            <a:ext cx="1660391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3493008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Catalog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2419343" y="3401568"/>
            <a:ext cx="212611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501639" y="3493008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TCP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4545453" y="3401568"/>
            <a:ext cx="303730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27749" y="3493008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Menu, table, QR, stock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7582753" y="3401568"/>
            <a:ext cx="3847247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665049" y="3493008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Dịch vụ duy nhất ghi stock</a:t>
            </a:r>
            <a:endParaRPr lang="en-US" sz="780" dirty="0"/>
          </a:p>
        </p:txBody>
      </p:sp>
      <p:sp>
        <p:nvSpPr>
          <p:cNvPr id="47" name="Shape 44"/>
          <p:cNvSpPr/>
          <p:nvPr/>
        </p:nvSpPr>
        <p:spPr>
          <a:xfrm>
            <a:off x="758952" y="3849624"/>
            <a:ext cx="1660391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1248" y="3941064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2419343" y="3849624"/>
            <a:ext cx="212611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501639" y="3941064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TCP / Kafka consumer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4545453" y="3849624"/>
            <a:ext cx="303730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27749" y="3941064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Session, cart, order, bill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7582753" y="3849624"/>
            <a:ext cx="3847247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65049" y="3941064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Vòng đời đơn và hóa đơn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758952" y="4297680"/>
            <a:ext cx="1660391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41248" y="4389120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</a:t>
            </a:r>
            <a:endParaRPr lang="en-US" sz="780" dirty="0"/>
          </a:p>
        </p:txBody>
      </p:sp>
      <p:sp>
        <p:nvSpPr>
          <p:cNvPr id="57" name="Shape 54"/>
          <p:cNvSpPr/>
          <p:nvPr/>
        </p:nvSpPr>
        <p:spPr>
          <a:xfrm>
            <a:off x="2419343" y="4297680"/>
            <a:ext cx="212611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501639" y="4389120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Kafka / Redis</a:t>
            </a:r>
            <a:endParaRPr lang="en-US" sz="780" dirty="0"/>
          </a:p>
        </p:txBody>
      </p:sp>
      <p:sp>
        <p:nvSpPr>
          <p:cNvPr id="59" name="Shape 56"/>
          <p:cNvSpPr/>
          <p:nvPr/>
        </p:nvSpPr>
        <p:spPr>
          <a:xfrm>
            <a:off x="4545453" y="4297680"/>
            <a:ext cx="303730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627749" y="4389120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 projection</a:t>
            </a:r>
            <a:endParaRPr lang="en-US" sz="780" dirty="0"/>
          </a:p>
        </p:txBody>
      </p:sp>
      <p:sp>
        <p:nvSpPr>
          <p:cNvPr id="61" name="Shape 58"/>
          <p:cNvSpPr/>
          <p:nvPr/>
        </p:nvSpPr>
        <p:spPr>
          <a:xfrm>
            <a:off x="7582753" y="4297680"/>
            <a:ext cx="3847247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665049" y="4389120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Hàng đợi theo trạm</a:t>
            </a:r>
            <a:endParaRPr lang="en-US" sz="780" dirty="0"/>
          </a:p>
        </p:txBody>
      </p:sp>
      <p:sp>
        <p:nvSpPr>
          <p:cNvPr id="63" name="Shape 60"/>
          <p:cNvSpPr/>
          <p:nvPr/>
        </p:nvSpPr>
        <p:spPr>
          <a:xfrm>
            <a:off x="758952" y="4745736"/>
            <a:ext cx="1660391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41248" y="4837176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</a:t>
            </a:r>
            <a:endParaRPr lang="en-US" sz="780" dirty="0"/>
          </a:p>
        </p:txBody>
      </p:sp>
      <p:sp>
        <p:nvSpPr>
          <p:cNvPr id="65" name="Shape 62"/>
          <p:cNvSpPr/>
          <p:nvPr/>
        </p:nvSpPr>
        <p:spPr>
          <a:xfrm>
            <a:off x="2419343" y="4745736"/>
            <a:ext cx="212611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501639" y="4837176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TCP / Webhook / Kafka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4545453" y="4745736"/>
            <a:ext cx="303730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27749" y="4837176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Transaction, settings</a:t>
            </a:r>
            <a:endParaRPr lang="en-US" sz="780" dirty="0"/>
          </a:p>
        </p:txBody>
      </p:sp>
      <p:sp>
        <p:nvSpPr>
          <p:cNvPr id="69" name="Shape 66"/>
          <p:cNvSpPr/>
          <p:nvPr/>
        </p:nvSpPr>
        <p:spPr>
          <a:xfrm>
            <a:off x="7582753" y="4745736"/>
            <a:ext cx="3847247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665049" y="4837176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Cash, VietQR, SePay</a:t>
            </a:r>
            <a:endParaRPr lang="en-US" sz="780" dirty="0"/>
          </a:p>
        </p:txBody>
      </p:sp>
      <p:sp>
        <p:nvSpPr>
          <p:cNvPr id="71" name="Shape 68"/>
          <p:cNvSpPr/>
          <p:nvPr/>
        </p:nvSpPr>
        <p:spPr>
          <a:xfrm>
            <a:off x="758952" y="5193792"/>
            <a:ext cx="1660391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41248" y="5285232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SaaS</a:t>
            </a:r>
            <a:endParaRPr lang="en-US" sz="780" dirty="0"/>
          </a:p>
        </p:txBody>
      </p:sp>
      <p:sp>
        <p:nvSpPr>
          <p:cNvPr id="73" name="Shape 70"/>
          <p:cNvSpPr/>
          <p:nvPr/>
        </p:nvSpPr>
        <p:spPr>
          <a:xfrm>
            <a:off x="2419343" y="5193792"/>
            <a:ext cx="212611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501639" y="5285232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TCP</a:t>
            </a:r>
            <a:endParaRPr lang="en-US" sz="780" dirty="0"/>
          </a:p>
        </p:txBody>
      </p:sp>
      <p:sp>
        <p:nvSpPr>
          <p:cNvPr id="75" name="Shape 72"/>
          <p:cNvSpPr/>
          <p:nvPr/>
        </p:nvSpPr>
        <p:spPr>
          <a:xfrm>
            <a:off x="4545453" y="5193792"/>
            <a:ext cx="3037300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627749" y="5285232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Tenant, plan, subscription</a:t>
            </a:r>
            <a:endParaRPr lang="en-US" sz="780" dirty="0"/>
          </a:p>
        </p:txBody>
      </p:sp>
      <p:sp>
        <p:nvSpPr>
          <p:cNvPr id="77" name="Shape 74"/>
          <p:cNvSpPr/>
          <p:nvPr/>
        </p:nvSpPr>
        <p:spPr>
          <a:xfrm>
            <a:off x="7582753" y="5193792"/>
            <a:ext cx="3847247" cy="448056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665049" y="5285232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Vòng đời đơn vị thuê bao</a:t>
            </a:r>
            <a:endParaRPr lang="en-US" sz="780" dirty="0"/>
          </a:p>
        </p:txBody>
      </p:sp>
      <p:sp>
        <p:nvSpPr>
          <p:cNvPr id="79" name="Shape 76"/>
          <p:cNvSpPr/>
          <p:nvPr/>
        </p:nvSpPr>
        <p:spPr>
          <a:xfrm>
            <a:off x="758952" y="5641848"/>
            <a:ext cx="1660391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41248" y="5733288"/>
            <a:ext cx="14957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User-Access</a:t>
            </a:r>
            <a:endParaRPr lang="en-US" sz="780" dirty="0"/>
          </a:p>
        </p:txBody>
      </p:sp>
      <p:sp>
        <p:nvSpPr>
          <p:cNvPr id="81" name="Shape 78"/>
          <p:cNvSpPr/>
          <p:nvPr/>
        </p:nvSpPr>
        <p:spPr>
          <a:xfrm>
            <a:off x="2419343" y="5641848"/>
            <a:ext cx="212611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501639" y="5733288"/>
            <a:ext cx="196151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TCP / MongoDB</a:t>
            </a:r>
            <a:endParaRPr lang="en-US" sz="780" dirty="0"/>
          </a:p>
        </p:txBody>
      </p:sp>
      <p:sp>
        <p:nvSpPr>
          <p:cNvPr id="83" name="Shape 80"/>
          <p:cNvSpPr/>
          <p:nvPr/>
        </p:nvSpPr>
        <p:spPr>
          <a:xfrm>
            <a:off x="4545453" y="5641848"/>
            <a:ext cx="3037300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627749" y="5733288"/>
            <a:ext cx="28727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Profile, role, staff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7582753" y="5641848"/>
            <a:ext cx="3847247" cy="448056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7665049" y="5733288"/>
            <a:ext cx="3682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Hồ sơ và vai trò ứng dụng</a:t>
            </a:r>
            <a:endParaRPr lang="en-US" sz="7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Quyền sở hữu dữ liệu và tham chiếu ngoài miền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dữ liệu không sử dụng khóa ngoại hoặc truy vấn kết hợp xuyên dịch vụ.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32_database_ownership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31720"/>
            <a:ext cx="6583680" cy="3611880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990088"/>
            <a:ext cx="768096" cy="7680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39593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dịch vụ và quyền sở hữu dữ liệu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53312" y="454456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Vị trí dành cho bản đồ quyền sở hữu hoặc các lược đồ dữ liệu theo từng dịch vụ.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1216152" y="5193792"/>
            <a:ext cx="2752344" cy="310896"/>
          </a:xfrm>
          <a:prstGeom prst="rect">
            <a:avLst/>
          </a:prstGeom>
          <a:solidFill>
            <a:srgbClr val="22D3EE">
              <a:alpha val="12000"/>
            </a:srgbClr>
          </a:solidFill>
          <a:ln w="889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61872" y="5276088"/>
            <a:ext cx="266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Lược đồ theo dịch vụ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133088" y="5193792"/>
            <a:ext cx="2752344" cy="310896"/>
          </a:xfrm>
          <a:prstGeom prst="rect">
            <a:avLst/>
          </a:prstGeom>
          <a:solidFill>
            <a:srgbClr val="FBBF24">
              <a:alpha val="12000"/>
            </a:srgbClr>
          </a:solidFill>
          <a:ln w="889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78808" y="5276088"/>
            <a:ext cx="266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Tham chiếu ngoài miền</a:t>
            </a:r>
            <a:endParaRPr lang="en-US" sz="730" dirty="0"/>
          </a:p>
        </p:txBody>
      </p:sp>
      <p:sp>
        <p:nvSpPr>
          <p:cNvPr id="23" name="Text 19">
            <a:hlinkClick r:id="rId4" tooltip="docs/graduation-thesis-resources/thesis-report/chapters/04-thiet-ke-va-kien-truc-he-thong.tex"/>
          </p:cNvPr>
          <p:cNvSpPr/>
          <p:nvPr/>
        </p:nvSpPr>
        <p:spPr>
          <a:xfrm>
            <a:off x="1078992" y="5687568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docs/graduation-thesis-resources/thesis-report/chapters/04-thiet-ke-va-kien-truc-he-thong.te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72668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Quy tắc trả lời phản biện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726680" y="2907792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tenant_id xác định phạm vi, không phải khóa ngoại xuyên dịch vụ.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bill_id hoặc payment_id có thể là tham chiếu ngoài miền.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Tính nhất quán giữa các dịch vụ đi qua hợp đồng hoặc sự kiện.</a:t>
            </a:r>
            <a:endParaRPr lang="en-US" sz="11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Chuỗi guard và các lớp kiểm soát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Trình tự guard phản ánh các câu hỏi kiểm soát khác nhau trước khi yêu cầu đi vào dịch vụ nghiệp vụ.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33_guard_chain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017166" cy="2468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517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37206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UserGuard</a:t>
            </a:r>
            <a:endParaRPr lang="en-US" sz="1480" dirty="0"/>
          </a:p>
        </p:txBody>
      </p:sp>
      <p:sp>
        <p:nvSpPr>
          <p:cNvPr id="19" name="Text 15"/>
          <p:cNvSpPr/>
          <p:nvPr/>
        </p:nvSpPr>
        <p:spPr>
          <a:xfrm>
            <a:off x="923544" y="3648456"/>
            <a:ext cx="16879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Identity và token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2794406" y="372160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922422" y="2487168"/>
            <a:ext cx="2017166" cy="2468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014" y="26517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00677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087014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TenantGuard</a:t>
            </a:r>
            <a:endParaRPr lang="en-US" sz="1480" dirty="0"/>
          </a:p>
        </p:txBody>
      </p:sp>
      <p:sp>
        <p:nvSpPr>
          <p:cNvPr id="25" name="Text 20"/>
          <p:cNvSpPr/>
          <p:nvPr/>
        </p:nvSpPr>
        <p:spPr>
          <a:xfrm>
            <a:off x="3087014" y="3648456"/>
            <a:ext cx="16879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 context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4957877" y="372160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085893" y="2487168"/>
            <a:ext cx="2017166" cy="2468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485" y="26517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64147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250485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PermissionGuard</a:t>
            </a:r>
            <a:endParaRPr lang="en-US" sz="1480" dirty="0"/>
          </a:p>
        </p:txBody>
      </p:sp>
      <p:sp>
        <p:nvSpPr>
          <p:cNvPr id="31" name="Text 25"/>
          <p:cNvSpPr/>
          <p:nvPr/>
        </p:nvSpPr>
        <p:spPr>
          <a:xfrm>
            <a:off x="5250485" y="3648456"/>
            <a:ext cx="16879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RBAC permission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7121347" y="372160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249363" y="2487168"/>
            <a:ext cx="2017166" cy="2468880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265176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82761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7413955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Subscription context</a:t>
            </a:r>
            <a:endParaRPr lang="en-US" sz="1480" dirty="0"/>
          </a:p>
        </p:txBody>
      </p:sp>
      <p:sp>
        <p:nvSpPr>
          <p:cNvPr id="37" name="Text 30"/>
          <p:cNvSpPr/>
          <p:nvPr/>
        </p:nvSpPr>
        <p:spPr>
          <a:xfrm>
            <a:off x="7413955" y="3648456"/>
            <a:ext cx="16879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Trạng thái gói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9284818" y="3721608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412834" y="2487168"/>
            <a:ext cx="2017166" cy="2468880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26" y="265176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9108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9577426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PlanFeatureGuard</a:t>
            </a:r>
            <a:endParaRPr lang="en-US" sz="1480" dirty="0"/>
          </a:p>
        </p:txBody>
      </p:sp>
      <p:sp>
        <p:nvSpPr>
          <p:cNvPr id="43" name="Text 35"/>
          <p:cNvSpPr/>
          <p:nvPr/>
        </p:nvSpPr>
        <p:spPr>
          <a:xfrm>
            <a:off x="9577426" y="3648456"/>
            <a:ext cx="16879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Feature entitlement</a:t>
            </a:r>
            <a:endParaRPr lang="en-US" sz="1080" dirty="0"/>
          </a:p>
        </p:txBody>
      </p:sp>
      <p:sp>
        <p:nvSpPr>
          <p:cNvPr id="44" name="Text 36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Customer session sử dụng guard riêng; Super Admin chỉ bypass trong các trường hợp được thiết kế rõ.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Danh mục chủ đề Kafka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Năm chủ đề chuẩn được định nghĩa tập trung trong thư viện hằng số.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34_kafka_registry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267712"/>
            <a:ext cx="2761918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359152"/>
            <a:ext cx="25973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Topic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3520870" y="2267712"/>
            <a:ext cx="2510835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3166" y="2359152"/>
            <a:ext cx="234624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Producer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6031705" y="2267712"/>
            <a:ext cx="5398295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14001" y="2359152"/>
            <a:ext cx="52337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Consumer / tác dụng phụ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58952" y="2880360"/>
            <a:ext cx="2761918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2971800"/>
            <a:ext cx="25973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order.confirmed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3520870" y="2880360"/>
            <a:ext cx="2510835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03166" y="2971800"/>
            <a:ext cx="234624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6031705" y="2880360"/>
            <a:ext cx="5398295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14001" y="2971800"/>
            <a:ext cx="52337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 tạo KDS projection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758952" y="3493008"/>
            <a:ext cx="2761918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3584448"/>
            <a:ext cx="25973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order.status_changed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3520870" y="3493008"/>
            <a:ext cx="2510835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3166" y="3584448"/>
            <a:ext cx="234624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031705" y="3493008"/>
            <a:ext cx="5398295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14001" y="3584448"/>
            <a:ext cx="52337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Bridge hoặc client update phù hợp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758952" y="4105656"/>
            <a:ext cx="2761918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1248" y="4197096"/>
            <a:ext cx="25973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payment.completed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3520870" y="4105656"/>
            <a:ext cx="2510835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03166" y="4197096"/>
            <a:ext cx="234624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6031705" y="4105656"/>
            <a:ext cx="5398295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14001" y="4197096"/>
            <a:ext cx="52337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hoàn tất bill/session; BFF realtime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758952" y="4718304"/>
            <a:ext cx="2761918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4809744"/>
            <a:ext cx="25973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kitchen.sla_warning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3520870" y="4718304"/>
            <a:ext cx="2510835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03166" y="4809744"/>
            <a:ext cx="234624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Kitchen</a:t>
            </a:r>
            <a:endParaRPr lang="en-US" sz="920" dirty="0"/>
          </a:p>
        </p:txBody>
      </p:sp>
      <p:sp>
        <p:nvSpPr>
          <p:cNvPr id="43" name="Shape 40"/>
          <p:cNvSpPr/>
          <p:nvPr/>
        </p:nvSpPr>
        <p:spPr>
          <a:xfrm>
            <a:off x="6031705" y="4718304"/>
            <a:ext cx="5398295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14001" y="4809744"/>
            <a:ext cx="52337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BFF realtime và cảnh báo vận hành</a:t>
            </a:r>
            <a:endParaRPr lang="en-US" sz="920" dirty="0"/>
          </a:p>
        </p:txBody>
      </p:sp>
      <p:sp>
        <p:nvSpPr>
          <p:cNvPr id="45" name="Shape 42"/>
          <p:cNvSpPr/>
          <p:nvPr/>
        </p:nvSpPr>
        <p:spPr>
          <a:xfrm>
            <a:off x="758952" y="5330952"/>
            <a:ext cx="2761918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1248" y="5422392"/>
            <a:ext cx="25973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tenant.created</a:t>
            </a:r>
            <a:endParaRPr lang="en-US" sz="920" dirty="0"/>
          </a:p>
        </p:txBody>
      </p:sp>
      <p:sp>
        <p:nvSpPr>
          <p:cNvPr id="47" name="Shape 44"/>
          <p:cNvSpPr/>
          <p:nvPr/>
        </p:nvSpPr>
        <p:spPr>
          <a:xfrm>
            <a:off x="3520870" y="5330952"/>
            <a:ext cx="2510835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03166" y="5422392"/>
            <a:ext cx="234624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SaaS</a:t>
            </a:r>
            <a:endParaRPr lang="en-US" sz="920" dirty="0"/>
          </a:p>
        </p:txBody>
      </p:sp>
      <p:sp>
        <p:nvSpPr>
          <p:cNvPr id="49" name="Shape 46"/>
          <p:cNvSpPr/>
          <p:nvPr/>
        </p:nvSpPr>
        <p:spPr>
          <a:xfrm>
            <a:off x="6031705" y="5330952"/>
            <a:ext cx="5398295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14001" y="5422392"/>
            <a:ext cx="52337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Catalog hoặc tác dụng phụ cấp phát</a:t>
            </a:r>
            <a:endParaRPr lang="en-US" sz="9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Bản đồ sử dụng Redis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Redis phục vụ nhiều vai trò nhưng không phải nguồn sự thật chung cho toàn hệ thống.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35_redis_usage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267712"/>
            <a:ext cx="2724523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359152"/>
            <a:ext cx="25599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Phạm vi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3483475" y="2267712"/>
            <a:ext cx="4313828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5771" y="2359152"/>
            <a:ext cx="41492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Vai trò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7797303" y="2267712"/>
            <a:ext cx="3632697" cy="612648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79599" y="2359152"/>
            <a:ext cx="34681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Nguồn dữ liệu đúng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58952" y="2880360"/>
            <a:ext cx="2724523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2971800"/>
            <a:ext cx="25599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Customer session / cart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3483475" y="2880360"/>
            <a:ext cx="4313828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65771" y="2971800"/>
            <a:ext cx="41492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Trạng thái phiên khi vận hành và giỏ dùng chung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7797303" y="2880360"/>
            <a:ext cx="3632697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79599" y="2971800"/>
            <a:ext cx="34681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domain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758952" y="3493008"/>
            <a:ext cx="2724523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3584448"/>
            <a:ext cx="25599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KDS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3483475" y="3493008"/>
            <a:ext cx="4313828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65771" y="3584448"/>
            <a:ext cx="41492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Ticket, queue, index và dedupe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7797303" y="3493008"/>
            <a:ext cx="3632697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79599" y="3584448"/>
            <a:ext cx="34681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event + Kitchen projection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758952" y="4105656"/>
            <a:ext cx="2724523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1248" y="4197096"/>
            <a:ext cx="25599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Menu cache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3483475" y="4105656"/>
            <a:ext cx="4313828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65771" y="4197096"/>
            <a:ext cx="41492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Tăng tốc đường đọc thực đơn công khai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7797303" y="4105656"/>
            <a:ext cx="3632697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79599" y="4197096"/>
            <a:ext cx="34681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Catalog database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758952" y="4718304"/>
            <a:ext cx="2724523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4809744"/>
            <a:ext cx="25599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Auth cache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3483475" y="4718304"/>
            <a:ext cx="4313828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65771" y="4809744"/>
            <a:ext cx="41492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Cache kết quả xác minh token</a:t>
            </a:r>
            <a:endParaRPr lang="en-US" sz="920" dirty="0"/>
          </a:p>
        </p:txBody>
      </p:sp>
      <p:sp>
        <p:nvSpPr>
          <p:cNvPr id="43" name="Shape 40"/>
          <p:cNvSpPr/>
          <p:nvPr/>
        </p:nvSpPr>
        <p:spPr>
          <a:xfrm>
            <a:off x="7797303" y="4718304"/>
            <a:ext cx="3632697" cy="612648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79599" y="4809744"/>
            <a:ext cx="34681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Authorizer / Keycloak</a:t>
            </a:r>
            <a:endParaRPr lang="en-US" sz="920" dirty="0"/>
          </a:p>
        </p:txBody>
      </p:sp>
      <p:sp>
        <p:nvSpPr>
          <p:cNvPr id="45" name="Shape 42"/>
          <p:cNvSpPr/>
          <p:nvPr/>
        </p:nvSpPr>
        <p:spPr>
          <a:xfrm>
            <a:off x="758952" y="5330952"/>
            <a:ext cx="2724523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1248" y="5422392"/>
            <a:ext cx="25599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Realtime</a:t>
            </a:r>
            <a:endParaRPr lang="en-US" sz="920" dirty="0"/>
          </a:p>
        </p:txBody>
      </p:sp>
      <p:sp>
        <p:nvSpPr>
          <p:cNvPr id="47" name="Shape 44"/>
          <p:cNvSpPr/>
          <p:nvPr/>
        </p:nvSpPr>
        <p:spPr>
          <a:xfrm>
            <a:off x="3483475" y="5330952"/>
            <a:ext cx="4313828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565771" y="5422392"/>
            <a:ext cx="41492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Pub/Sub hoặc hint cập nhật</a:t>
            </a:r>
            <a:endParaRPr lang="en-US" sz="920" dirty="0"/>
          </a:p>
        </p:txBody>
      </p:sp>
      <p:sp>
        <p:nvSpPr>
          <p:cNvPr id="49" name="Shape 46"/>
          <p:cNvSpPr/>
          <p:nvPr/>
        </p:nvSpPr>
        <p:spPr>
          <a:xfrm>
            <a:off x="7797303" y="5330952"/>
            <a:ext cx="3632697" cy="612648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79599" y="5422392"/>
            <a:ext cx="34681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Domain state tương ứng</a:t>
            </a:r>
            <a:endParaRPr lang="en-US" sz="9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F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Confirm Saga: sơ đồ chi tiết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Dùng khi hội đồng hỏi trực tiếp về nhánh lỗi sau khi Catalog đã trừ tồn kho.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36_saga_detail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04288"/>
            <a:ext cx="10671048" cy="3657600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28" y="2962656"/>
            <a:ext cx="768096" cy="7680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3931920"/>
            <a:ext cx="9665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Confirm Saga và nhánh bù trừ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53312" y="4517136"/>
            <a:ext cx="9482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Vị trí dành cho sơ đồ chi tiết hơn slide chính: lệnh, khóa lũy đẳng, outbox và nhánh bù trừ.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1216152" y="5212080"/>
            <a:ext cx="3142488" cy="310896"/>
          </a:xfrm>
          <a:prstGeom prst="rect">
            <a:avLst/>
          </a:prstGeom>
          <a:solidFill>
            <a:srgbClr val="22D3EE">
              <a:alpha val="12000"/>
            </a:srgbClr>
          </a:solidFill>
          <a:ln w="889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61872" y="5294376"/>
            <a:ext cx="3051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confirm-order:{orderId}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523232" y="5212080"/>
            <a:ext cx="3142488" cy="310896"/>
          </a:xfrm>
          <a:prstGeom prst="rect">
            <a:avLst/>
          </a:prstGeom>
          <a:solidFill>
            <a:srgbClr val="34D399">
              <a:alpha val="12000"/>
            </a:srgbClr>
          </a:solidFill>
          <a:ln w="889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68952" y="5294376"/>
            <a:ext cx="3051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order.confirmed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7830312" y="5212080"/>
            <a:ext cx="3142488" cy="310896"/>
          </a:xfrm>
          <a:prstGeom prst="rect">
            <a:avLst/>
          </a:prstGeom>
          <a:solidFill>
            <a:srgbClr val="FBBF24">
              <a:alpha val="12000"/>
            </a:srgbClr>
          </a:solidFill>
          <a:ln w="889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76032" y="5294376"/>
            <a:ext cx="3051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confirm-order-compensation</a:t>
            </a:r>
            <a:endParaRPr lang="en-US" sz="730" dirty="0"/>
          </a:p>
        </p:txBody>
      </p:sp>
      <p:sp>
        <p:nvSpPr>
          <p:cNvPr id="25" name="Text 21">
            <a:hlinkClick r:id="rId4" tooltip="docs/graduation-thesis-resources/thesis-report/assets/diagrams/chapter5-order-confirm-stock.mmd"/>
          </p:cNvPr>
          <p:cNvSpPr/>
          <p:nvPr/>
        </p:nvSpPr>
        <p:spPr>
          <a:xfrm>
            <a:off x="1078992" y="570585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docs/graduation-thesis-resources/thesis-report/assets/diagrams/chapter5-order-confirm-stock.m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Cầu nối thanh toán và hoàn tất phiên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Chi tiết đường sự kiện từ Payment tới Order và hành vi khi sự kiện bị phát lại.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37_payment_detail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517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37206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23544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 record</a:t>
            </a:r>
            <a:endParaRPr lang="en-US" sz="1320" dirty="0"/>
          </a:p>
        </p:txBody>
      </p:sp>
      <p:sp>
        <p:nvSpPr>
          <p:cNvPr id="19" name="Text 15"/>
          <p:cNvSpPr/>
          <p:nvPr/>
        </p:nvSpPr>
        <p:spPr>
          <a:xfrm>
            <a:off x="923544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 xác định settlement hợp lệ.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2794406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922422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014" y="26517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00677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087014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Outbox</a:t>
            </a:r>
            <a:endParaRPr lang="en-US" sz="1320" dirty="0"/>
          </a:p>
        </p:txBody>
      </p:sp>
      <p:sp>
        <p:nvSpPr>
          <p:cNvPr id="25" name="Text 20"/>
          <p:cNvSpPr/>
          <p:nvPr/>
        </p:nvSpPr>
        <p:spPr>
          <a:xfrm>
            <a:off x="3087014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Ghi payment.completed sau transaction cục bộ.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4957877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085893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485" y="265176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64147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250485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consumer</a:t>
            </a:r>
            <a:endParaRPr lang="en-US" sz="1320" dirty="0"/>
          </a:p>
        </p:txBody>
      </p:sp>
      <p:sp>
        <p:nvSpPr>
          <p:cNvPr id="31" name="Text 25"/>
          <p:cNvSpPr/>
          <p:nvPr/>
        </p:nvSpPr>
        <p:spPr>
          <a:xfrm>
            <a:off x="5250485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Parse payload và gọi BillService.markPaid.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7121347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249363" y="2487168"/>
            <a:ext cx="2017166" cy="2487168"/>
          </a:xfrm>
          <a:prstGeom prst="rect">
            <a:avLst/>
          </a:prstGeom>
          <a:solidFill>
            <a:srgbClr val="18181B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265176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82761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7413955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Idempotent finalization</a:t>
            </a:r>
            <a:endParaRPr lang="en-US" sz="1320" dirty="0"/>
          </a:p>
        </p:txBody>
      </p:sp>
      <p:sp>
        <p:nvSpPr>
          <p:cNvPr id="37" name="Text 30"/>
          <p:cNvSpPr/>
          <p:nvPr/>
        </p:nvSpPr>
        <p:spPr>
          <a:xfrm>
            <a:off x="7413955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Bill đã PAID vẫn hoàn tất side effect còn thiếu.</a:t>
            </a:r>
            <a:endParaRPr lang="en-US" sz="980" dirty="0"/>
          </a:p>
        </p:txBody>
      </p:sp>
      <p:sp>
        <p:nvSpPr>
          <p:cNvPr id="38" name="Shape 31"/>
          <p:cNvSpPr/>
          <p:nvPr/>
        </p:nvSpPr>
        <p:spPr>
          <a:xfrm>
            <a:off x="9284818" y="3730752"/>
            <a:ext cx="109728" cy="0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412834" y="2487168"/>
            <a:ext cx="2017166" cy="2487168"/>
          </a:xfrm>
          <a:prstGeom prst="rect">
            <a:avLst/>
          </a:prstGeom>
          <a:solidFill>
            <a:srgbClr val="0B1320"/>
          </a:solidFill>
          <a:ln w="10160">
            <a:solidFill>
              <a:srgbClr val="27272A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26" y="265176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91088" y="26883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9577426" y="3145536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 / table</a:t>
            </a:r>
            <a:endParaRPr lang="en-US" sz="1320" dirty="0"/>
          </a:p>
        </p:txBody>
      </p:sp>
      <p:sp>
        <p:nvSpPr>
          <p:cNvPr id="43" name="Text 35"/>
          <p:cNvSpPr/>
          <p:nvPr/>
        </p:nvSpPr>
        <p:spPr>
          <a:xfrm>
            <a:off x="9577426" y="3648456"/>
            <a:ext cx="1687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Xóa session/cart và chuyển bàn sang CLEANING.</a:t>
            </a:r>
            <a:endParaRPr lang="en-US" sz="9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Vị trí hiện vật: trạng thái, log/trace và kết quả kiểm thử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 vùng này dành cho hiện vật thực tế được thu và kiểm tra trước buổi bảo vệ.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38_evidence_assets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359152"/>
            <a:ext cx="3364992" cy="3566160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2788920"/>
            <a:ext cx="658368" cy="6583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14984" y="3675888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34D39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Trạng thái dữ liệu sau luồng demo</a:t>
            </a:r>
            <a:endParaRPr lang="en-US" sz="1520" dirty="0"/>
          </a:p>
        </p:txBody>
      </p:sp>
      <p:sp>
        <p:nvSpPr>
          <p:cNvPr id="18" name="Text 14"/>
          <p:cNvSpPr/>
          <p:nvPr/>
        </p:nvSpPr>
        <p:spPr>
          <a:xfrm>
            <a:off x="1078992" y="4297680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Minh chứng trạng thái Order, Bill/Payment, KDS hoặc outbox sau demo</a:t>
            </a:r>
            <a:endParaRPr lang="en-US" sz="1060" dirty="0"/>
          </a:p>
        </p:txBody>
      </p:sp>
      <p:sp>
        <p:nvSpPr>
          <p:cNvPr id="19" name="Text 15">
            <a:hlinkClick r:id="rId4" tooltip="apps/order/src/app/modules/order/tests/order-payment-finalization.integration.spec.ts"/>
          </p:cNvPr>
          <p:cNvSpPr/>
          <p:nvPr/>
        </p:nvSpPr>
        <p:spPr>
          <a:xfrm>
            <a:off x="1353312" y="5468112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apps/order/src/app/modules/order/tests/order-payment-finalization.integration.spec.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416552" y="2359152"/>
            <a:ext cx="3364992" cy="3566160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864" y="2788920"/>
            <a:ext cx="658368" cy="6583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72584" y="3675888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BBF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Log hoặc trace của luồng liên dịch vụ</a:t>
            </a:r>
            <a:endParaRPr lang="en-US" sz="1520" dirty="0"/>
          </a:p>
        </p:txBody>
      </p:sp>
      <p:sp>
        <p:nvSpPr>
          <p:cNvPr id="23" name="Text 18"/>
          <p:cNvSpPr/>
          <p:nvPr/>
        </p:nvSpPr>
        <p:spPr>
          <a:xfrm>
            <a:off x="4736592" y="4297680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Minh chứng đường đi liên dịch vụ, event và correlation</a:t>
            </a:r>
            <a:endParaRPr lang="en-US" sz="1060" dirty="0"/>
          </a:p>
        </p:txBody>
      </p:sp>
      <p:sp>
        <p:nvSpPr>
          <p:cNvPr id="24" name="Text 19">
            <a:hlinkClick r:id="rId6" tooltip="libs/observability"/>
          </p:cNvPr>
          <p:cNvSpPr/>
          <p:nvPr/>
        </p:nvSpPr>
        <p:spPr>
          <a:xfrm>
            <a:off x="5010912" y="5468112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6" invalidUrl="" action="" tgtFrame="" tooltip="libs/observabilit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8074152" y="2359152"/>
            <a:ext cx="3364992" cy="3566160"/>
          </a:xfrm>
          <a:prstGeom prst="rect">
            <a:avLst/>
          </a:prstGeom>
          <a:solidFill>
            <a:srgbClr val="111114"/>
          </a:solidFill>
          <a:ln w="10160">
            <a:solidFill>
              <a:srgbClr val="3F3F4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464" y="2788920"/>
            <a:ext cx="658368" cy="6583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30184" y="3675888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Kết quả kiểm thử tự động</a:t>
            </a:r>
            <a:endParaRPr lang="en-US" sz="1520" dirty="0"/>
          </a:p>
        </p:txBody>
      </p:sp>
      <p:sp>
        <p:nvSpPr>
          <p:cNvPr id="28" name="Text 22"/>
          <p:cNvSpPr/>
          <p:nvPr/>
        </p:nvSpPr>
        <p:spPr>
          <a:xfrm>
            <a:off x="8394192" y="4297680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Minh chứng kiểm thử cho Saga, KDS, payment bridge và guard</a:t>
            </a:r>
            <a:endParaRPr lang="en-US" sz="1060" dirty="0"/>
          </a:p>
        </p:txBody>
      </p:sp>
      <p:sp>
        <p:nvSpPr>
          <p:cNvPr id="29" name="Text 23">
            <a:hlinkClick r:id="rId8" tooltip="docs/graduation-thesis-resources/thesis-report/assets/test-evidence/appendix-d-order-saga-tests.txt"/>
          </p:cNvPr>
          <p:cNvSpPr/>
          <p:nvPr/>
        </p:nvSpPr>
        <p:spPr>
          <a:xfrm>
            <a:off x="8668512" y="5468112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8" invalidUrl="" action="" tgtFrame="" tooltip="docs/graduation-thesis-resources/thesis-report/assets/test-evidence/appendix-d-order-saga-tests.tx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nguồn tham chiếu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Tổng quan mức độ truy vết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Số liệu tóm tắt phục vụ trình bày; ma trận đầy đủ vẫn nằm trong tài liệu kiểm thử.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39_traceability</a:t>
            </a:r>
            <a:endParaRPr lang="en-US" sz="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395728"/>
            <a:ext cx="603504" cy="6035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" y="32461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758952" y="40416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Đã bao phủ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2395728"/>
            <a:ext cx="603504" cy="6035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47872" y="32461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3547872" y="40416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Bao phủ một phần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2395728"/>
            <a:ext cx="603504" cy="6035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6792" y="32461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718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6336792" y="40416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Khoảng trống hiện thực</a:t>
            </a:r>
            <a:endParaRPr lang="en-US" sz="11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84" y="2395728"/>
            <a:ext cx="603504" cy="6035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25712" y="32461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19"/>
          <p:cNvSpPr/>
          <p:nvPr/>
        </p:nvSpPr>
        <p:spPr>
          <a:xfrm>
            <a:off x="9125712" y="40416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Hoãn theo giai đoạn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Tổng cộng 52 dòng P0/P1; các dòng bao phủ một phần còn cần dữ liệu kiểm thử, bằng chứng toàn ngăn xếp hoặc trường hợp biên cụ thể.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780276"/>
            <a:ext cx="12191695" cy="7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" y="5303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PHỤ LỤC J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969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FAFAF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Các câu hỏi phản biện cần trả lời ngắn gọn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758952" y="1664208"/>
            <a:ext cx="1056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Bảng này chỉ mở khi hội đồng đặt câu hỏi; không nằm trong mạch nói chính.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8368" y="6364224"/>
            <a:ext cx="237744" cy="237744"/>
          </a:xfrm>
          <a:prstGeom prst="rect">
            <a:avLst/>
          </a:prstGeom>
          <a:solidFill>
            <a:srgbClr val="111114"/>
          </a:solidFill>
          <a:ln w="8890">
            <a:solidFill>
              <a:srgbClr val="3F3F4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6414516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6501384"/>
            <a:ext cx="50292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639622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TRƯỜNG ĐẠI HỌC CÔNG NGHỆ THÔNG TIN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987552" y="6510528"/>
            <a:ext cx="3246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171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ĐẠI HỌC QUỐC GIA TP. HỒ CHÍ MINH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189720" y="645566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40_reviewer_questions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58952" y="2103120"/>
            <a:ext cx="3283399" cy="694944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2194560"/>
            <a:ext cx="3118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Câu hỏi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042351" y="2103120"/>
            <a:ext cx="7387649" cy="694944"/>
          </a:xfrm>
          <a:prstGeom prst="rect">
            <a:avLst/>
          </a:prstGeom>
          <a:solidFill>
            <a:srgbClr val="0B1320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24647" y="2194560"/>
            <a:ext cx="72230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Trả lời trọng tâm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58952" y="2798064"/>
            <a:ext cx="3283399" cy="694944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2889504"/>
            <a:ext cx="3118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Tại sao không dùng kiến trúc nguyên khối mô-đun?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042351" y="2798064"/>
            <a:ext cx="7387649" cy="694944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24647" y="2889504"/>
            <a:ext cx="72230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Ranh giới miền nghiệp vụ phù hợp với vi dịch vụ, nhưng QRTable thừa nhận chi phí phân tán và không coi đây là lựa chọn duy nhất.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58952" y="3493008"/>
            <a:ext cx="3283399" cy="694944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" y="3584448"/>
            <a:ext cx="3118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WebSocket có phải nguồn sự thật?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4042351" y="3493008"/>
            <a:ext cx="7387649" cy="694944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24647" y="3584448"/>
            <a:ext cx="72230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Không. WebSocket chỉ phát tín hiệu cập nhật; client tải lại trạng thái từ dịch vụ sở hữu dữ liệu.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758952" y="4187952"/>
            <a:ext cx="3283399" cy="694944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4279392"/>
            <a:ext cx="3118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Điều gì xảy ra nếu đã trừ tồn kho rồi Order lỗi?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4042351" y="4187952"/>
            <a:ext cx="7387649" cy="694944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24647" y="4279392"/>
            <a:ext cx="72230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Order gọi Catalog hoàn tồn kho bằng khóa lũy đẳng bù trừ; kiểm thử đơn vị/hợp đồng đã xác minh, tiêm lỗi tích hợp đầy đủ còn thiếu.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758952" y="4882896"/>
            <a:ext cx="3283399" cy="694944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1248" y="4974336"/>
            <a:ext cx="3118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Hệ thống đã sẵn sàng vận hành thực tế chưa?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4042351" y="4882896"/>
            <a:ext cx="7387649" cy="694944"/>
          </a:xfrm>
          <a:prstGeom prst="rect">
            <a:avLst/>
          </a:prstGeom>
          <a:solidFill>
            <a:srgbClr val="111114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24647" y="4974336"/>
            <a:ext cx="72230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Chưa kết luận. Repo có nền tảng triển khai và giám sát, nhưng còn thiếu bằng chứng vận hành công khai, đo tải, sao lưu/khôi phục và gia cố bảo mật.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758952" y="5577840"/>
            <a:ext cx="3283399" cy="694944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1248" y="5669280"/>
            <a:ext cx="3118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Đóng góp của đề tài nằm ở đâu?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4042351" y="5577840"/>
            <a:ext cx="7387649" cy="694944"/>
          </a:xfrm>
          <a:prstGeom prst="rect">
            <a:avLst/>
          </a:prstGeom>
          <a:solidFill>
            <a:srgbClr val="18181B"/>
          </a:solidFill>
          <a:ln w="698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24647" y="5669280"/>
            <a:ext cx="72230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1A1A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Ở mô hình tích hợp luồng F&amp;B, ranh giới dịch vụ, cơ chế phân tán và bộ bằng chứng truy vết, không phải ở mã QR riêng lẻ.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Trường Đại học Công nghệ Thông 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Nghiên cứu và xây dựng nền tảng POS theo mô hình SaaS tích hợp đặt món qua mã QR dựa trên kiến trúc vi dịch vụ</dc:title>
  <dc:subject>QRTable graduation thesis defense deck</dc:subject>
  <dc:creator>Võ Đình Minh Quân</dc:creator>
  <cp:lastModifiedBy>Võ Đình Minh Quân</cp:lastModifiedBy>
  <cp:revision>1</cp:revision>
  <dcterms:created xsi:type="dcterms:W3CDTF">2026-06-15T18:54:27Z</dcterms:created>
  <dcterms:modified xsi:type="dcterms:W3CDTF">2026-06-15T18:54:27Z</dcterms:modified>
</cp:coreProperties>
</file>