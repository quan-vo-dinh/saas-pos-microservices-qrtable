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tên đề tài chính thức, không thêm claim kỹ thuật.
Asset cần thay:
- GLOBAL_SCHOOL_LOGO
- Thay ô logo trên bìa bằng logo UIT chính thức; giữ nguyên tỉ lệ, không đổi màu logo trái guideline.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chính: QRTable là bài toán phối hợp trạng thái và ranh giới hệ thống, không chỉ là một giao diện gọi món.
Không dùng các claim chưa có bằng chứng như "cô lập tuyệt đối", "chịu tải lớn" hoặc "fault isolation hoàn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dẫn nhập cho phần kiến trúc. Không trình bày công nghệ ở đây.
Thuật ngữ nói:
- "đa đơn vị thuê bao" thay cho việc lặp lại "multi-tenant";
- "gần thời gian thực" thay vì khẳng định real-time tuyệt đối;
- "nhất quán phân tán" gắn với retry, duplicate và lỗi từng phần;
- phân biệt RBAC, tenant isolation và plan entitlement.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quyết định theo hai vế: lý do phù hợp và chi phí phát sinh.
Không nói vi dịch vụ "tốt hơn" kiến trúc nguyên khối trong mọi trường hợp.
Không claim mở rộng độc lập hoặc cô lập lỗi đã được đo lường nếu chưa có benchmark và hiện vật vận hành tương 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là chủ đích và sẽ được giữ cho tới khi người dùng thay diagram riêng.
Asset: SLIDE_ORDER_CONFIRM_SAGA
Mục đích: Minh họa luồng thành công, nhánh lỗi và bù trừ của Order Confirm Saga
Nội dung bắt buộc:
- Order khóa đơn PENDING và kiểm tra hóa đơn OPEN
- Catalog trừ tồn kho qua TCP
- Order ghi PROCESSING cùng outbox order.confirmed
- Catalog hoàn tồn kho nếu Order commit hoặc outbox thất bại
- Biên idempotency cho xác nhận và bù trừ
Nguồn:
- docs/graduation-thesis-resources/thesis-report/assets/diagrams/chapter5-order-confirm-stock.mmd
- docs/graduation-thesis-resources/thesis-report/assets/figures/chapter5-order-confirm-stock.pdf
- docs/testing/phase-5/saga-validation-strategy.md
- apps/order/src/app/modules/order/services/order-confirm-saga.service.ts
Hướng dẫn thay:
Thay vùng visual bằng sequence/state diagram riêng. Giữ đủ happy path, lỗi sau khi trừ tồn kho, compensation và idempotency boundary.
Claim được phép:
- Có bằng chứng unit/contract cho orchestration, replay, Catalog error và compensation.
- Có opt-in integration cho ranh giới tồn kho Order-Catalog.
Không claim:
- Full production-grade Saga hardening.
- Exactly-once messaging.
- Live deterministic fault injection đầy đủ trên toàn ngăn xếp.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file:///Users/vodinhquan/Developer/Graduation-Thesis/graduation-thesis/qr-order/docs/graduation-thesis-resources/thesis-report/assets/figures/chapter5-order-confirm-stock.pdf" TargetMode="External"/><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90B"/>
          </a:solidFill>
          <a:ln w="12700">
            <a:solidFill>
              <a:srgbClr val="09090B"/>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6780276"/>
            <a:ext cx="12191695" cy="77724"/>
          </a:xfrm>
          <a:prstGeom prst="rect">
            <a:avLst/>
          </a:prstGeom>
        </p:spPr>
      </p:pic>
      <p:sp>
        <p:nvSpPr>
          <p:cNvPr id="4" name="Text 1"/>
          <p:cNvSpPr/>
          <p:nvPr/>
        </p:nvSpPr>
        <p:spPr>
          <a:xfrm>
            <a:off x="758952" y="566928"/>
            <a:ext cx="5029200" cy="210312"/>
          </a:xfrm>
          <a:prstGeom prst="rect">
            <a:avLst/>
          </a:prstGeom>
          <a:noFill/>
          <a:ln/>
        </p:spPr>
        <p:txBody>
          <a:bodyPr wrap="square" lIns="0" tIns="0" rIns="0" bIns="0" rtlCol="0" anchor="ctr"/>
          <a:lstStyle/>
          <a:p>
            <a:pPr indent="0" marL="0">
              <a:buNone/>
            </a:pPr>
            <a:r>
              <a:rPr lang="en-US" sz="1150" b="1" spc="180" kern="0" dirty="0">
                <a:solidFill>
                  <a:srgbClr val="22D3EE"/>
                </a:solidFill>
                <a:latin typeface="Menlo" pitchFamily="34" charset="0"/>
                <a:ea typeface="Menlo" pitchFamily="34" charset="-122"/>
                <a:cs typeface="Menlo" pitchFamily="34" charset="-120"/>
              </a:rPr>
              <a:t>KHÓA LUẬN TỐT NGHIỆP · 2026</a:t>
            </a:r>
            <a:endParaRPr lang="en-US" sz="1150" dirty="0"/>
          </a:p>
        </p:txBody>
      </p:sp>
      <p:sp>
        <p:nvSpPr>
          <p:cNvPr id="5" name="Text 2"/>
          <p:cNvSpPr/>
          <p:nvPr/>
        </p:nvSpPr>
        <p:spPr>
          <a:xfrm>
            <a:off x="758952" y="1325880"/>
            <a:ext cx="7726680" cy="2011680"/>
          </a:xfrm>
          <a:prstGeom prst="rect">
            <a:avLst/>
          </a:prstGeom>
          <a:noFill/>
          <a:ln/>
        </p:spPr>
        <p:txBody>
          <a:bodyPr wrap="square" lIns="0" tIns="0" rIns="0" bIns="0" rtlCol="0" anchor="ctr">
            <a:normAutofit/>
          </a:bodyPr>
          <a:lstStyle/>
          <a:p>
            <a:pPr indent="0" marL="0">
              <a:buNone/>
            </a:pPr>
            <a:r>
              <a:rPr lang="en-US" sz="3150" b="1" dirty="0">
                <a:solidFill>
                  <a:srgbClr val="FAFAFA"/>
                </a:solidFill>
                <a:latin typeface="Avenir Next" pitchFamily="34" charset="0"/>
                <a:ea typeface="Avenir Next" pitchFamily="34" charset="-122"/>
                <a:cs typeface="Avenir Next" pitchFamily="34" charset="-120"/>
              </a:rPr>
              <a:t>Nghiên cứu và xây dựng nền tảng POS theo mô hình SaaS tích hợp đặt món qua mã QR dựa trên kiến trúc vi dịch vụ</a:t>
            </a:r>
            <a:endParaRPr lang="en-US" sz="3150" dirty="0"/>
          </a:p>
        </p:txBody>
      </p:sp>
      <p:sp>
        <p:nvSpPr>
          <p:cNvPr id="6" name="Text 3"/>
          <p:cNvSpPr/>
          <p:nvPr/>
        </p:nvSpPr>
        <p:spPr>
          <a:xfrm>
            <a:off x="758952" y="3675888"/>
            <a:ext cx="6583680" cy="320040"/>
          </a:xfrm>
          <a:prstGeom prst="rect">
            <a:avLst/>
          </a:prstGeom>
          <a:noFill/>
          <a:ln/>
        </p:spPr>
        <p:txBody>
          <a:bodyPr wrap="square" lIns="0" tIns="0" rIns="0" bIns="0" rtlCol="0" anchor="ctr"/>
          <a:lstStyle/>
          <a:p>
            <a:pPr indent="0" marL="0">
              <a:buNone/>
            </a:pPr>
            <a:r>
              <a:rPr lang="en-US" sz="1150" b="1" dirty="0">
                <a:solidFill>
                  <a:srgbClr val="34D399"/>
                </a:solidFill>
                <a:latin typeface="Menlo" pitchFamily="34" charset="0"/>
                <a:ea typeface="Menlo" pitchFamily="34" charset="-122"/>
                <a:cs typeface="Menlo" pitchFamily="34" charset="-120"/>
              </a:rPr>
              <a:t>SaaS POS · Đặt món qua mã QR · Kiến trúc vi dịch vụ</a:t>
            </a:r>
            <a:endParaRPr lang="en-US" sz="1150" dirty="0"/>
          </a:p>
        </p:txBody>
      </p:sp>
      <p:sp>
        <p:nvSpPr>
          <p:cNvPr id="7" name="Shape 4"/>
          <p:cNvSpPr/>
          <p:nvPr/>
        </p:nvSpPr>
        <p:spPr>
          <a:xfrm>
            <a:off x="8851392" y="1078992"/>
            <a:ext cx="2487168" cy="2487168"/>
          </a:xfrm>
          <a:prstGeom prst="rect">
            <a:avLst/>
          </a:prstGeom>
          <a:solidFill>
            <a:srgbClr val="111114"/>
          </a:solidFill>
          <a:ln w="12700">
            <a:solidFill>
              <a:srgbClr val="3F3F46"/>
            </a:solidFill>
            <a:prstDash val="solid"/>
          </a:ln>
        </p:spPr>
      </p:sp>
      <p:pic>
        <p:nvPicPr>
          <p:cNvPr id="8" name="Image 1" descr="preencoded.png">    </p:cNvPr>
          <p:cNvPicPr>
            <a:picLocks noChangeAspect="1"/>
          </p:cNvPicPr>
          <p:nvPr/>
        </p:nvPicPr>
        <p:blipFill>
          <a:blip r:embed="rId3"/>
          <a:stretch>
            <a:fillRect/>
          </a:stretch>
        </p:blipFill>
        <p:spPr>
          <a:xfrm>
            <a:off x="9656064" y="1664208"/>
            <a:ext cx="877824" cy="877824"/>
          </a:xfrm>
          <a:prstGeom prst="rect">
            <a:avLst/>
          </a:prstGeom>
        </p:spPr>
      </p:pic>
      <p:sp>
        <p:nvSpPr>
          <p:cNvPr id="9" name="Text 5"/>
          <p:cNvSpPr/>
          <p:nvPr/>
        </p:nvSpPr>
        <p:spPr>
          <a:xfrm>
            <a:off x="9125712" y="2807208"/>
            <a:ext cx="1938528" cy="475488"/>
          </a:xfrm>
          <a:prstGeom prst="rect">
            <a:avLst/>
          </a:prstGeom>
          <a:noFill/>
          <a:ln/>
        </p:spPr>
        <p:txBody>
          <a:bodyPr wrap="square" lIns="0" tIns="0" rIns="0" bIns="0" rtlCol="0" anchor="ctr"/>
          <a:lstStyle/>
          <a:p>
            <a:pPr algn="ctr" indent="0" marL="0">
              <a:buNone/>
            </a:pPr>
            <a:r>
              <a:rPr lang="en-US" sz="1050" dirty="0">
                <a:solidFill>
                  <a:srgbClr val="71717A"/>
                </a:solidFill>
                <a:latin typeface="Avenir Next" pitchFamily="34" charset="0"/>
                <a:ea typeface="Avenir Next" pitchFamily="34" charset="-122"/>
                <a:cs typeface="Avenir Next" pitchFamily="34" charset="-120"/>
              </a:rPr>
              <a:t>Logo / biểu trưng</a:t>
            </a:r>
            <a:endParaRPr lang="en-US" sz="1050" dirty="0"/>
          </a:p>
          <a:p>
            <a:pPr algn="ctr" indent="0" marL="0">
              <a:buNone/>
            </a:pPr>
            <a:r>
              <a:rPr lang="en-US" sz="1050" dirty="0">
                <a:solidFill>
                  <a:srgbClr val="71717A"/>
                </a:solidFill>
                <a:latin typeface="Avenir Next" pitchFamily="34" charset="0"/>
                <a:ea typeface="Avenir Next" pitchFamily="34" charset="-122"/>
                <a:cs typeface="Avenir Next" pitchFamily="34" charset="-120"/>
              </a:rPr>
              <a:t>sẽ được thay tại đây</a:t>
            </a:r>
            <a:endParaRPr lang="en-US" sz="1050" dirty="0"/>
          </a:p>
        </p:txBody>
      </p:sp>
      <p:sp>
        <p:nvSpPr>
          <p:cNvPr id="10" name="Text 6"/>
          <p:cNvSpPr/>
          <p:nvPr/>
        </p:nvSpPr>
        <p:spPr>
          <a:xfrm>
            <a:off x="758952" y="4956048"/>
            <a:ext cx="5303520" cy="283464"/>
          </a:xfrm>
          <a:prstGeom prst="rect">
            <a:avLst/>
          </a:prstGeom>
          <a:noFill/>
          <a:ln/>
        </p:spPr>
        <p:txBody>
          <a:bodyPr wrap="square" lIns="0" tIns="0" rIns="0" bIns="0" rtlCol="0" anchor="ctr"/>
          <a:lstStyle/>
          <a:p>
            <a:pPr indent="0" marL="0">
              <a:buNone/>
            </a:pPr>
            <a:r>
              <a:rPr lang="en-US" sz="1450" b="1" dirty="0">
                <a:solidFill>
                  <a:srgbClr val="FAFAFA"/>
                </a:solidFill>
                <a:latin typeface="Avenir Next" pitchFamily="34" charset="0"/>
                <a:ea typeface="Avenir Next" pitchFamily="34" charset="-122"/>
                <a:cs typeface="Avenir Next" pitchFamily="34" charset="-120"/>
              </a:rPr>
              <a:t>Võ Đình Minh Quân · MSSV 22521193</a:t>
            </a:r>
            <a:endParaRPr lang="en-US" sz="1450" dirty="0"/>
          </a:p>
        </p:txBody>
      </p:sp>
      <p:sp>
        <p:nvSpPr>
          <p:cNvPr id="11" name="Text 7"/>
          <p:cNvSpPr/>
          <p:nvPr/>
        </p:nvSpPr>
        <p:spPr>
          <a:xfrm>
            <a:off x="758952" y="5385816"/>
            <a:ext cx="7223760" cy="274320"/>
          </a:xfrm>
          <a:prstGeom prst="rect">
            <a:avLst/>
          </a:prstGeom>
          <a:noFill/>
          <a:ln/>
        </p:spPr>
        <p:txBody>
          <a:bodyPr wrap="square" lIns="0" tIns="0" rIns="0" bIns="0" rtlCol="0" anchor="ctr"/>
          <a:lstStyle/>
          <a:p>
            <a:pPr indent="0" marL="0">
              <a:buNone/>
            </a:pPr>
            <a:r>
              <a:rPr lang="en-US" sz="1250" dirty="0">
                <a:solidFill>
                  <a:srgbClr val="A1A1AA"/>
                </a:solidFill>
                <a:latin typeface="Avenir Next" pitchFamily="34" charset="0"/>
                <a:ea typeface="Avenir Next" pitchFamily="34" charset="-122"/>
                <a:cs typeface="Avenir Next" pitchFamily="34" charset="-120"/>
              </a:rPr>
              <a:t>Khoa Hệ thống Thông tin · Giảng viên hướng dẫn: TS. Nguyễn Thanh Bình</a:t>
            </a:r>
            <a:endParaRPr lang="en-US" sz="1250" dirty="0"/>
          </a:p>
        </p:txBody>
      </p:sp>
      <p:sp>
        <p:nvSpPr>
          <p:cNvPr id="12" name="Text 8"/>
          <p:cNvSpPr/>
          <p:nvPr/>
        </p:nvSpPr>
        <p:spPr>
          <a:xfrm>
            <a:off x="758952" y="6528816"/>
            <a:ext cx="5120640" cy="146304"/>
          </a:xfrm>
          <a:prstGeom prst="rect">
            <a:avLst/>
          </a:prstGeom>
          <a:noFill/>
          <a:ln/>
        </p:spPr>
        <p:txBody>
          <a:bodyPr wrap="square" lIns="0" tIns="0" rIns="0" bIns="0" rtlCol="0" anchor="ctr"/>
          <a:lstStyle/>
          <a:p>
            <a:pPr indent="0" marL="0">
              <a:buNone/>
            </a:pPr>
            <a:r>
              <a:rPr lang="en-US" sz="850" dirty="0">
                <a:solidFill>
                  <a:srgbClr val="A1A1AA"/>
                </a:solidFill>
                <a:latin typeface="Avenir Next" pitchFamily="34" charset="0"/>
                <a:ea typeface="Avenir Next" pitchFamily="34" charset="-122"/>
                <a:cs typeface="Avenir Next" pitchFamily="34" charset="-120"/>
              </a:rPr>
              <a:t>QRTable Thesis Defense Deck</a:t>
            </a:r>
            <a:endParaRPr lang="en-US" sz="850" dirty="0"/>
          </a:p>
        </p:txBody>
      </p:sp>
      <p:sp>
        <p:nvSpPr>
          <p:cNvPr id="13" name="Text 9"/>
          <p:cNvSpPr/>
          <p:nvPr/>
        </p:nvSpPr>
        <p:spPr>
          <a:xfrm>
            <a:off x="9281160" y="6528816"/>
            <a:ext cx="2148840" cy="146304"/>
          </a:xfrm>
          <a:prstGeom prst="rect">
            <a:avLst/>
          </a:prstGeom>
          <a:noFill/>
          <a:ln/>
        </p:spPr>
        <p:txBody>
          <a:bodyPr wrap="square" lIns="0" tIns="0" rIns="0" bIns="0" rtlCol="0" anchor="ctr"/>
          <a:lstStyle/>
          <a:p>
            <a:pPr algn="r" indent="0" marL="0">
              <a:buNone/>
            </a:pPr>
            <a:r>
              <a:rPr lang="en-US" sz="850" dirty="0">
                <a:solidFill>
                  <a:srgbClr val="A1A1AA"/>
                </a:solidFill>
                <a:latin typeface="Menlo" pitchFamily="34" charset="0"/>
                <a:ea typeface="Menlo" pitchFamily="34" charset="-122"/>
                <a:cs typeface="Menlo" pitchFamily="34" charset="-120"/>
              </a:rPr>
              <a:t>01_cover</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90B"/>
          </a:solidFill>
          <a:ln w="12700">
            <a:solidFill>
              <a:srgbClr val="09090B"/>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6780276"/>
            <a:ext cx="12191695" cy="77724"/>
          </a:xfrm>
          <a:prstGeom prst="rect">
            <a:avLst/>
          </a:prstGeom>
        </p:spPr>
      </p:pic>
      <p:sp>
        <p:nvSpPr>
          <p:cNvPr id="4" name="Text 1"/>
          <p:cNvSpPr/>
          <p:nvPr/>
        </p:nvSpPr>
        <p:spPr>
          <a:xfrm>
            <a:off x="758952" y="530352"/>
            <a:ext cx="8869680" cy="201168"/>
          </a:xfrm>
          <a:prstGeom prst="rect">
            <a:avLst/>
          </a:prstGeom>
          <a:noFill/>
          <a:ln/>
        </p:spPr>
        <p:txBody>
          <a:bodyPr wrap="square" lIns="0" tIns="0" rIns="0" bIns="0" rtlCol="0" anchor="ctr"/>
          <a:lstStyle/>
          <a:p>
            <a:pPr indent="0" marL="0">
              <a:buNone/>
            </a:pPr>
            <a:r>
              <a:rPr lang="en-US" sz="1150" b="1" spc="180" kern="0" dirty="0">
                <a:solidFill>
                  <a:srgbClr val="22D3EE"/>
                </a:solidFill>
                <a:latin typeface="Menlo" pitchFamily="34" charset="0"/>
                <a:ea typeface="Menlo" pitchFamily="34" charset="-122"/>
                <a:cs typeface="Menlo" pitchFamily="34" charset="-120"/>
              </a:rPr>
              <a:t>PHẦN 1 · BỐI CẢNH VÀ BÀI TOÁN</a:t>
            </a:r>
            <a:endParaRPr lang="en-US" sz="1150" dirty="0"/>
          </a:p>
        </p:txBody>
      </p:sp>
      <p:sp>
        <p:nvSpPr>
          <p:cNvPr id="5" name="Text 2"/>
          <p:cNvSpPr/>
          <p:nvPr/>
        </p:nvSpPr>
        <p:spPr>
          <a:xfrm>
            <a:off x="758952" y="969264"/>
            <a:ext cx="10652760" cy="566928"/>
          </a:xfrm>
          <a:prstGeom prst="rect">
            <a:avLst/>
          </a:prstGeom>
          <a:noFill/>
          <a:ln/>
        </p:spPr>
        <p:txBody>
          <a:bodyPr wrap="square" lIns="0" tIns="0" rIns="0" bIns="0" rtlCol="0" anchor="ctr">
            <a:normAutofit/>
          </a:bodyPr>
          <a:lstStyle/>
          <a:p>
            <a:pPr indent="0" marL="0">
              <a:buNone/>
            </a:pPr>
            <a:r>
              <a:rPr lang="en-US" sz="3150" b="1" dirty="0">
                <a:solidFill>
                  <a:srgbClr val="FAFAFA"/>
                </a:solidFill>
                <a:latin typeface="Avenir Next" pitchFamily="34" charset="0"/>
                <a:ea typeface="Avenir Next" pitchFamily="34" charset="-122"/>
                <a:cs typeface="Avenir Next" pitchFamily="34" charset="-120"/>
              </a:rPr>
              <a:t>Bài toán hệ thống đặt ra</a:t>
            </a:r>
            <a:endParaRPr lang="en-US" sz="3150" dirty="0"/>
          </a:p>
        </p:txBody>
      </p:sp>
      <p:sp>
        <p:nvSpPr>
          <p:cNvPr id="6" name="Text 3"/>
          <p:cNvSpPr/>
          <p:nvPr/>
        </p:nvSpPr>
        <p:spPr>
          <a:xfrm>
            <a:off x="758952" y="1673352"/>
            <a:ext cx="10515600" cy="347472"/>
          </a:xfrm>
          <a:prstGeom prst="rect">
            <a:avLst/>
          </a:prstGeom>
          <a:noFill/>
          <a:ln/>
        </p:spPr>
        <p:txBody>
          <a:bodyPr wrap="square" lIns="0" tIns="0" rIns="0" bIns="0" rtlCol="0" anchor="ctr">
            <a:normAutofit/>
          </a:bodyPr>
          <a:lstStyle/>
          <a:p>
            <a:pPr indent="0" marL="0">
              <a:buNone/>
            </a:pPr>
            <a:r>
              <a:rPr lang="en-US" sz="1700" dirty="0">
                <a:solidFill>
                  <a:srgbClr val="A1A1AA"/>
                </a:solidFill>
                <a:latin typeface="Avenir Next" pitchFamily="34" charset="0"/>
                <a:ea typeface="Avenir Next" pitchFamily="34" charset="-122"/>
                <a:cs typeface="Avenir Next" pitchFamily="34" charset="-120"/>
              </a:rPr>
              <a:t>Bài toán nằm ở việc phối hợp dữ liệu, trạng thái và quyền truy cập trong toàn bộ quy trình phục vụ.</a:t>
            </a:r>
            <a:endParaRPr lang="en-US" sz="1700" dirty="0"/>
          </a:p>
        </p:txBody>
      </p:sp>
      <p:sp>
        <p:nvSpPr>
          <p:cNvPr id="7" name="Shape 4"/>
          <p:cNvSpPr/>
          <p:nvPr/>
        </p:nvSpPr>
        <p:spPr>
          <a:xfrm>
            <a:off x="758952" y="2542032"/>
            <a:ext cx="2544318" cy="3172968"/>
          </a:xfrm>
          <a:prstGeom prst="rect">
            <a:avLst/>
          </a:prstGeom>
          <a:solidFill>
            <a:srgbClr val="18181B"/>
          </a:solidFill>
          <a:ln w="10160">
            <a:solidFill>
              <a:srgbClr val="27272A"/>
            </a:solidFill>
            <a:prstDash val="solid"/>
          </a:ln>
        </p:spPr>
      </p:sp>
      <p:pic>
        <p:nvPicPr>
          <p:cNvPr id="8" name="Image 1" descr="preencoded.png">    </p:cNvPr>
          <p:cNvPicPr>
            <a:picLocks noChangeAspect="1"/>
          </p:cNvPicPr>
          <p:nvPr/>
        </p:nvPicPr>
        <p:blipFill>
          <a:blip r:embed="rId3"/>
          <a:stretch>
            <a:fillRect/>
          </a:stretch>
        </p:blipFill>
        <p:spPr>
          <a:xfrm>
            <a:off x="941832" y="2724912"/>
            <a:ext cx="292608" cy="292608"/>
          </a:xfrm>
          <a:prstGeom prst="rect">
            <a:avLst/>
          </a:prstGeom>
        </p:spPr>
      </p:pic>
      <p:sp>
        <p:nvSpPr>
          <p:cNvPr id="9" name="Text 5"/>
          <p:cNvSpPr/>
          <p:nvPr/>
        </p:nvSpPr>
        <p:spPr>
          <a:xfrm>
            <a:off x="941832" y="3236976"/>
            <a:ext cx="2178558" cy="438912"/>
          </a:xfrm>
          <a:prstGeom prst="rect">
            <a:avLst/>
          </a:prstGeom>
          <a:noFill/>
          <a:ln/>
        </p:spPr>
        <p:txBody>
          <a:bodyPr wrap="square" lIns="0" tIns="0" rIns="0" bIns="0" rtlCol="0" anchor="ctr">
            <a:normAutofit/>
          </a:bodyPr>
          <a:lstStyle/>
          <a:p>
            <a:pPr algn="l" indent="0" marL="0">
              <a:buNone/>
            </a:pPr>
            <a:r>
              <a:rPr lang="en-US" sz="1650" b="1" dirty="0">
                <a:solidFill>
                  <a:srgbClr val="FAFAFA"/>
                </a:solidFill>
                <a:latin typeface="Avenir Next" pitchFamily="34" charset="0"/>
                <a:ea typeface="Avenir Next" pitchFamily="34" charset="-122"/>
                <a:cs typeface="Avenir Next" pitchFamily="34" charset="-120"/>
              </a:rPr>
              <a:t>Cô lập đơn vị thuê bao</a:t>
            </a:r>
            <a:endParaRPr lang="en-US" sz="1650" dirty="0"/>
          </a:p>
        </p:txBody>
      </p:sp>
      <p:sp>
        <p:nvSpPr>
          <p:cNvPr id="10" name="Text 6"/>
          <p:cNvSpPr/>
          <p:nvPr/>
        </p:nvSpPr>
        <p:spPr>
          <a:xfrm>
            <a:off x="941832" y="3776472"/>
            <a:ext cx="2178558" cy="1728216"/>
          </a:xfrm>
          <a:prstGeom prst="rect">
            <a:avLst/>
          </a:prstGeom>
          <a:noFill/>
          <a:ln/>
        </p:spPr>
        <p:txBody>
          <a:bodyPr wrap="square" lIns="0" tIns="0" rIns="0" bIns="0" rtlCol="0" anchor="t">
            <a:normAutofit/>
          </a:bodyPr>
          <a:lstStyle/>
          <a:p>
            <a:pPr algn="l" indent="0" marL="0">
              <a:buNone/>
            </a:pPr>
            <a:r>
              <a:rPr lang="en-US" sz="1250" dirty="0">
                <a:solidFill>
                  <a:srgbClr val="A1A1AA"/>
                </a:solidFill>
                <a:latin typeface="Avenir Next" pitchFamily="34" charset="0"/>
                <a:ea typeface="Avenir Next" pitchFamily="34" charset="-122"/>
                <a:cs typeface="Avenir Next" pitchFamily="34" charset="-120"/>
              </a:rPr>
              <a:t>Mỗi nhà hàng có dữ liệu, cấu hình và phạm vi truy cập riêng. Mọi yêu cầu phải duy trì đúng ngữ cảnh đơn vị thuê bao.</a:t>
            </a:r>
            <a:endParaRPr lang="en-US" sz="1250" dirty="0"/>
          </a:p>
        </p:txBody>
      </p:sp>
      <p:sp>
        <p:nvSpPr>
          <p:cNvPr id="11" name="Shape 7"/>
          <p:cNvSpPr/>
          <p:nvPr/>
        </p:nvSpPr>
        <p:spPr>
          <a:xfrm>
            <a:off x="3467862" y="2542032"/>
            <a:ext cx="2544318" cy="3172968"/>
          </a:xfrm>
          <a:prstGeom prst="rect">
            <a:avLst/>
          </a:prstGeom>
          <a:solidFill>
            <a:srgbClr val="18181B"/>
          </a:solidFill>
          <a:ln w="10160">
            <a:solidFill>
              <a:srgbClr val="27272A"/>
            </a:solidFill>
            <a:prstDash val="solid"/>
          </a:ln>
        </p:spPr>
      </p:sp>
      <p:pic>
        <p:nvPicPr>
          <p:cNvPr id="12" name="Image 2" descr="preencoded.png">    </p:cNvPr>
          <p:cNvPicPr>
            <a:picLocks noChangeAspect="1"/>
          </p:cNvPicPr>
          <p:nvPr/>
        </p:nvPicPr>
        <p:blipFill>
          <a:blip r:embed="rId4"/>
          <a:stretch>
            <a:fillRect/>
          </a:stretch>
        </p:blipFill>
        <p:spPr>
          <a:xfrm>
            <a:off x="3650742" y="2724912"/>
            <a:ext cx="292608" cy="292608"/>
          </a:xfrm>
          <a:prstGeom prst="rect">
            <a:avLst/>
          </a:prstGeom>
        </p:spPr>
      </p:pic>
      <p:sp>
        <p:nvSpPr>
          <p:cNvPr id="13" name="Text 8"/>
          <p:cNvSpPr/>
          <p:nvPr/>
        </p:nvSpPr>
        <p:spPr>
          <a:xfrm>
            <a:off x="3650742" y="3236976"/>
            <a:ext cx="2178558" cy="438912"/>
          </a:xfrm>
          <a:prstGeom prst="rect">
            <a:avLst/>
          </a:prstGeom>
          <a:noFill/>
          <a:ln/>
        </p:spPr>
        <p:txBody>
          <a:bodyPr wrap="square" lIns="0" tIns="0" rIns="0" bIns="0" rtlCol="0" anchor="ctr">
            <a:normAutofit/>
          </a:bodyPr>
          <a:lstStyle/>
          <a:p>
            <a:pPr algn="l" indent="0" marL="0">
              <a:buNone/>
            </a:pPr>
            <a:r>
              <a:rPr lang="en-US" sz="1650" b="1" dirty="0">
                <a:solidFill>
                  <a:srgbClr val="FAFAFA"/>
                </a:solidFill>
                <a:latin typeface="Avenir Next" pitchFamily="34" charset="0"/>
                <a:ea typeface="Avenir Next" pitchFamily="34" charset="-122"/>
                <a:cs typeface="Avenir Next" pitchFamily="34" charset="-120"/>
              </a:rPr>
              <a:t>Phối hợp trạng thái vận hành</a:t>
            </a:r>
            <a:endParaRPr lang="en-US" sz="1650" dirty="0"/>
          </a:p>
        </p:txBody>
      </p:sp>
      <p:sp>
        <p:nvSpPr>
          <p:cNvPr id="14" name="Text 9"/>
          <p:cNvSpPr/>
          <p:nvPr/>
        </p:nvSpPr>
        <p:spPr>
          <a:xfrm>
            <a:off x="3650742" y="3776472"/>
            <a:ext cx="2178558" cy="1728216"/>
          </a:xfrm>
          <a:prstGeom prst="rect">
            <a:avLst/>
          </a:prstGeom>
          <a:noFill/>
          <a:ln/>
        </p:spPr>
        <p:txBody>
          <a:bodyPr wrap="square" lIns="0" tIns="0" rIns="0" bIns="0" rtlCol="0" anchor="t">
            <a:normAutofit/>
          </a:bodyPr>
          <a:lstStyle/>
          <a:p>
            <a:pPr algn="l" indent="0" marL="0">
              <a:buNone/>
            </a:pPr>
            <a:r>
              <a:rPr lang="en-US" sz="1250" dirty="0">
                <a:solidFill>
                  <a:srgbClr val="A1A1AA"/>
                </a:solidFill>
                <a:latin typeface="Avenir Next" pitchFamily="34" charset="0"/>
                <a:ea typeface="Avenir Next" pitchFamily="34" charset="-122"/>
                <a:cs typeface="Avenir Next" pitchFamily="34" charset="-120"/>
              </a:rPr>
              <a:t>Đơn hàng thay đổi qua Customer, POS và KDS. Các client cần nhận tín hiệu cập nhật nhưng vẫn tải lại trạng thái từ nguồn dữ liệu đúng.</a:t>
            </a:r>
            <a:endParaRPr lang="en-US" sz="1250" dirty="0"/>
          </a:p>
        </p:txBody>
      </p:sp>
      <p:sp>
        <p:nvSpPr>
          <p:cNvPr id="15" name="Shape 10"/>
          <p:cNvSpPr/>
          <p:nvPr/>
        </p:nvSpPr>
        <p:spPr>
          <a:xfrm>
            <a:off x="6176772" y="2542032"/>
            <a:ext cx="2544318" cy="3172968"/>
          </a:xfrm>
          <a:prstGeom prst="rect">
            <a:avLst/>
          </a:prstGeom>
          <a:solidFill>
            <a:srgbClr val="18181B"/>
          </a:solidFill>
          <a:ln w="10160">
            <a:solidFill>
              <a:srgbClr val="27272A"/>
            </a:solidFill>
            <a:prstDash val="solid"/>
          </a:ln>
        </p:spPr>
      </p:sp>
      <p:pic>
        <p:nvPicPr>
          <p:cNvPr id="16" name="Image 3" descr="preencoded.png">    </p:cNvPr>
          <p:cNvPicPr>
            <a:picLocks noChangeAspect="1"/>
          </p:cNvPicPr>
          <p:nvPr/>
        </p:nvPicPr>
        <p:blipFill>
          <a:blip r:embed="rId5"/>
          <a:stretch>
            <a:fillRect/>
          </a:stretch>
        </p:blipFill>
        <p:spPr>
          <a:xfrm>
            <a:off x="6359652" y="2724912"/>
            <a:ext cx="292608" cy="292608"/>
          </a:xfrm>
          <a:prstGeom prst="rect">
            <a:avLst/>
          </a:prstGeom>
        </p:spPr>
      </p:pic>
      <p:sp>
        <p:nvSpPr>
          <p:cNvPr id="17" name="Text 11"/>
          <p:cNvSpPr/>
          <p:nvPr/>
        </p:nvSpPr>
        <p:spPr>
          <a:xfrm>
            <a:off x="6359652" y="3236976"/>
            <a:ext cx="2178558" cy="438912"/>
          </a:xfrm>
          <a:prstGeom prst="rect">
            <a:avLst/>
          </a:prstGeom>
          <a:noFill/>
          <a:ln/>
        </p:spPr>
        <p:txBody>
          <a:bodyPr wrap="square" lIns="0" tIns="0" rIns="0" bIns="0" rtlCol="0" anchor="ctr">
            <a:normAutofit/>
          </a:bodyPr>
          <a:lstStyle/>
          <a:p>
            <a:pPr algn="l" indent="0" marL="0">
              <a:buNone/>
            </a:pPr>
            <a:r>
              <a:rPr lang="en-US" sz="1650" b="1" dirty="0">
                <a:solidFill>
                  <a:srgbClr val="FAFAFA"/>
                </a:solidFill>
                <a:latin typeface="Avenir Next" pitchFamily="34" charset="0"/>
                <a:ea typeface="Avenir Next" pitchFamily="34" charset="-122"/>
                <a:cs typeface="Avenir Next" pitchFamily="34" charset="-120"/>
              </a:rPr>
              <a:t>Nhất quán giữa các dịch vụ</a:t>
            </a:r>
            <a:endParaRPr lang="en-US" sz="1650" dirty="0"/>
          </a:p>
        </p:txBody>
      </p:sp>
      <p:sp>
        <p:nvSpPr>
          <p:cNvPr id="18" name="Text 12"/>
          <p:cNvSpPr/>
          <p:nvPr/>
        </p:nvSpPr>
        <p:spPr>
          <a:xfrm>
            <a:off x="6359652" y="3776472"/>
            <a:ext cx="2178558" cy="1728216"/>
          </a:xfrm>
          <a:prstGeom prst="rect">
            <a:avLst/>
          </a:prstGeom>
          <a:noFill/>
          <a:ln/>
        </p:spPr>
        <p:txBody>
          <a:bodyPr wrap="square" lIns="0" tIns="0" rIns="0" bIns="0" rtlCol="0" anchor="t">
            <a:normAutofit/>
          </a:bodyPr>
          <a:lstStyle/>
          <a:p>
            <a:pPr algn="l" indent="0" marL="0">
              <a:buNone/>
            </a:pPr>
            <a:r>
              <a:rPr lang="en-US" sz="1250" dirty="0">
                <a:solidFill>
                  <a:srgbClr val="A1A1AA"/>
                </a:solidFill>
                <a:latin typeface="Avenir Next" pitchFamily="34" charset="0"/>
                <a:ea typeface="Avenir Next" pitchFamily="34" charset="-122"/>
                <a:cs typeface="Avenir Next" pitchFamily="34" charset="-120"/>
              </a:rPr>
              <a:t>Order, tồn kho và thanh toán thuộc các ranh giới khác nhau. Lỗi một phần không được để lại trạng thái nghiệp vụ sai hoặc tác dụng phụ lặp.</a:t>
            </a:r>
            <a:endParaRPr lang="en-US" sz="1250" dirty="0"/>
          </a:p>
        </p:txBody>
      </p:sp>
      <p:sp>
        <p:nvSpPr>
          <p:cNvPr id="19" name="Shape 13"/>
          <p:cNvSpPr/>
          <p:nvPr/>
        </p:nvSpPr>
        <p:spPr>
          <a:xfrm>
            <a:off x="8885682" y="2542032"/>
            <a:ext cx="2544318" cy="3172968"/>
          </a:xfrm>
          <a:prstGeom prst="rect">
            <a:avLst/>
          </a:prstGeom>
          <a:solidFill>
            <a:srgbClr val="18181B"/>
          </a:solidFill>
          <a:ln w="10160">
            <a:solidFill>
              <a:srgbClr val="27272A"/>
            </a:solidFill>
            <a:prstDash val="solid"/>
          </a:ln>
        </p:spPr>
      </p:sp>
      <p:pic>
        <p:nvPicPr>
          <p:cNvPr id="20" name="Image 4" descr="preencoded.png">    </p:cNvPr>
          <p:cNvPicPr>
            <a:picLocks noChangeAspect="1"/>
          </p:cNvPicPr>
          <p:nvPr/>
        </p:nvPicPr>
        <p:blipFill>
          <a:blip r:embed="rId6"/>
          <a:stretch>
            <a:fillRect/>
          </a:stretch>
        </p:blipFill>
        <p:spPr>
          <a:xfrm>
            <a:off x="9068562" y="2724912"/>
            <a:ext cx="292608" cy="292608"/>
          </a:xfrm>
          <a:prstGeom prst="rect">
            <a:avLst/>
          </a:prstGeom>
        </p:spPr>
      </p:pic>
      <p:sp>
        <p:nvSpPr>
          <p:cNvPr id="21" name="Text 14"/>
          <p:cNvSpPr/>
          <p:nvPr/>
        </p:nvSpPr>
        <p:spPr>
          <a:xfrm>
            <a:off x="9068562" y="3236976"/>
            <a:ext cx="2178558" cy="438912"/>
          </a:xfrm>
          <a:prstGeom prst="rect">
            <a:avLst/>
          </a:prstGeom>
          <a:noFill/>
          <a:ln/>
        </p:spPr>
        <p:txBody>
          <a:bodyPr wrap="square" lIns="0" tIns="0" rIns="0" bIns="0" rtlCol="0" anchor="ctr">
            <a:normAutofit/>
          </a:bodyPr>
          <a:lstStyle/>
          <a:p>
            <a:pPr algn="l" indent="0" marL="0">
              <a:buNone/>
            </a:pPr>
            <a:r>
              <a:rPr lang="en-US" sz="1650" b="1" dirty="0">
                <a:solidFill>
                  <a:srgbClr val="FAFAFA"/>
                </a:solidFill>
                <a:latin typeface="Avenir Next" pitchFamily="34" charset="0"/>
                <a:ea typeface="Avenir Next" pitchFamily="34" charset="-122"/>
                <a:cs typeface="Avenir Next" pitchFamily="34" charset="-120"/>
              </a:rPr>
              <a:t>Kiểm soát truy cập nhiều lớp</a:t>
            </a:r>
            <a:endParaRPr lang="en-US" sz="1650" dirty="0"/>
          </a:p>
        </p:txBody>
      </p:sp>
      <p:sp>
        <p:nvSpPr>
          <p:cNvPr id="22" name="Text 15"/>
          <p:cNvSpPr/>
          <p:nvPr/>
        </p:nvSpPr>
        <p:spPr>
          <a:xfrm>
            <a:off x="9068562" y="3776472"/>
            <a:ext cx="2178558" cy="1728216"/>
          </a:xfrm>
          <a:prstGeom prst="rect">
            <a:avLst/>
          </a:prstGeom>
          <a:noFill/>
          <a:ln/>
        </p:spPr>
        <p:txBody>
          <a:bodyPr wrap="square" lIns="0" tIns="0" rIns="0" bIns="0" rtlCol="0" anchor="t">
            <a:normAutofit/>
          </a:bodyPr>
          <a:lstStyle/>
          <a:p>
            <a:pPr algn="l" indent="0" marL="0">
              <a:buNone/>
            </a:pPr>
            <a:r>
              <a:rPr lang="en-US" sz="1250" dirty="0">
                <a:solidFill>
                  <a:srgbClr val="A1A1AA"/>
                </a:solidFill>
                <a:latin typeface="Avenir Next" pitchFamily="34" charset="0"/>
                <a:ea typeface="Avenir Next" pitchFamily="34" charset="-122"/>
                <a:cs typeface="Avenir Next" pitchFamily="34" charset="-120"/>
              </a:rPr>
              <a:t>Nhân viên, chủ quán, quản trị nền tảng và khách qua QR sử dụng các cơ chế xác thực, phân quyền và giới hạn phạm vi khác nhau.</a:t>
            </a:r>
            <a:endParaRPr lang="en-US" sz="1250" dirty="0"/>
          </a:p>
        </p:txBody>
      </p:sp>
      <p:sp>
        <p:nvSpPr>
          <p:cNvPr id="23" name="Text 16"/>
          <p:cNvSpPr/>
          <p:nvPr/>
        </p:nvSpPr>
        <p:spPr>
          <a:xfrm>
            <a:off x="758952" y="6528816"/>
            <a:ext cx="5120640" cy="146304"/>
          </a:xfrm>
          <a:prstGeom prst="rect">
            <a:avLst/>
          </a:prstGeom>
          <a:noFill/>
          <a:ln/>
        </p:spPr>
        <p:txBody>
          <a:bodyPr wrap="square" lIns="0" tIns="0" rIns="0" bIns="0" rtlCol="0" anchor="ctr"/>
          <a:lstStyle/>
          <a:p>
            <a:pPr indent="0" marL="0">
              <a:buNone/>
            </a:pPr>
            <a:r>
              <a:rPr lang="en-US" sz="850" dirty="0">
                <a:solidFill>
                  <a:srgbClr val="A1A1AA"/>
                </a:solidFill>
                <a:latin typeface="Avenir Next" pitchFamily="34" charset="0"/>
                <a:ea typeface="Avenir Next" pitchFamily="34" charset="-122"/>
                <a:cs typeface="Avenir Next" pitchFamily="34" charset="-120"/>
              </a:rPr>
              <a:t>QRTable Thesis Defense Deck</a:t>
            </a:r>
            <a:endParaRPr lang="en-US" sz="850" dirty="0"/>
          </a:p>
        </p:txBody>
      </p:sp>
      <p:sp>
        <p:nvSpPr>
          <p:cNvPr id="24" name="Text 17"/>
          <p:cNvSpPr/>
          <p:nvPr/>
        </p:nvSpPr>
        <p:spPr>
          <a:xfrm>
            <a:off x="9281160" y="6528816"/>
            <a:ext cx="2148840" cy="146304"/>
          </a:xfrm>
          <a:prstGeom prst="rect">
            <a:avLst/>
          </a:prstGeom>
          <a:noFill/>
          <a:ln/>
        </p:spPr>
        <p:txBody>
          <a:bodyPr wrap="square" lIns="0" tIns="0" rIns="0" bIns="0" rtlCol="0" anchor="ctr"/>
          <a:lstStyle/>
          <a:p>
            <a:pPr algn="r" indent="0" marL="0">
              <a:buNone/>
            </a:pPr>
            <a:r>
              <a:rPr lang="en-US" sz="850" dirty="0">
                <a:solidFill>
                  <a:srgbClr val="A1A1AA"/>
                </a:solidFill>
                <a:latin typeface="Menlo" pitchFamily="34" charset="0"/>
                <a:ea typeface="Menlo" pitchFamily="34" charset="-122"/>
                <a:cs typeface="Menlo" pitchFamily="34" charset="-120"/>
              </a:rPr>
              <a:t>02_problem_statement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90B"/>
          </a:solidFill>
          <a:ln w="12700">
            <a:solidFill>
              <a:srgbClr val="09090B"/>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6780276"/>
            <a:ext cx="12191695" cy="77724"/>
          </a:xfrm>
          <a:prstGeom prst="rect">
            <a:avLst/>
          </a:prstGeom>
        </p:spPr>
      </p:pic>
      <p:sp>
        <p:nvSpPr>
          <p:cNvPr id="4" name="Text 1"/>
          <p:cNvSpPr/>
          <p:nvPr/>
        </p:nvSpPr>
        <p:spPr>
          <a:xfrm>
            <a:off x="758952" y="530352"/>
            <a:ext cx="8869680" cy="201168"/>
          </a:xfrm>
          <a:prstGeom prst="rect">
            <a:avLst/>
          </a:prstGeom>
          <a:noFill/>
          <a:ln/>
        </p:spPr>
        <p:txBody>
          <a:bodyPr wrap="square" lIns="0" tIns="0" rIns="0" bIns="0" rtlCol="0" anchor="ctr"/>
          <a:lstStyle/>
          <a:p>
            <a:pPr indent="0" marL="0">
              <a:buNone/>
            </a:pPr>
            <a:r>
              <a:rPr lang="en-US" sz="1150" b="1" spc="180" kern="0" dirty="0">
                <a:solidFill>
                  <a:srgbClr val="22D3EE"/>
                </a:solidFill>
                <a:latin typeface="Menlo" pitchFamily="34" charset="0"/>
                <a:ea typeface="Menlo" pitchFamily="34" charset="-122"/>
                <a:cs typeface="Menlo" pitchFamily="34" charset="-120"/>
              </a:rPr>
              <a:t>PHẦN 2 · PHÂN TÍCH VÀ THIẾT KẾ KIẾN TRÚC</a:t>
            </a:r>
            <a:endParaRPr lang="en-US" sz="1150" dirty="0"/>
          </a:p>
        </p:txBody>
      </p:sp>
      <p:sp>
        <p:nvSpPr>
          <p:cNvPr id="5" name="Text 2"/>
          <p:cNvSpPr/>
          <p:nvPr/>
        </p:nvSpPr>
        <p:spPr>
          <a:xfrm>
            <a:off x="758952" y="969264"/>
            <a:ext cx="10652760" cy="566928"/>
          </a:xfrm>
          <a:prstGeom prst="rect">
            <a:avLst/>
          </a:prstGeom>
          <a:noFill/>
          <a:ln/>
        </p:spPr>
        <p:txBody>
          <a:bodyPr wrap="square" lIns="0" tIns="0" rIns="0" bIns="0" rtlCol="0" anchor="ctr">
            <a:normAutofit/>
          </a:bodyPr>
          <a:lstStyle/>
          <a:p>
            <a:pPr indent="0" marL="0">
              <a:buNone/>
            </a:pPr>
            <a:r>
              <a:rPr lang="en-US" sz="3150" b="1" dirty="0">
                <a:solidFill>
                  <a:srgbClr val="FAFAFA"/>
                </a:solidFill>
                <a:latin typeface="Avenir Next" pitchFamily="34" charset="0"/>
                <a:ea typeface="Avenir Next" pitchFamily="34" charset="-122"/>
                <a:cs typeface="Avenir Next" pitchFamily="34" charset="-120"/>
              </a:rPr>
              <a:t>Các động lực kiến trúc của QRTable</a:t>
            </a:r>
            <a:endParaRPr lang="en-US" sz="3150" dirty="0"/>
          </a:p>
        </p:txBody>
      </p:sp>
      <p:sp>
        <p:nvSpPr>
          <p:cNvPr id="6" name="Text 3"/>
          <p:cNvSpPr/>
          <p:nvPr/>
        </p:nvSpPr>
        <p:spPr>
          <a:xfrm>
            <a:off x="758952" y="1673352"/>
            <a:ext cx="10515600" cy="347472"/>
          </a:xfrm>
          <a:prstGeom prst="rect">
            <a:avLst/>
          </a:prstGeom>
          <a:noFill/>
          <a:ln/>
        </p:spPr>
        <p:txBody>
          <a:bodyPr wrap="square" lIns="0" tIns="0" rIns="0" bIns="0" rtlCol="0" anchor="ctr">
            <a:normAutofit/>
          </a:bodyPr>
          <a:lstStyle/>
          <a:p>
            <a:pPr indent="0" marL="0">
              <a:buNone/>
            </a:pPr>
            <a:r>
              <a:rPr lang="en-US" sz="1700" dirty="0">
                <a:solidFill>
                  <a:srgbClr val="A1A1AA"/>
                </a:solidFill>
                <a:latin typeface="Avenir Next" pitchFamily="34" charset="0"/>
                <a:ea typeface="Avenir Next" pitchFamily="34" charset="-122"/>
                <a:cs typeface="Avenir Next" pitchFamily="34" charset="-120"/>
              </a:rPr>
              <a:t>Bốn yêu cầu xuyên suốt chi phối cách phân rã dịch vụ, lựa chọn kênh giao tiếp và tổ chức các lớp kiểm soát.</a:t>
            </a:r>
            <a:endParaRPr lang="en-US" sz="1700" dirty="0"/>
          </a:p>
        </p:txBody>
      </p:sp>
      <p:pic>
        <p:nvPicPr>
          <p:cNvPr id="7" name="Image 1" descr="preencoded.png">    </p:cNvPr>
          <p:cNvPicPr>
            <a:picLocks noChangeAspect="1"/>
          </p:cNvPicPr>
          <p:nvPr/>
        </p:nvPicPr>
        <p:blipFill>
          <a:blip r:embed="rId3"/>
          <a:stretch>
            <a:fillRect/>
          </a:stretch>
        </p:blipFill>
        <p:spPr>
          <a:xfrm>
            <a:off x="1554480" y="2487168"/>
            <a:ext cx="621792" cy="621792"/>
          </a:xfrm>
          <a:prstGeom prst="rect">
            <a:avLst/>
          </a:prstGeom>
        </p:spPr>
      </p:pic>
      <p:sp>
        <p:nvSpPr>
          <p:cNvPr id="8" name="Text 4"/>
          <p:cNvSpPr/>
          <p:nvPr/>
        </p:nvSpPr>
        <p:spPr>
          <a:xfrm>
            <a:off x="758952" y="3364992"/>
            <a:ext cx="2212848" cy="475488"/>
          </a:xfrm>
          <a:prstGeom prst="rect">
            <a:avLst/>
          </a:prstGeom>
          <a:noFill/>
          <a:ln/>
        </p:spPr>
        <p:txBody>
          <a:bodyPr wrap="square" lIns="0" tIns="0" rIns="0" bIns="0" rtlCol="0" anchor="ctr">
            <a:normAutofit/>
          </a:bodyPr>
          <a:lstStyle/>
          <a:p>
            <a:pPr algn="ctr" indent="0" marL="0">
              <a:buNone/>
            </a:pPr>
            <a:r>
              <a:rPr lang="en-US" sz="1800" b="1" dirty="0">
                <a:solidFill>
                  <a:srgbClr val="FAFAFA"/>
                </a:solidFill>
                <a:latin typeface="Avenir Next" pitchFamily="34" charset="0"/>
                <a:ea typeface="Avenir Next" pitchFamily="34" charset="-122"/>
                <a:cs typeface="Avenir Next" pitchFamily="34" charset="-120"/>
              </a:rPr>
              <a:t>Đa đơn vị thuê bao</a:t>
            </a:r>
            <a:endParaRPr lang="en-US" sz="1800" dirty="0"/>
          </a:p>
        </p:txBody>
      </p:sp>
      <p:sp>
        <p:nvSpPr>
          <p:cNvPr id="9" name="Text 5"/>
          <p:cNvSpPr/>
          <p:nvPr/>
        </p:nvSpPr>
        <p:spPr>
          <a:xfrm>
            <a:off x="758952" y="3995928"/>
            <a:ext cx="2212848" cy="1234440"/>
          </a:xfrm>
          <a:prstGeom prst="rect">
            <a:avLst/>
          </a:prstGeom>
          <a:noFill/>
          <a:ln/>
        </p:spPr>
        <p:txBody>
          <a:bodyPr wrap="square" lIns="0" tIns="0" rIns="0" bIns="0" rtlCol="0" anchor="t">
            <a:normAutofit/>
          </a:bodyPr>
          <a:lstStyle/>
          <a:p>
            <a:pPr algn="ctr" indent="0" marL="0">
              <a:buNone/>
            </a:pPr>
            <a:r>
              <a:rPr lang="en-US" sz="1250" dirty="0">
                <a:solidFill>
                  <a:srgbClr val="A1A1AA"/>
                </a:solidFill>
                <a:latin typeface="Avenir Next" pitchFamily="34" charset="0"/>
                <a:ea typeface="Avenir Next" pitchFamily="34" charset="-122"/>
                <a:cs typeface="Avenir Next" pitchFamily="34" charset="-120"/>
              </a:rPr>
              <a:t>Dữ liệu, phiên làm việc, bộ nhớ đệm và quyền truy cập phải luôn gắn với đúng đơn vị thuê bao.</a:t>
            </a:r>
            <a:endParaRPr lang="en-US" sz="1250" dirty="0"/>
          </a:p>
        </p:txBody>
      </p:sp>
      <p:pic>
        <p:nvPicPr>
          <p:cNvPr id="10" name="Image 2" descr="preencoded.png">    </p:cNvPr>
          <p:cNvPicPr>
            <a:picLocks noChangeAspect="1"/>
          </p:cNvPicPr>
          <p:nvPr/>
        </p:nvPicPr>
        <p:blipFill>
          <a:blip r:embed="rId4"/>
          <a:stretch>
            <a:fillRect/>
          </a:stretch>
        </p:blipFill>
        <p:spPr>
          <a:xfrm>
            <a:off x="4343400" y="2487168"/>
            <a:ext cx="621792" cy="621792"/>
          </a:xfrm>
          <a:prstGeom prst="rect">
            <a:avLst/>
          </a:prstGeom>
        </p:spPr>
      </p:pic>
      <p:sp>
        <p:nvSpPr>
          <p:cNvPr id="11" name="Text 6"/>
          <p:cNvSpPr/>
          <p:nvPr/>
        </p:nvSpPr>
        <p:spPr>
          <a:xfrm>
            <a:off x="3547872" y="3364992"/>
            <a:ext cx="2212848" cy="475488"/>
          </a:xfrm>
          <a:prstGeom prst="rect">
            <a:avLst/>
          </a:prstGeom>
          <a:noFill/>
          <a:ln/>
        </p:spPr>
        <p:txBody>
          <a:bodyPr wrap="square" lIns="0" tIns="0" rIns="0" bIns="0" rtlCol="0" anchor="ctr">
            <a:normAutofit/>
          </a:bodyPr>
          <a:lstStyle/>
          <a:p>
            <a:pPr algn="ctr" indent="0" marL="0">
              <a:buNone/>
            </a:pPr>
            <a:r>
              <a:rPr lang="en-US" sz="1800" b="1" dirty="0">
                <a:solidFill>
                  <a:srgbClr val="FAFAFA"/>
                </a:solidFill>
                <a:latin typeface="Avenir Next" pitchFamily="34" charset="0"/>
                <a:ea typeface="Avenir Next" pitchFamily="34" charset="-122"/>
                <a:cs typeface="Avenir Next" pitchFamily="34" charset="-120"/>
              </a:rPr>
              <a:t>Gần thời gian thực</a:t>
            </a:r>
            <a:endParaRPr lang="en-US" sz="1800" dirty="0"/>
          </a:p>
        </p:txBody>
      </p:sp>
      <p:sp>
        <p:nvSpPr>
          <p:cNvPr id="12" name="Text 7"/>
          <p:cNvSpPr/>
          <p:nvPr/>
        </p:nvSpPr>
        <p:spPr>
          <a:xfrm>
            <a:off x="3547872" y="3995928"/>
            <a:ext cx="2212848" cy="1234440"/>
          </a:xfrm>
          <a:prstGeom prst="rect">
            <a:avLst/>
          </a:prstGeom>
          <a:noFill/>
          <a:ln/>
        </p:spPr>
        <p:txBody>
          <a:bodyPr wrap="square" lIns="0" tIns="0" rIns="0" bIns="0" rtlCol="0" anchor="t">
            <a:normAutofit/>
          </a:bodyPr>
          <a:lstStyle/>
          <a:p>
            <a:pPr algn="ctr" indent="0" marL="0">
              <a:buNone/>
            </a:pPr>
            <a:r>
              <a:rPr lang="en-US" sz="1250" dirty="0">
                <a:solidFill>
                  <a:srgbClr val="A1A1AA"/>
                </a:solidFill>
                <a:latin typeface="Avenir Next" pitchFamily="34" charset="0"/>
                <a:ea typeface="Avenir Next" pitchFamily="34" charset="-122"/>
                <a:cs typeface="Avenir Next" pitchFamily="34" charset="-120"/>
              </a:rPr>
              <a:t>POS, KDS và client khách cần nhận thay đổi nhanh, nhưng WebSocket chỉ đóng vai trò tín hiệu cập nhật.</a:t>
            </a:r>
            <a:endParaRPr lang="en-US" sz="1250" dirty="0"/>
          </a:p>
        </p:txBody>
      </p:sp>
      <p:pic>
        <p:nvPicPr>
          <p:cNvPr id="13" name="Image 3" descr="preencoded.png">    </p:cNvPr>
          <p:cNvPicPr>
            <a:picLocks noChangeAspect="1"/>
          </p:cNvPicPr>
          <p:nvPr/>
        </p:nvPicPr>
        <p:blipFill>
          <a:blip r:embed="rId5"/>
          <a:stretch>
            <a:fillRect/>
          </a:stretch>
        </p:blipFill>
        <p:spPr>
          <a:xfrm>
            <a:off x="7132320" y="2487168"/>
            <a:ext cx="621792" cy="621792"/>
          </a:xfrm>
          <a:prstGeom prst="rect">
            <a:avLst/>
          </a:prstGeom>
        </p:spPr>
      </p:pic>
      <p:sp>
        <p:nvSpPr>
          <p:cNvPr id="14" name="Text 8"/>
          <p:cNvSpPr/>
          <p:nvPr/>
        </p:nvSpPr>
        <p:spPr>
          <a:xfrm>
            <a:off x="6336792" y="3364992"/>
            <a:ext cx="2212848" cy="475488"/>
          </a:xfrm>
          <a:prstGeom prst="rect">
            <a:avLst/>
          </a:prstGeom>
          <a:noFill/>
          <a:ln/>
        </p:spPr>
        <p:txBody>
          <a:bodyPr wrap="square" lIns="0" tIns="0" rIns="0" bIns="0" rtlCol="0" anchor="ctr">
            <a:normAutofit/>
          </a:bodyPr>
          <a:lstStyle/>
          <a:p>
            <a:pPr algn="ctr" indent="0" marL="0">
              <a:buNone/>
            </a:pPr>
            <a:r>
              <a:rPr lang="en-US" sz="1800" b="1" dirty="0">
                <a:solidFill>
                  <a:srgbClr val="FAFAFA"/>
                </a:solidFill>
                <a:latin typeface="Avenir Next" pitchFamily="34" charset="0"/>
                <a:ea typeface="Avenir Next" pitchFamily="34" charset="-122"/>
                <a:cs typeface="Avenir Next" pitchFamily="34" charset="-120"/>
              </a:rPr>
              <a:t>Nhất quán phân tán</a:t>
            </a:r>
            <a:endParaRPr lang="en-US" sz="1800" dirty="0"/>
          </a:p>
        </p:txBody>
      </p:sp>
      <p:sp>
        <p:nvSpPr>
          <p:cNvPr id="15" name="Text 9"/>
          <p:cNvSpPr/>
          <p:nvPr/>
        </p:nvSpPr>
        <p:spPr>
          <a:xfrm>
            <a:off x="6336792" y="3995928"/>
            <a:ext cx="2212848" cy="1234440"/>
          </a:xfrm>
          <a:prstGeom prst="rect">
            <a:avLst/>
          </a:prstGeom>
          <a:noFill/>
          <a:ln/>
        </p:spPr>
        <p:txBody>
          <a:bodyPr wrap="square" lIns="0" tIns="0" rIns="0" bIns="0" rtlCol="0" anchor="t">
            <a:normAutofit/>
          </a:bodyPr>
          <a:lstStyle/>
          <a:p>
            <a:pPr algn="ctr" indent="0" marL="0">
              <a:buNone/>
            </a:pPr>
            <a:r>
              <a:rPr lang="en-US" sz="1250" dirty="0">
                <a:solidFill>
                  <a:srgbClr val="A1A1AA"/>
                </a:solidFill>
                <a:latin typeface="Avenir Next" pitchFamily="34" charset="0"/>
                <a:ea typeface="Avenir Next" pitchFamily="34" charset="-122"/>
                <a:cs typeface="Avenir Next" pitchFamily="34" charset="-120"/>
              </a:rPr>
              <a:t>Mỗi dịch vụ sở hữu dữ liệu riêng; hệ thống cần xử lý retry, thông điệp trùng và lỗi từng phần có kiểm soát.</a:t>
            </a:r>
            <a:endParaRPr lang="en-US" sz="1250" dirty="0"/>
          </a:p>
        </p:txBody>
      </p:sp>
      <p:pic>
        <p:nvPicPr>
          <p:cNvPr id="16" name="Image 4" descr="preencoded.png">    </p:cNvPr>
          <p:cNvPicPr>
            <a:picLocks noChangeAspect="1"/>
          </p:cNvPicPr>
          <p:nvPr/>
        </p:nvPicPr>
        <p:blipFill>
          <a:blip r:embed="rId6"/>
          <a:stretch>
            <a:fillRect/>
          </a:stretch>
        </p:blipFill>
        <p:spPr>
          <a:xfrm>
            <a:off x="9921240" y="2487168"/>
            <a:ext cx="621792" cy="621792"/>
          </a:xfrm>
          <a:prstGeom prst="rect">
            <a:avLst/>
          </a:prstGeom>
        </p:spPr>
      </p:pic>
      <p:sp>
        <p:nvSpPr>
          <p:cNvPr id="17" name="Text 10"/>
          <p:cNvSpPr/>
          <p:nvPr/>
        </p:nvSpPr>
        <p:spPr>
          <a:xfrm>
            <a:off x="9125712" y="3364992"/>
            <a:ext cx="2212848" cy="475488"/>
          </a:xfrm>
          <a:prstGeom prst="rect">
            <a:avLst/>
          </a:prstGeom>
          <a:noFill/>
          <a:ln/>
        </p:spPr>
        <p:txBody>
          <a:bodyPr wrap="square" lIns="0" tIns="0" rIns="0" bIns="0" rtlCol="0" anchor="ctr">
            <a:normAutofit/>
          </a:bodyPr>
          <a:lstStyle/>
          <a:p>
            <a:pPr algn="ctr" indent="0" marL="0">
              <a:buNone/>
            </a:pPr>
            <a:r>
              <a:rPr lang="en-US" sz="1800" b="1" dirty="0">
                <a:solidFill>
                  <a:srgbClr val="FAFAFA"/>
                </a:solidFill>
                <a:latin typeface="Avenir Next" pitchFamily="34" charset="0"/>
                <a:ea typeface="Avenir Next" pitchFamily="34" charset="-122"/>
                <a:cs typeface="Avenir Next" pitchFamily="34" charset="-120"/>
              </a:rPr>
              <a:t>Phân quyền nhiều lớp</a:t>
            </a:r>
            <a:endParaRPr lang="en-US" sz="1800" dirty="0"/>
          </a:p>
        </p:txBody>
      </p:sp>
      <p:sp>
        <p:nvSpPr>
          <p:cNvPr id="18" name="Text 11"/>
          <p:cNvSpPr/>
          <p:nvPr/>
        </p:nvSpPr>
        <p:spPr>
          <a:xfrm>
            <a:off x="9125712" y="3995928"/>
            <a:ext cx="2212848" cy="1234440"/>
          </a:xfrm>
          <a:prstGeom prst="rect">
            <a:avLst/>
          </a:prstGeom>
          <a:noFill/>
          <a:ln/>
        </p:spPr>
        <p:txBody>
          <a:bodyPr wrap="square" lIns="0" tIns="0" rIns="0" bIns="0" rtlCol="0" anchor="t">
            <a:normAutofit/>
          </a:bodyPr>
          <a:lstStyle/>
          <a:p>
            <a:pPr algn="ctr" indent="0" marL="0">
              <a:buNone/>
            </a:pPr>
            <a:r>
              <a:rPr lang="en-US" sz="1250" dirty="0">
                <a:solidFill>
                  <a:srgbClr val="A1A1AA"/>
                </a:solidFill>
                <a:latin typeface="Avenir Next" pitchFamily="34" charset="0"/>
                <a:ea typeface="Avenir Next" pitchFamily="34" charset="-122"/>
                <a:cs typeface="Avenir Next" pitchFamily="34" charset="-120"/>
              </a:rPr>
              <a:t>RBAC, cô lập đơn vị thuê bao, quyền lợi theo gói và quyền quản trị nền tảng là các lớp kiểm soát riêng biệt.</a:t>
            </a:r>
            <a:endParaRPr lang="en-US" sz="1250" dirty="0"/>
          </a:p>
        </p:txBody>
      </p:sp>
      <p:sp>
        <p:nvSpPr>
          <p:cNvPr id="19" name="Text 12"/>
          <p:cNvSpPr/>
          <p:nvPr/>
        </p:nvSpPr>
        <p:spPr>
          <a:xfrm>
            <a:off x="1097280" y="5650992"/>
            <a:ext cx="9994392" cy="310896"/>
          </a:xfrm>
          <a:prstGeom prst="rect">
            <a:avLst/>
          </a:prstGeom>
          <a:noFill/>
          <a:ln/>
        </p:spPr>
        <p:txBody>
          <a:bodyPr wrap="square" lIns="0" tIns="0" rIns="0" bIns="0" rtlCol="0" anchor="ctr">
            <a:normAutofit/>
          </a:bodyPr>
          <a:lstStyle/>
          <a:p>
            <a:pPr algn="ctr" indent="0" marL="0">
              <a:buNone/>
            </a:pPr>
            <a:r>
              <a:rPr lang="en-US" sz="1300" b="1" dirty="0">
                <a:solidFill>
                  <a:srgbClr val="22D3EE"/>
                </a:solidFill>
                <a:latin typeface="Avenir Next" pitchFamily="34" charset="0"/>
                <a:ea typeface="Avenir Next" pitchFamily="34" charset="-122"/>
                <a:cs typeface="Avenir Next" pitchFamily="34" charset="-120"/>
              </a:rPr>
              <a:t>Các động lực này dẫn tới một kiến trúc có ranh giới dịch vụ rõ, giao tiếp có chọn lọc và bằng chứng kiểm chứng theo từng cơ chế.</a:t>
            </a:r>
            <a:endParaRPr lang="en-US" sz="1300" dirty="0"/>
          </a:p>
        </p:txBody>
      </p:sp>
      <p:sp>
        <p:nvSpPr>
          <p:cNvPr id="20" name="Text 13"/>
          <p:cNvSpPr/>
          <p:nvPr/>
        </p:nvSpPr>
        <p:spPr>
          <a:xfrm>
            <a:off x="758952" y="6528816"/>
            <a:ext cx="5120640" cy="146304"/>
          </a:xfrm>
          <a:prstGeom prst="rect">
            <a:avLst/>
          </a:prstGeom>
          <a:noFill/>
          <a:ln/>
        </p:spPr>
        <p:txBody>
          <a:bodyPr wrap="square" lIns="0" tIns="0" rIns="0" bIns="0" rtlCol="0" anchor="ctr"/>
          <a:lstStyle/>
          <a:p>
            <a:pPr indent="0" marL="0">
              <a:buNone/>
            </a:pPr>
            <a:r>
              <a:rPr lang="en-US" sz="850" dirty="0">
                <a:solidFill>
                  <a:srgbClr val="A1A1AA"/>
                </a:solidFill>
                <a:latin typeface="Avenir Next" pitchFamily="34" charset="0"/>
                <a:ea typeface="Avenir Next" pitchFamily="34" charset="-122"/>
                <a:cs typeface="Avenir Next" pitchFamily="34" charset="-120"/>
              </a:rPr>
              <a:t>QRTable Thesis Defense Deck</a:t>
            </a:r>
            <a:endParaRPr lang="en-US" sz="850" dirty="0"/>
          </a:p>
        </p:txBody>
      </p:sp>
      <p:sp>
        <p:nvSpPr>
          <p:cNvPr id="21" name="Text 14"/>
          <p:cNvSpPr/>
          <p:nvPr/>
        </p:nvSpPr>
        <p:spPr>
          <a:xfrm>
            <a:off x="9281160" y="6528816"/>
            <a:ext cx="2148840" cy="146304"/>
          </a:xfrm>
          <a:prstGeom prst="rect">
            <a:avLst/>
          </a:prstGeom>
          <a:noFill/>
          <a:ln/>
        </p:spPr>
        <p:txBody>
          <a:bodyPr wrap="square" lIns="0" tIns="0" rIns="0" bIns="0" rtlCol="0" anchor="ctr"/>
          <a:lstStyle/>
          <a:p>
            <a:pPr algn="r" indent="0" marL="0">
              <a:buNone/>
            </a:pPr>
            <a:r>
              <a:rPr lang="en-US" sz="850" dirty="0">
                <a:solidFill>
                  <a:srgbClr val="A1A1AA"/>
                </a:solidFill>
                <a:latin typeface="Menlo" pitchFamily="34" charset="0"/>
                <a:ea typeface="Menlo" pitchFamily="34" charset="-122"/>
                <a:cs typeface="Menlo" pitchFamily="34" charset="-120"/>
              </a:rPr>
              <a:t>03_architecture_drivers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90B"/>
          </a:solidFill>
          <a:ln w="12700">
            <a:solidFill>
              <a:srgbClr val="09090B"/>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6780276"/>
            <a:ext cx="12191695" cy="77724"/>
          </a:xfrm>
          <a:prstGeom prst="rect">
            <a:avLst/>
          </a:prstGeom>
        </p:spPr>
      </p:pic>
      <p:sp>
        <p:nvSpPr>
          <p:cNvPr id="4" name="Text 1"/>
          <p:cNvSpPr/>
          <p:nvPr/>
        </p:nvSpPr>
        <p:spPr>
          <a:xfrm>
            <a:off x="758952" y="530352"/>
            <a:ext cx="8869680" cy="201168"/>
          </a:xfrm>
          <a:prstGeom prst="rect">
            <a:avLst/>
          </a:prstGeom>
          <a:noFill/>
          <a:ln/>
        </p:spPr>
        <p:txBody>
          <a:bodyPr wrap="square" lIns="0" tIns="0" rIns="0" bIns="0" rtlCol="0" anchor="ctr"/>
          <a:lstStyle/>
          <a:p>
            <a:pPr indent="0" marL="0">
              <a:buNone/>
            </a:pPr>
            <a:r>
              <a:rPr lang="en-US" sz="1150" b="1" spc="180" kern="0" dirty="0">
                <a:solidFill>
                  <a:srgbClr val="22D3EE"/>
                </a:solidFill>
                <a:latin typeface="Menlo" pitchFamily="34" charset="0"/>
                <a:ea typeface="Menlo" pitchFamily="34" charset="-122"/>
                <a:cs typeface="Menlo" pitchFamily="34" charset="-120"/>
              </a:rPr>
              <a:t>PHẦN 2 · PHÂN TÍCH VÀ THIẾT KẾ KIẾN TRÚC</a:t>
            </a:r>
            <a:endParaRPr lang="en-US" sz="1150" dirty="0"/>
          </a:p>
        </p:txBody>
      </p:sp>
      <p:sp>
        <p:nvSpPr>
          <p:cNvPr id="5" name="Text 2"/>
          <p:cNvSpPr/>
          <p:nvPr/>
        </p:nvSpPr>
        <p:spPr>
          <a:xfrm>
            <a:off x="758952" y="969264"/>
            <a:ext cx="10652760" cy="566928"/>
          </a:xfrm>
          <a:prstGeom prst="rect">
            <a:avLst/>
          </a:prstGeom>
          <a:noFill/>
          <a:ln/>
        </p:spPr>
        <p:txBody>
          <a:bodyPr wrap="square" lIns="0" tIns="0" rIns="0" bIns="0" rtlCol="0" anchor="ctr">
            <a:normAutofit/>
          </a:bodyPr>
          <a:lstStyle/>
          <a:p>
            <a:pPr indent="0" marL="0">
              <a:buNone/>
            </a:pPr>
            <a:r>
              <a:rPr lang="en-US" sz="3150" b="1" dirty="0">
                <a:solidFill>
                  <a:srgbClr val="FAFAFA"/>
                </a:solidFill>
                <a:latin typeface="Avenir Next" pitchFamily="34" charset="0"/>
                <a:ea typeface="Avenir Next" pitchFamily="34" charset="-122"/>
                <a:cs typeface="Avenir Next" pitchFamily="34" charset="-120"/>
              </a:rPr>
              <a:t>Cơ sở lựa chọn kiến trúc vi dịch vụ cho QRTable</a:t>
            </a:r>
            <a:endParaRPr lang="en-US" sz="3150" dirty="0"/>
          </a:p>
        </p:txBody>
      </p:sp>
      <p:sp>
        <p:nvSpPr>
          <p:cNvPr id="6" name="Text 3"/>
          <p:cNvSpPr/>
          <p:nvPr/>
        </p:nvSpPr>
        <p:spPr>
          <a:xfrm>
            <a:off x="758952" y="1673352"/>
            <a:ext cx="10515600" cy="347472"/>
          </a:xfrm>
          <a:prstGeom prst="rect">
            <a:avLst/>
          </a:prstGeom>
          <a:noFill/>
          <a:ln/>
        </p:spPr>
        <p:txBody>
          <a:bodyPr wrap="square" lIns="0" tIns="0" rIns="0" bIns="0" rtlCol="0" anchor="ctr">
            <a:normAutofit/>
          </a:bodyPr>
          <a:lstStyle/>
          <a:p>
            <a:pPr indent="0" marL="0">
              <a:buNone/>
            </a:pPr>
            <a:r>
              <a:rPr lang="en-US" sz="1700" dirty="0">
                <a:solidFill>
                  <a:srgbClr val="A1A1AA"/>
                </a:solidFill>
                <a:latin typeface="Avenir Next" pitchFamily="34" charset="0"/>
                <a:ea typeface="Avenir Next" pitchFamily="34" charset="-122"/>
                <a:cs typeface="Avenir Next" pitchFamily="34" charset="-120"/>
              </a:rPr>
              <a:t>Lựa chọn này phù hợp với ranh giới nghiệp vụ của hệ thống, nhưng chỉ có ý nghĩa khi các chi phí phân tán được xử lý có chủ đích.</a:t>
            </a:r>
            <a:endParaRPr lang="en-US" sz="1700" dirty="0"/>
          </a:p>
        </p:txBody>
      </p:sp>
      <p:sp>
        <p:nvSpPr>
          <p:cNvPr id="7" name="Shape 4"/>
          <p:cNvSpPr/>
          <p:nvPr/>
        </p:nvSpPr>
        <p:spPr>
          <a:xfrm>
            <a:off x="758952" y="2395728"/>
            <a:ext cx="5230368" cy="1664208"/>
          </a:xfrm>
          <a:prstGeom prst="rect">
            <a:avLst/>
          </a:prstGeom>
          <a:solidFill>
            <a:srgbClr val="18181B"/>
          </a:solidFill>
          <a:ln w="10160">
            <a:solidFill>
              <a:srgbClr val="27272A"/>
            </a:solidFill>
            <a:prstDash val="solid"/>
          </a:ln>
        </p:spPr>
      </p:sp>
      <p:pic>
        <p:nvPicPr>
          <p:cNvPr id="8" name="Image 1" descr="preencoded.png">    </p:cNvPr>
          <p:cNvPicPr>
            <a:picLocks noChangeAspect="1"/>
          </p:cNvPicPr>
          <p:nvPr/>
        </p:nvPicPr>
        <p:blipFill>
          <a:blip r:embed="rId3"/>
          <a:stretch>
            <a:fillRect/>
          </a:stretch>
        </p:blipFill>
        <p:spPr>
          <a:xfrm>
            <a:off x="987552" y="2615184"/>
            <a:ext cx="310896" cy="310896"/>
          </a:xfrm>
          <a:prstGeom prst="rect">
            <a:avLst/>
          </a:prstGeom>
        </p:spPr>
      </p:pic>
      <p:sp>
        <p:nvSpPr>
          <p:cNvPr id="9" name="Text 5"/>
          <p:cNvSpPr/>
          <p:nvPr/>
        </p:nvSpPr>
        <p:spPr>
          <a:xfrm>
            <a:off x="1463040" y="2651760"/>
            <a:ext cx="1280160" cy="164592"/>
          </a:xfrm>
          <a:prstGeom prst="rect">
            <a:avLst/>
          </a:prstGeom>
          <a:noFill/>
          <a:ln/>
        </p:spPr>
        <p:txBody>
          <a:bodyPr wrap="square" lIns="0" tIns="0" rIns="0" bIns="0" rtlCol="0" anchor="ctr"/>
          <a:lstStyle/>
          <a:p>
            <a:pPr indent="0" marL="0">
              <a:buNone/>
            </a:pPr>
            <a:r>
              <a:rPr lang="en-US" sz="850" b="1" spc="100" kern="0" dirty="0">
                <a:solidFill>
                  <a:srgbClr val="34D399"/>
                </a:solidFill>
                <a:latin typeface="Menlo" pitchFamily="34" charset="0"/>
                <a:ea typeface="Menlo" pitchFamily="34" charset="-122"/>
                <a:cs typeface="Menlo" pitchFamily="34" charset="-120"/>
              </a:rPr>
              <a:t>CƠ SỞ LỰA CHỌN</a:t>
            </a:r>
            <a:endParaRPr lang="en-US" sz="850" dirty="0"/>
          </a:p>
        </p:txBody>
      </p:sp>
      <p:sp>
        <p:nvSpPr>
          <p:cNvPr id="10" name="Text 6"/>
          <p:cNvSpPr/>
          <p:nvPr/>
        </p:nvSpPr>
        <p:spPr>
          <a:xfrm>
            <a:off x="987552" y="3054096"/>
            <a:ext cx="4754880" cy="329184"/>
          </a:xfrm>
          <a:prstGeom prst="rect">
            <a:avLst/>
          </a:prstGeom>
          <a:noFill/>
          <a:ln/>
        </p:spPr>
        <p:txBody>
          <a:bodyPr wrap="square" lIns="0" tIns="0" rIns="0" bIns="0" rtlCol="0" anchor="ctr">
            <a:normAutofit/>
          </a:bodyPr>
          <a:lstStyle/>
          <a:p>
            <a:pPr indent="0" marL="0">
              <a:buNone/>
            </a:pPr>
            <a:r>
              <a:rPr lang="en-US" sz="1650" b="1" dirty="0">
                <a:solidFill>
                  <a:srgbClr val="FAFAFA"/>
                </a:solidFill>
                <a:latin typeface="Avenir Next" pitchFamily="34" charset="0"/>
                <a:ea typeface="Avenir Next" pitchFamily="34" charset="-122"/>
                <a:cs typeface="Avenir Next" pitchFamily="34" charset="-120"/>
              </a:rPr>
              <a:t>Ranh giới nghiệp vụ có thể phân tách</a:t>
            </a:r>
            <a:endParaRPr lang="en-US" sz="1650" dirty="0"/>
          </a:p>
        </p:txBody>
      </p:sp>
      <p:sp>
        <p:nvSpPr>
          <p:cNvPr id="11" name="Text 7"/>
          <p:cNvSpPr/>
          <p:nvPr/>
        </p:nvSpPr>
        <p:spPr>
          <a:xfrm>
            <a:off x="987552" y="3474720"/>
            <a:ext cx="4754880" cy="402336"/>
          </a:xfrm>
          <a:prstGeom prst="rect">
            <a:avLst/>
          </a:prstGeom>
          <a:noFill/>
          <a:ln/>
        </p:spPr>
        <p:txBody>
          <a:bodyPr wrap="square" lIns="0" tIns="0" rIns="0" bIns="0" rtlCol="0" anchor="ctr">
            <a:normAutofit/>
          </a:bodyPr>
          <a:lstStyle/>
          <a:p>
            <a:pPr indent="0" marL="0">
              <a:buNone/>
            </a:pPr>
            <a:r>
              <a:rPr lang="en-US" sz="1180" dirty="0">
                <a:solidFill>
                  <a:srgbClr val="A1A1AA"/>
                </a:solidFill>
                <a:latin typeface="Avenir Next" pitchFamily="34" charset="0"/>
                <a:ea typeface="Avenir Next" pitchFamily="34" charset="-122"/>
                <a:cs typeface="Avenir Next" pitchFamily="34" charset="-120"/>
              </a:rPr>
              <a:t>Catalog, Order, Kitchen, Payment và User-Access có trách nhiệm và vòng đời dữ liệu khác nhau.</a:t>
            </a:r>
            <a:endParaRPr lang="en-US" sz="1180" dirty="0"/>
          </a:p>
        </p:txBody>
      </p:sp>
      <p:sp>
        <p:nvSpPr>
          <p:cNvPr id="12" name="Shape 8"/>
          <p:cNvSpPr/>
          <p:nvPr/>
        </p:nvSpPr>
        <p:spPr>
          <a:xfrm>
            <a:off x="6199632" y="2395728"/>
            <a:ext cx="5230368" cy="1664208"/>
          </a:xfrm>
          <a:prstGeom prst="rect">
            <a:avLst/>
          </a:prstGeom>
          <a:solidFill>
            <a:srgbClr val="18181B"/>
          </a:solidFill>
          <a:ln w="10160">
            <a:solidFill>
              <a:srgbClr val="27272A"/>
            </a:solidFill>
            <a:prstDash val="solid"/>
          </a:ln>
        </p:spPr>
      </p:sp>
      <p:pic>
        <p:nvPicPr>
          <p:cNvPr id="13" name="Image 2" descr="preencoded.png">    </p:cNvPr>
          <p:cNvPicPr>
            <a:picLocks noChangeAspect="1"/>
          </p:cNvPicPr>
          <p:nvPr/>
        </p:nvPicPr>
        <p:blipFill>
          <a:blip r:embed="rId4"/>
          <a:stretch>
            <a:fillRect/>
          </a:stretch>
        </p:blipFill>
        <p:spPr>
          <a:xfrm>
            <a:off x="6428232" y="2615184"/>
            <a:ext cx="310896" cy="310896"/>
          </a:xfrm>
          <a:prstGeom prst="rect">
            <a:avLst/>
          </a:prstGeom>
        </p:spPr>
      </p:pic>
      <p:sp>
        <p:nvSpPr>
          <p:cNvPr id="14" name="Text 9"/>
          <p:cNvSpPr/>
          <p:nvPr/>
        </p:nvSpPr>
        <p:spPr>
          <a:xfrm>
            <a:off x="6903720" y="2651760"/>
            <a:ext cx="1280160" cy="164592"/>
          </a:xfrm>
          <a:prstGeom prst="rect">
            <a:avLst/>
          </a:prstGeom>
          <a:noFill/>
          <a:ln/>
        </p:spPr>
        <p:txBody>
          <a:bodyPr wrap="square" lIns="0" tIns="0" rIns="0" bIns="0" rtlCol="0" anchor="ctr"/>
          <a:lstStyle/>
          <a:p>
            <a:pPr indent="0" marL="0">
              <a:buNone/>
            </a:pPr>
            <a:r>
              <a:rPr lang="en-US" sz="850" b="1" spc="100" kern="0" dirty="0">
                <a:solidFill>
                  <a:srgbClr val="34D399"/>
                </a:solidFill>
                <a:latin typeface="Menlo" pitchFamily="34" charset="0"/>
                <a:ea typeface="Menlo" pitchFamily="34" charset="-122"/>
                <a:cs typeface="Menlo" pitchFamily="34" charset="-120"/>
              </a:rPr>
              <a:t>CƠ SỞ LỰA CHỌN</a:t>
            </a:r>
            <a:endParaRPr lang="en-US" sz="850" dirty="0"/>
          </a:p>
        </p:txBody>
      </p:sp>
      <p:sp>
        <p:nvSpPr>
          <p:cNvPr id="15" name="Text 10"/>
          <p:cNvSpPr/>
          <p:nvPr/>
        </p:nvSpPr>
        <p:spPr>
          <a:xfrm>
            <a:off x="6428232" y="3054096"/>
            <a:ext cx="4754880" cy="329184"/>
          </a:xfrm>
          <a:prstGeom prst="rect">
            <a:avLst/>
          </a:prstGeom>
          <a:noFill/>
          <a:ln/>
        </p:spPr>
        <p:txBody>
          <a:bodyPr wrap="square" lIns="0" tIns="0" rIns="0" bIns="0" rtlCol="0" anchor="ctr">
            <a:normAutofit/>
          </a:bodyPr>
          <a:lstStyle/>
          <a:p>
            <a:pPr indent="0" marL="0">
              <a:buNone/>
            </a:pPr>
            <a:r>
              <a:rPr lang="en-US" sz="1650" b="1" dirty="0">
                <a:solidFill>
                  <a:srgbClr val="FAFAFA"/>
                </a:solidFill>
                <a:latin typeface="Avenir Next" pitchFamily="34" charset="0"/>
                <a:ea typeface="Avenir Next" pitchFamily="34" charset="-122"/>
                <a:cs typeface="Avenir Next" pitchFamily="34" charset="-120"/>
              </a:rPr>
              <a:t>Quyền sở hữu dữ liệu được xác định rõ</a:t>
            </a:r>
            <a:endParaRPr lang="en-US" sz="1650" dirty="0"/>
          </a:p>
        </p:txBody>
      </p:sp>
      <p:sp>
        <p:nvSpPr>
          <p:cNvPr id="16" name="Text 11"/>
          <p:cNvSpPr/>
          <p:nvPr/>
        </p:nvSpPr>
        <p:spPr>
          <a:xfrm>
            <a:off x="6428232" y="3474720"/>
            <a:ext cx="4754880" cy="402336"/>
          </a:xfrm>
          <a:prstGeom prst="rect">
            <a:avLst/>
          </a:prstGeom>
          <a:noFill/>
          <a:ln/>
        </p:spPr>
        <p:txBody>
          <a:bodyPr wrap="square" lIns="0" tIns="0" rIns="0" bIns="0" rtlCol="0" anchor="ctr">
            <a:normAutofit/>
          </a:bodyPr>
          <a:lstStyle/>
          <a:p>
            <a:pPr indent="0" marL="0">
              <a:buNone/>
            </a:pPr>
            <a:r>
              <a:rPr lang="en-US" sz="1180" dirty="0">
                <a:solidFill>
                  <a:srgbClr val="A1A1AA"/>
                </a:solidFill>
                <a:latin typeface="Avenir Next" pitchFamily="34" charset="0"/>
                <a:ea typeface="Avenir Next" pitchFamily="34" charset="-122"/>
                <a:cs typeface="Avenir Next" pitchFamily="34" charset="-120"/>
              </a:rPr>
              <a:t>Mỗi dịch vụ quản lý dữ liệu của mình; dịch vụ khác tương tác qua hợp đồng thay vì truy cập cơ sở dữ liệu chéo.</a:t>
            </a:r>
            <a:endParaRPr lang="en-US" sz="1180" dirty="0"/>
          </a:p>
        </p:txBody>
      </p:sp>
      <p:sp>
        <p:nvSpPr>
          <p:cNvPr id="17" name="Shape 12"/>
          <p:cNvSpPr/>
          <p:nvPr/>
        </p:nvSpPr>
        <p:spPr>
          <a:xfrm>
            <a:off x="758952" y="4279392"/>
            <a:ext cx="5230368" cy="1664208"/>
          </a:xfrm>
          <a:prstGeom prst="rect">
            <a:avLst/>
          </a:prstGeom>
          <a:solidFill>
            <a:srgbClr val="18181B"/>
          </a:solidFill>
          <a:ln w="10160">
            <a:solidFill>
              <a:srgbClr val="27272A"/>
            </a:solidFill>
            <a:prstDash val="solid"/>
          </a:ln>
        </p:spPr>
      </p:sp>
      <p:pic>
        <p:nvPicPr>
          <p:cNvPr id="18" name="Image 3" descr="preencoded.png">    </p:cNvPr>
          <p:cNvPicPr>
            <a:picLocks noChangeAspect="1"/>
          </p:cNvPicPr>
          <p:nvPr/>
        </p:nvPicPr>
        <p:blipFill>
          <a:blip r:embed="rId5"/>
          <a:stretch>
            <a:fillRect/>
          </a:stretch>
        </p:blipFill>
        <p:spPr>
          <a:xfrm>
            <a:off x="987552" y="4498848"/>
            <a:ext cx="310896" cy="310896"/>
          </a:xfrm>
          <a:prstGeom prst="rect">
            <a:avLst/>
          </a:prstGeom>
        </p:spPr>
      </p:pic>
      <p:sp>
        <p:nvSpPr>
          <p:cNvPr id="19" name="Text 13"/>
          <p:cNvSpPr/>
          <p:nvPr/>
        </p:nvSpPr>
        <p:spPr>
          <a:xfrm>
            <a:off x="1463040" y="4535424"/>
            <a:ext cx="1280160" cy="164592"/>
          </a:xfrm>
          <a:prstGeom prst="rect">
            <a:avLst/>
          </a:prstGeom>
          <a:noFill/>
          <a:ln/>
        </p:spPr>
        <p:txBody>
          <a:bodyPr wrap="square" lIns="0" tIns="0" rIns="0" bIns="0" rtlCol="0" anchor="ctr"/>
          <a:lstStyle/>
          <a:p>
            <a:pPr indent="0" marL="0">
              <a:buNone/>
            </a:pPr>
            <a:r>
              <a:rPr lang="en-US" sz="850" b="1" spc="100" kern="0" dirty="0">
                <a:solidFill>
                  <a:srgbClr val="FBBF24"/>
                </a:solidFill>
                <a:latin typeface="Menlo" pitchFamily="34" charset="0"/>
                <a:ea typeface="Menlo" pitchFamily="34" charset="-122"/>
                <a:cs typeface="Menlo" pitchFamily="34" charset="-120"/>
              </a:rPr>
              <a:t>CHI PHÍ PHÁT SINH</a:t>
            </a:r>
            <a:endParaRPr lang="en-US" sz="850" dirty="0"/>
          </a:p>
        </p:txBody>
      </p:sp>
      <p:sp>
        <p:nvSpPr>
          <p:cNvPr id="20" name="Text 14"/>
          <p:cNvSpPr/>
          <p:nvPr/>
        </p:nvSpPr>
        <p:spPr>
          <a:xfrm>
            <a:off x="987552" y="4937760"/>
            <a:ext cx="4754880" cy="329184"/>
          </a:xfrm>
          <a:prstGeom prst="rect">
            <a:avLst/>
          </a:prstGeom>
          <a:noFill/>
          <a:ln/>
        </p:spPr>
        <p:txBody>
          <a:bodyPr wrap="square" lIns="0" tIns="0" rIns="0" bIns="0" rtlCol="0" anchor="ctr">
            <a:normAutofit/>
          </a:bodyPr>
          <a:lstStyle/>
          <a:p>
            <a:pPr indent="0" marL="0">
              <a:buNone/>
            </a:pPr>
            <a:r>
              <a:rPr lang="en-US" sz="1650" b="1" dirty="0">
                <a:solidFill>
                  <a:srgbClr val="FAFAFA"/>
                </a:solidFill>
                <a:latin typeface="Avenir Next" pitchFamily="34" charset="0"/>
                <a:ea typeface="Avenir Next" pitchFamily="34" charset="-122"/>
                <a:cs typeface="Avenir Next" pitchFamily="34" charset="-120"/>
              </a:rPr>
              <a:t>Giao tiếp và nhất quán trở nên phức tạp hơn</a:t>
            </a:r>
            <a:endParaRPr lang="en-US" sz="1650" dirty="0"/>
          </a:p>
        </p:txBody>
      </p:sp>
      <p:sp>
        <p:nvSpPr>
          <p:cNvPr id="21" name="Text 15"/>
          <p:cNvSpPr/>
          <p:nvPr/>
        </p:nvSpPr>
        <p:spPr>
          <a:xfrm>
            <a:off x="987552" y="5358384"/>
            <a:ext cx="4754880" cy="402336"/>
          </a:xfrm>
          <a:prstGeom prst="rect">
            <a:avLst/>
          </a:prstGeom>
          <a:noFill/>
          <a:ln/>
        </p:spPr>
        <p:txBody>
          <a:bodyPr wrap="square" lIns="0" tIns="0" rIns="0" bIns="0" rtlCol="0" anchor="ctr">
            <a:normAutofit/>
          </a:bodyPr>
          <a:lstStyle/>
          <a:p>
            <a:pPr indent="0" marL="0">
              <a:buNone/>
            </a:pPr>
            <a:r>
              <a:rPr lang="en-US" sz="1180" dirty="0">
                <a:solidFill>
                  <a:srgbClr val="A1A1AA"/>
                </a:solidFill>
                <a:latin typeface="Avenir Next" pitchFamily="34" charset="0"/>
                <a:ea typeface="Avenir Next" pitchFamily="34" charset="-122"/>
                <a:cs typeface="Avenir Next" pitchFamily="34" charset="-120"/>
              </a:rPr>
              <a:t>Hệ thống phải lựa chọn giữa lời gọi đồng bộ, sự kiện bất đồng bộ, tính lũy đẳng, loại trùng và bù trừ.</a:t>
            </a:r>
            <a:endParaRPr lang="en-US" sz="1180" dirty="0"/>
          </a:p>
        </p:txBody>
      </p:sp>
      <p:sp>
        <p:nvSpPr>
          <p:cNvPr id="22" name="Shape 16"/>
          <p:cNvSpPr/>
          <p:nvPr/>
        </p:nvSpPr>
        <p:spPr>
          <a:xfrm>
            <a:off x="6199632" y="4279392"/>
            <a:ext cx="5230368" cy="1664208"/>
          </a:xfrm>
          <a:prstGeom prst="rect">
            <a:avLst/>
          </a:prstGeom>
          <a:solidFill>
            <a:srgbClr val="18181B"/>
          </a:solidFill>
          <a:ln w="10160">
            <a:solidFill>
              <a:srgbClr val="27272A"/>
            </a:solidFill>
            <a:prstDash val="solid"/>
          </a:ln>
        </p:spPr>
      </p:sp>
      <p:pic>
        <p:nvPicPr>
          <p:cNvPr id="23" name="Image 4" descr="preencoded.png">    </p:cNvPr>
          <p:cNvPicPr>
            <a:picLocks noChangeAspect="1"/>
          </p:cNvPicPr>
          <p:nvPr/>
        </p:nvPicPr>
        <p:blipFill>
          <a:blip r:embed="rId6"/>
          <a:stretch>
            <a:fillRect/>
          </a:stretch>
        </p:blipFill>
        <p:spPr>
          <a:xfrm>
            <a:off x="6428232" y="4498848"/>
            <a:ext cx="310896" cy="310896"/>
          </a:xfrm>
          <a:prstGeom prst="rect">
            <a:avLst/>
          </a:prstGeom>
        </p:spPr>
      </p:pic>
      <p:sp>
        <p:nvSpPr>
          <p:cNvPr id="24" name="Text 17"/>
          <p:cNvSpPr/>
          <p:nvPr/>
        </p:nvSpPr>
        <p:spPr>
          <a:xfrm>
            <a:off x="6903720" y="4535424"/>
            <a:ext cx="1280160" cy="164592"/>
          </a:xfrm>
          <a:prstGeom prst="rect">
            <a:avLst/>
          </a:prstGeom>
          <a:noFill/>
          <a:ln/>
        </p:spPr>
        <p:txBody>
          <a:bodyPr wrap="square" lIns="0" tIns="0" rIns="0" bIns="0" rtlCol="0" anchor="ctr"/>
          <a:lstStyle/>
          <a:p>
            <a:pPr indent="0" marL="0">
              <a:buNone/>
            </a:pPr>
            <a:r>
              <a:rPr lang="en-US" sz="850" b="1" spc="100" kern="0" dirty="0">
                <a:solidFill>
                  <a:srgbClr val="FB7185"/>
                </a:solidFill>
                <a:latin typeface="Menlo" pitchFamily="34" charset="0"/>
                <a:ea typeface="Menlo" pitchFamily="34" charset="-122"/>
                <a:cs typeface="Menlo" pitchFamily="34" charset="-120"/>
              </a:rPr>
              <a:t>CHI PHÍ PHÁT SINH</a:t>
            </a:r>
            <a:endParaRPr lang="en-US" sz="850" dirty="0"/>
          </a:p>
        </p:txBody>
      </p:sp>
      <p:sp>
        <p:nvSpPr>
          <p:cNvPr id="25" name="Text 18"/>
          <p:cNvSpPr/>
          <p:nvPr/>
        </p:nvSpPr>
        <p:spPr>
          <a:xfrm>
            <a:off x="6428232" y="4937760"/>
            <a:ext cx="4754880" cy="329184"/>
          </a:xfrm>
          <a:prstGeom prst="rect">
            <a:avLst/>
          </a:prstGeom>
          <a:noFill/>
          <a:ln/>
        </p:spPr>
        <p:txBody>
          <a:bodyPr wrap="square" lIns="0" tIns="0" rIns="0" bIns="0" rtlCol="0" anchor="ctr">
            <a:normAutofit/>
          </a:bodyPr>
          <a:lstStyle/>
          <a:p>
            <a:pPr indent="0" marL="0">
              <a:buNone/>
            </a:pPr>
            <a:r>
              <a:rPr lang="en-US" sz="1650" b="1" dirty="0">
                <a:solidFill>
                  <a:srgbClr val="FAFAFA"/>
                </a:solidFill>
                <a:latin typeface="Avenir Next" pitchFamily="34" charset="0"/>
                <a:ea typeface="Avenir Next" pitchFamily="34" charset="-122"/>
                <a:cs typeface="Avenir Next" pitchFamily="34" charset="-120"/>
              </a:rPr>
              <a:t>Kiểm thử và vận hành cần nhiều lớp bằng chứng</a:t>
            </a:r>
            <a:endParaRPr lang="en-US" sz="1650" dirty="0"/>
          </a:p>
        </p:txBody>
      </p:sp>
      <p:sp>
        <p:nvSpPr>
          <p:cNvPr id="26" name="Text 19"/>
          <p:cNvSpPr/>
          <p:nvPr/>
        </p:nvSpPr>
        <p:spPr>
          <a:xfrm>
            <a:off x="6428232" y="5358384"/>
            <a:ext cx="4754880" cy="402336"/>
          </a:xfrm>
          <a:prstGeom prst="rect">
            <a:avLst/>
          </a:prstGeom>
          <a:noFill/>
          <a:ln/>
        </p:spPr>
        <p:txBody>
          <a:bodyPr wrap="square" lIns="0" tIns="0" rIns="0" bIns="0" rtlCol="0" anchor="ctr">
            <a:normAutofit/>
          </a:bodyPr>
          <a:lstStyle/>
          <a:p>
            <a:pPr indent="0" marL="0">
              <a:buNone/>
            </a:pPr>
            <a:r>
              <a:rPr lang="en-US" sz="1180" dirty="0">
                <a:solidFill>
                  <a:srgbClr val="A1A1AA"/>
                </a:solidFill>
                <a:latin typeface="Avenir Next" pitchFamily="34" charset="0"/>
                <a:ea typeface="Avenir Next" pitchFamily="34" charset="-122"/>
                <a:cs typeface="Avenir Next" pitchFamily="34" charset="-120"/>
              </a:rPr>
              <a:t>Một giao diện hoạt động chưa đủ chứng minh ranh giới dịch vụ, nhánh lỗi, trạng thái dữ liệu và hành vi khi phát lại.</a:t>
            </a:r>
            <a:endParaRPr lang="en-US" sz="1180" dirty="0"/>
          </a:p>
        </p:txBody>
      </p:sp>
      <p:sp>
        <p:nvSpPr>
          <p:cNvPr id="27" name="Text 20"/>
          <p:cNvSpPr/>
          <p:nvPr/>
        </p:nvSpPr>
        <p:spPr>
          <a:xfrm>
            <a:off x="1005840" y="6144768"/>
            <a:ext cx="10195560" cy="283464"/>
          </a:xfrm>
          <a:prstGeom prst="rect">
            <a:avLst/>
          </a:prstGeom>
          <a:noFill/>
          <a:ln/>
        </p:spPr>
        <p:txBody>
          <a:bodyPr wrap="square" lIns="0" tIns="0" rIns="0" bIns="0" rtlCol="0" anchor="ctr">
            <a:normAutofit/>
          </a:bodyPr>
          <a:lstStyle/>
          <a:p>
            <a:pPr algn="ctr" indent="0" marL="0">
              <a:buNone/>
            </a:pPr>
            <a:r>
              <a:rPr lang="en-US" sz="1270" b="1" dirty="0">
                <a:solidFill>
                  <a:srgbClr val="22D3EE"/>
                </a:solidFill>
                <a:latin typeface="Avenir Next" pitchFamily="34" charset="0"/>
                <a:ea typeface="Avenir Next" pitchFamily="34" charset="-122"/>
                <a:cs typeface="Avenir Next" pitchFamily="34" charset="-120"/>
              </a:rPr>
              <a:t>QRTable xem vi dịch vụ là một quyết định thiết kế gắn với ranh giới nghiệp vụ và cơ chế kiểm soát lỗi phân tán, không phải mục tiêu tự thân.</a:t>
            </a:r>
            <a:endParaRPr lang="en-US" sz="1270" dirty="0"/>
          </a:p>
        </p:txBody>
      </p:sp>
      <p:sp>
        <p:nvSpPr>
          <p:cNvPr id="28" name="Text 21"/>
          <p:cNvSpPr/>
          <p:nvPr/>
        </p:nvSpPr>
        <p:spPr>
          <a:xfrm>
            <a:off x="758952" y="6528816"/>
            <a:ext cx="5120640" cy="146304"/>
          </a:xfrm>
          <a:prstGeom prst="rect">
            <a:avLst/>
          </a:prstGeom>
          <a:noFill/>
          <a:ln/>
        </p:spPr>
        <p:txBody>
          <a:bodyPr wrap="square" lIns="0" tIns="0" rIns="0" bIns="0" rtlCol="0" anchor="ctr"/>
          <a:lstStyle/>
          <a:p>
            <a:pPr indent="0" marL="0">
              <a:buNone/>
            </a:pPr>
            <a:r>
              <a:rPr lang="en-US" sz="850" dirty="0">
                <a:solidFill>
                  <a:srgbClr val="A1A1AA"/>
                </a:solidFill>
                <a:latin typeface="Avenir Next" pitchFamily="34" charset="0"/>
                <a:ea typeface="Avenir Next" pitchFamily="34" charset="-122"/>
                <a:cs typeface="Avenir Next" pitchFamily="34" charset="-120"/>
              </a:rPr>
              <a:t>QRTable Thesis Defense Deck</a:t>
            </a:r>
            <a:endParaRPr lang="en-US" sz="850" dirty="0"/>
          </a:p>
        </p:txBody>
      </p:sp>
      <p:sp>
        <p:nvSpPr>
          <p:cNvPr id="29" name="Text 22"/>
          <p:cNvSpPr/>
          <p:nvPr/>
        </p:nvSpPr>
        <p:spPr>
          <a:xfrm>
            <a:off x="9281160" y="6528816"/>
            <a:ext cx="2148840" cy="146304"/>
          </a:xfrm>
          <a:prstGeom prst="rect">
            <a:avLst/>
          </a:prstGeom>
          <a:noFill/>
          <a:ln/>
        </p:spPr>
        <p:txBody>
          <a:bodyPr wrap="square" lIns="0" tIns="0" rIns="0" bIns="0" rtlCol="0" anchor="ctr"/>
          <a:lstStyle/>
          <a:p>
            <a:pPr algn="r" indent="0" marL="0">
              <a:buNone/>
            </a:pPr>
            <a:r>
              <a:rPr lang="en-US" sz="850" dirty="0">
                <a:solidFill>
                  <a:srgbClr val="A1A1AA"/>
                </a:solidFill>
                <a:latin typeface="Menlo" pitchFamily="34" charset="0"/>
                <a:ea typeface="Menlo" pitchFamily="34" charset="-122"/>
                <a:cs typeface="Menlo" pitchFamily="34" charset="-120"/>
              </a:rPr>
              <a:t>04_microservices_decision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090B"/>
          </a:solidFill>
          <a:ln w="12700">
            <a:solidFill>
              <a:srgbClr val="09090B"/>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6780276"/>
            <a:ext cx="12191695" cy="77724"/>
          </a:xfrm>
          <a:prstGeom prst="rect">
            <a:avLst/>
          </a:prstGeom>
        </p:spPr>
      </p:pic>
      <p:sp>
        <p:nvSpPr>
          <p:cNvPr id="4" name="Text 1"/>
          <p:cNvSpPr/>
          <p:nvPr/>
        </p:nvSpPr>
        <p:spPr>
          <a:xfrm>
            <a:off x="758952" y="530352"/>
            <a:ext cx="8869680" cy="201168"/>
          </a:xfrm>
          <a:prstGeom prst="rect">
            <a:avLst/>
          </a:prstGeom>
          <a:noFill/>
          <a:ln/>
        </p:spPr>
        <p:txBody>
          <a:bodyPr wrap="square" lIns="0" tIns="0" rIns="0" bIns="0" rtlCol="0" anchor="ctr"/>
          <a:lstStyle/>
          <a:p>
            <a:pPr indent="0" marL="0">
              <a:buNone/>
            </a:pPr>
            <a:r>
              <a:rPr lang="en-US" sz="1150" b="1" spc="180" kern="0" dirty="0">
                <a:solidFill>
                  <a:srgbClr val="22D3EE"/>
                </a:solidFill>
                <a:latin typeface="Menlo" pitchFamily="34" charset="0"/>
                <a:ea typeface="Menlo" pitchFamily="34" charset="-122"/>
                <a:cs typeface="Menlo" pitchFamily="34" charset="-120"/>
              </a:rPr>
              <a:t>PHẦN 4 · CƠ CHẾ CỐT LÕI</a:t>
            </a:r>
            <a:endParaRPr lang="en-US" sz="1150" dirty="0"/>
          </a:p>
        </p:txBody>
      </p:sp>
      <p:sp>
        <p:nvSpPr>
          <p:cNvPr id="5" name="Text 2"/>
          <p:cNvSpPr/>
          <p:nvPr/>
        </p:nvSpPr>
        <p:spPr>
          <a:xfrm>
            <a:off x="758952" y="969264"/>
            <a:ext cx="10652760" cy="566928"/>
          </a:xfrm>
          <a:prstGeom prst="rect">
            <a:avLst/>
          </a:prstGeom>
          <a:noFill/>
          <a:ln/>
        </p:spPr>
        <p:txBody>
          <a:bodyPr wrap="square" lIns="0" tIns="0" rIns="0" bIns="0" rtlCol="0" anchor="ctr">
            <a:normAutofit/>
          </a:bodyPr>
          <a:lstStyle/>
          <a:p>
            <a:pPr indent="0" marL="0">
              <a:buNone/>
            </a:pPr>
            <a:r>
              <a:rPr lang="en-US" sz="3150" b="1" dirty="0">
                <a:solidFill>
                  <a:srgbClr val="FAFAFA"/>
                </a:solidFill>
                <a:latin typeface="Avenir Next" pitchFamily="34" charset="0"/>
                <a:ea typeface="Avenir Next" pitchFamily="34" charset="-122"/>
                <a:cs typeface="Avenir Next" pitchFamily="34" charset="-120"/>
              </a:rPr>
              <a:t>Order Confirm Saga: xác nhận đơn hàng và bảo toàn tồn kho</a:t>
            </a:r>
            <a:endParaRPr lang="en-US" sz="3150" dirty="0"/>
          </a:p>
        </p:txBody>
      </p:sp>
      <p:sp>
        <p:nvSpPr>
          <p:cNvPr id="6" name="Text 3"/>
          <p:cNvSpPr/>
          <p:nvPr/>
        </p:nvSpPr>
        <p:spPr>
          <a:xfrm>
            <a:off x="758952" y="1673352"/>
            <a:ext cx="10515600" cy="347472"/>
          </a:xfrm>
          <a:prstGeom prst="rect">
            <a:avLst/>
          </a:prstGeom>
          <a:noFill/>
          <a:ln/>
        </p:spPr>
        <p:txBody>
          <a:bodyPr wrap="square" lIns="0" tIns="0" rIns="0" bIns="0" rtlCol="0" anchor="ctr">
            <a:normAutofit/>
          </a:bodyPr>
          <a:lstStyle/>
          <a:p>
            <a:pPr indent="0" marL="0">
              <a:buNone/>
            </a:pPr>
            <a:r>
              <a:rPr lang="en-US" sz="1700" dirty="0">
                <a:solidFill>
                  <a:srgbClr val="A1A1AA"/>
                </a:solidFill>
                <a:latin typeface="Avenir Next" pitchFamily="34" charset="0"/>
                <a:ea typeface="Avenir Next" pitchFamily="34" charset="-122"/>
                <a:cs typeface="Avenir Next" pitchFamily="34" charset="-120"/>
              </a:rPr>
              <a:t>Saga đại diện cho cách QRTable phối hợp một giao dịch nghiệp vụ đi qua Order và Catalog mà không sử dụng một transaction cơ sở dữ liệu chung.</a:t>
            </a:r>
            <a:endParaRPr lang="en-US" sz="1700" dirty="0"/>
          </a:p>
        </p:txBody>
      </p:sp>
      <p:sp>
        <p:nvSpPr>
          <p:cNvPr id="7" name="Shape 4"/>
          <p:cNvSpPr/>
          <p:nvPr/>
        </p:nvSpPr>
        <p:spPr>
          <a:xfrm>
            <a:off x="758952" y="2395728"/>
            <a:ext cx="7086600" cy="3584448"/>
          </a:xfrm>
          <a:prstGeom prst="rect">
            <a:avLst/>
          </a:prstGeom>
          <a:solidFill>
            <a:srgbClr val="111114"/>
          </a:solidFill>
          <a:ln w="12700">
            <a:solidFill>
              <a:srgbClr val="3F3F46"/>
            </a:solidFill>
            <a:prstDash val="solid"/>
          </a:ln>
        </p:spPr>
      </p:sp>
      <p:pic>
        <p:nvPicPr>
          <p:cNvPr id="8" name="Image 1" descr="preencoded.png">    </p:cNvPr>
          <p:cNvPicPr>
            <a:picLocks noChangeAspect="1"/>
          </p:cNvPicPr>
          <p:nvPr/>
        </p:nvPicPr>
        <p:blipFill>
          <a:blip r:embed="rId3"/>
          <a:stretch>
            <a:fillRect/>
          </a:stretch>
        </p:blipFill>
        <p:spPr>
          <a:xfrm>
            <a:off x="3904488" y="2962656"/>
            <a:ext cx="768096" cy="768096"/>
          </a:xfrm>
          <a:prstGeom prst="rect">
            <a:avLst/>
          </a:prstGeom>
        </p:spPr>
      </p:pic>
      <p:sp>
        <p:nvSpPr>
          <p:cNvPr id="9" name="Text 5"/>
          <p:cNvSpPr/>
          <p:nvPr/>
        </p:nvSpPr>
        <p:spPr>
          <a:xfrm>
            <a:off x="1325880" y="3840480"/>
            <a:ext cx="5943600" cy="384048"/>
          </a:xfrm>
          <a:prstGeom prst="rect">
            <a:avLst/>
          </a:prstGeom>
          <a:noFill/>
          <a:ln/>
        </p:spPr>
        <p:txBody>
          <a:bodyPr wrap="square" lIns="0" tIns="0" rIns="0" bIns="0" rtlCol="0" anchor="ctr"/>
          <a:lstStyle/>
          <a:p>
            <a:pPr algn="ctr" indent="0" marL="0">
              <a:buNone/>
            </a:pPr>
            <a:r>
              <a:rPr lang="en-US" sz="1800" b="1" dirty="0">
                <a:solidFill>
                  <a:srgbClr val="FAFAFA"/>
                </a:solidFill>
                <a:latin typeface="Avenir Next" pitchFamily="34" charset="0"/>
                <a:ea typeface="Avenir Next" pitchFamily="34" charset="-122"/>
                <a:cs typeface="Avenir Next" pitchFamily="34" charset="-120"/>
              </a:rPr>
              <a:t>Sơ đồ trình tự Order Confirm Saga</a:t>
            </a:r>
            <a:endParaRPr lang="en-US" sz="1800" dirty="0"/>
          </a:p>
        </p:txBody>
      </p:sp>
      <p:sp>
        <p:nvSpPr>
          <p:cNvPr id="10" name="Text 6"/>
          <p:cNvSpPr/>
          <p:nvPr/>
        </p:nvSpPr>
        <p:spPr>
          <a:xfrm>
            <a:off x="1371600" y="4407408"/>
            <a:ext cx="5852160" cy="566928"/>
          </a:xfrm>
          <a:prstGeom prst="rect">
            <a:avLst/>
          </a:prstGeom>
          <a:noFill/>
          <a:ln/>
        </p:spPr>
        <p:txBody>
          <a:bodyPr wrap="square" lIns="0" tIns="0" rIns="0" bIns="0" rtlCol="0" anchor="ctr">
            <a:normAutofit/>
          </a:bodyPr>
          <a:lstStyle/>
          <a:p>
            <a:pPr algn="ctr" indent="0" marL="0">
              <a:buNone/>
            </a:pPr>
            <a:r>
              <a:rPr lang="en-US" sz="1150" dirty="0">
                <a:solidFill>
                  <a:srgbClr val="A1A1AA"/>
                </a:solidFill>
                <a:latin typeface="Avenir Next" pitchFamily="34" charset="0"/>
                <a:ea typeface="Avenir Next" pitchFamily="34" charset="-122"/>
                <a:cs typeface="Avenir Next" pitchFamily="34" charset="-120"/>
              </a:rPr>
              <a:t>Visual sẽ được thay bằng diagram riêng; bố cục cuối cần thể hiện đầy đủ luồng thành công, nhánh lỗi sau khi trừ tồn kho và hành động bù trừ.</a:t>
            </a:r>
            <a:endParaRPr lang="en-US" sz="1150" dirty="0"/>
          </a:p>
        </p:txBody>
      </p:sp>
      <p:sp>
        <p:nvSpPr>
          <p:cNvPr id="11" name="Shape 7"/>
          <p:cNvSpPr/>
          <p:nvPr/>
        </p:nvSpPr>
        <p:spPr>
          <a:xfrm>
            <a:off x="1170432" y="5230368"/>
            <a:ext cx="1417320" cy="310896"/>
          </a:xfrm>
          <a:prstGeom prst="rect">
            <a:avLst/>
          </a:prstGeom>
          <a:solidFill>
            <a:srgbClr val="34D399">
              <a:alpha val="12000"/>
            </a:srgbClr>
          </a:solidFill>
          <a:ln w="8890">
            <a:solidFill>
              <a:srgbClr val="34D399">
                <a:alpha val="75000"/>
              </a:srgbClr>
            </a:solidFill>
            <a:prstDash val="solid"/>
          </a:ln>
        </p:spPr>
      </p:sp>
      <p:sp>
        <p:nvSpPr>
          <p:cNvPr id="12" name="Text 8"/>
          <p:cNvSpPr/>
          <p:nvPr/>
        </p:nvSpPr>
        <p:spPr>
          <a:xfrm>
            <a:off x="1216152" y="5312664"/>
            <a:ext cx="1325880" cy="128016"/>
          </a:xfrm>
          <a:prstGeom prst="rect">
            <a:avLst/>
          </a:prstGeom>
          <a:noFill/>
          <a:ln/>
        </p:spPr>
        <p:txBody>
          <a:bodyPr wrap="square" lIns="0" tIns="0" rIns="0" bIns="0" rtlCol="0" anchor="ctr">
            <a:normAutofit/>
          </a:bodyPr>
          <a:lstStyle/>
          <a:p>
            <a:pPr algn="ctr" indent="0" marL="0">
              <a:buNone/>
            </a:pPr>
            <a:r>
              <a:rPr lang="en-US" sz="750" b="1" dirty="0">
                <a:solidFill>
                  <a:srgbClr val="34D399"/>
                </a:solidFill>
                <a:latin typeface="Menlo" pitchFamily="34" charset="0"/>
                <a:ea typeface="Menlo" pitchFamily="34" charset="-122"/>
                <a:cs typeface="Menlo" pitchFamily="34" charset="-120"/>
              </a:rPr>
              <a:t>Luồng thành công</a:t>
            </a:r>
            <a:endParaRPr lang="en-US" sz="750" dirty="0"/>
          </a:p>
        </p:txBody>
      </p:sp>
      <p:sp>
        <p:nvSpPr>
          <p:cNvPr id="13" name="Shape 9"/>
          <p:cNvSpPr/>
          <p:nvPr/>
        </p:nvSpPr>
        <p:spPr>
          <a:xfrm>
            <a:off x="2770632" y="5230368"/>
            <a:ext cx="1417320" cy="310896"/>
          </a:xfrm>
          <a:prstGeom prst="rect">
            <a:avLst/>
          </a:prstGeom>
          <a:solidFill>
            <a:srgbClr val="FB7185">
              <a:alpha val="12000"/>
            </a:srgbClr>
          </a:solidFill>
          <a:ln w="8890">
            <a:solidFill>
              <a:srgbClr val="FB7185">
                <a:alpha val="75000"/>
              </a:srgbClr>
            </a:solidFill>
            <a:prstDash val="solid"/>
          </a:ln>
        </p:spPr>
      </p:sp>
      <p:sp>
        <p:nvSpPr>
          <p:cNvPr id="14" name="Text 10"/>
          <p:cNvSpPr/>
          <p:nvPr/>
        </p:nvSpPr>
        <p:spPr>
          <a:xfrm>
            <a:off x="2816352" y="5312664"/>
            <a:ext cx="1325880" cy="128016"/>
          </a:xfrm>
          <a:prstGeom prst="rect">
            <a:avLst/>
          </a:prstGeom>
          <a:noFill/>
          <a:ln/>
        </p:spPr>
        <p:txBody>
          <a:bodyPr wrap="square" lIns="0" tIns="0" rIns="0" bIns="0" rtlCol="0" anchor="ctr">
            <a:normAutofit/>
          </a:bodyPr>
          <a:lstStyle/>
          <a:p>
            <a:pPr algn="ctr" indent="0" marL="0">
              <a:buNone/>
            </a:pPr>
            <a:r>
              <a:rPr lang="en-US" sz="750" b="1" dirty="0">
                <a:solidFill>
                  <a:srgbClr val="FB7185"/>
                </a:solidFill>
                <a:latin typeface="Menlo" pitchFamily="34" charset="0"/>
                <a:ea typeface="Menlo" pitchFamily="34" charset="-122"/>
                <a:cs typeface="Menlo" pitchFamily="34" charset="-120"/>
              </a:rPr>
              <a:t>Nhánh lỗi</a:t>
            </a:r>
            <a:endParaRPr lang="en-US" sz="750" dirty="0"/>
          </a:p>
        </p:txBody>
      </p:sp>
      <p:sp>
        <p:nvSpPr>
          <p:cNvPr id="15" name="Shape 11"/>
          <p:cNvSpPr/>
          <p:nvPr/>
        </p:nvSpPr>
        <p:spPr>
          <a:xfrm>
            <a:off x="4370832" y="5230368"/>
            <a:ext cx="1417320" cy="310896"/>
          </a:xfrm>
          <a:prstGeom prst="rect">
            <a:avLst/>
          </a:prstGeom>
          <a:solidFill>
            <a:srgbClr val="FBBF24">
              <a:alpha val="12000"/>
            </a:srgbClr>
          </a:solidFill>
          <a:ln w="8890">
            <a:solidFill>
              <a:srgbClr val="FBBF24">
                <a:alpha val="75000"/>
              </a:srgbClr>
            </a:solidFill>
            <a:prstDash val="solid"/>
          </a:ln>
        </p:spPr>
      </p:sp>
      <p:sp>
        <p:nvSpPr>
          <p:cNvPr id="16" name="Text 12"/>
          <p:cNvSpPr/>
          <p:nvPr/>
        </p:nvSpPr>
        <p:spPr>
          <a:xfrm>
            <a:off x="4416552" y="5312664"/>
            <a:ext cx="1325880" cy="128016"/>
          </a:xfrm>
          <a:prstGeom prst="rect">
            <a:avLst/>
          </a:prstGeom>
          <a:noFill/>
          <a:ln/>
        </p:spPr>
        <p:txBody>
          <a:bodyPr wrap="square" lIns="0" tIns="0" rIns="0" bIns="0" rtlCol="0" anchor="ctr">
            <a:normAutofit/>
          </a:bodyPr>
          <a:lstStyle/>
          <a:p>
            <a:pPr algn="ctr" indent="0" marL="0">
              <a:buNone/>
            </a:pPr>
            <a:r>
              <a:rPr lang="en-US" sz="750" b="1" dirty="0">
                <a:solidFill>
                  <a:srgbClr val="FBBF24"/>
                </a:solidFill>
                <a:latin typeface="Menlo" pitchFamily="34" charset="0"/>
                <a:ea typeface="Menlo" pitchFamily="34" charset="-122"/>
                <a:cs typeface="Menlo" pitchFamily="34" charset="-120"/>
              </a:rPr>
              <a:t>Bù trừ</a:t>
            </a:r>
            <a:endParaRPr lang="en-US" sz="750" dirty="0"/>
          </a:p>
        </p:txBody>
      </p:sp>
      <p:sp>
        <p:nvSpPr>
          <p:cNvPr id="17" name="Shape 13"/>
          <p:cNvSpPr/>
          <p:nvPr/>
        </p:nvSpPr>
        <p:spPr>
          <a:xfrm>
            <a:off x="5971032" y="5230368"/>
            <a:ext cx="1417320" cy="310896"/>
          </a:xfrm>
          <a:prstGeom prst="rect">
            <a:avLst/>
          </a:prstGeom>
          <a:solidFill>
            <a:srgbClr val="22D3EE">
              <a:alpha val="12000"/>
            </a:srgbClr>
          </a:solidFill>
          <a:ln w="8890">
            <a:solidFill>
              <a:srgbClr val="22D3EE">
                <a:alpha val="75000"/>
              </a:srgbClr>
            </a:solidFill>
            <a:prstDash val="solid"/>
          </a:ln>
        </p:spPr>
      </p:sp>
      <p:sp>
        <p:nvSpPr>
          <p:cNvPr id="18" name="Text 14"/>
          <p:cNvSpPr/>
          <p:nvPr/>
        </p:nvSpPr>
        <p:spPr>
          <a:xfrm>
            <a:off x="6016752" y="5312664"/>
            <a:ext cx="1325880" cy="128016"/>
          </a:xfrm>
          <a:prstGeom prst="rect">
            <a:avLst/>
          </a:prstGeom>
          <a:noFill/>
          <a:ln/>
        </p:spPr>
        <p:txBody>
          <a:bodyPr wrap="square" lIns="0" tIns="0" rIns="0" bIns="0" rtlCol="0" anchor="ctr">
            <a:normAutofit/>
          </a:bodyPr>
          <a:lstStyle/>
          <a:p>
            <a:pPr algn="ctr" indent="0" marL="0">
              <a:buNone/>
            </a:pPr>
            <a:r>
              <a:rPr lang="en-US" sz="750" b="1" dirty="0">
                <a:solidFill>
                  <a:srgbClr val="22D3EE"/>
                </a:solidFill>
                <a:latin typeface="Menlo" pitchFamily="34" charset="0"/>
                <a:ea typeface="Menlo" pitchFamily="34" charset="-122"/>
                <a:cs typeface="Menlo" pitchFamily="34" charset="-120"/>
              </a:rPr>
              <a:t>Biên idempotency</a:t>
            </a:r>
            <a:endParaRPr lang="en-US" sz="750" dirty="0"/>
          </a:p>
        </p:txBody>
      </p:sp>
      <p:sp>
        <p:nvSpPr>
          <p:cNvPr id="19" name="Text 15">
            <a:hlinkClick r:id="rId4" tooltip="Hình 5.2 - Order Confirm Saga"/>
          </p:cNvPr>
          <p:cNvSpPr/>
          <p:nvPr/>
        </p:nvSpPr>
        <p:spPr>
          <a:xfrm>
            <a:off x="1078992" y="5715000"/>
            <a:ext cx="4114800" cy="164592"/>
          </a:xfrm>
          <a:prstGeom prst="rect">
            <a:avLst/>
          </a:prstGeom>
          <a:noFill/>
          <a:ln/>
        </p:spPr>
        <p:txBody>
          <a:bodyPr wrap="square" lIns="0" tIns="0" rIns="0" bIns="0" rtlCol="0" anchor="ctr"/>
          <a:lstStyle/>
          <a:p>
            <a:pPr indent="0" marL="0">
              <a:buNone/>
            </a:pPr>
            <a:r>
              <a:rPr lang="en-US" sz="850" u="sng" dirty="0">
                <a:solidFill>
                  <a:srgbClr val="71717A"/>
                </a:solidFill>
                <a:latin typeface="Avenir Next" pitchFamily="34" charset="0"/>
                <a:ea typeface="Avenir Next" pitchFamily="34" charset="-122"/>
                <a:cs typeface="Avenir Next" pitchFamily="34" charset="-120"/>
                <a:hlinkClick r:id="rId4" invalidUrl="" action="" tgtFrame="" tooltip="Hình 5.2 - Order Confirm Saga" history="1" highlightClick="0" endSnd="0">
                  <a:extLst>
                    <a:ext uri="{A12FA001-AC4F-418D-AE19-62706E023703}">
                      <ahyp:hlinkClr xmlns:ahyp="http://schemas.microsoft.com/office/drawing/2018/hyperlinkcolor" val="tx"/>
                    </a:ext>
                  </a:extLst>
                </a:hlinkClick>
              </a:rPr>
              <a:t>Mở nguồn sơ đồ trong báo cáo</a:t>
            </a:r>
            <a:endParaRPr lang="en-US" sz="850" dirty="0"/>
          </a:p>
        </p:txBody>
      </p:sp>
      <p:sp>
        <p:nvSpPr>
          <p:cNvPr id="20" name="Text 16"/>
          <p:cNvSpPr/>
          <p:nvPr/>
        </p:nvSpPr>
        <p:spPr>
          <a:xfrm>
            <a:off x="8183880" y="2432304"/>
            <a:ext cx="3200400" cy="274320"/>
          </a:xfrm>
          <a:prstGeom prst="rect">
            <a:avLst/>
          </a:prstGeom>
          <a:noFill/>
          <a:ln/>
        </p:spPr>
        <p:txBody>
          <a:bodyPr wrap="square" lIns="0" tIns="0" rIns="0" bIns="0" rtlCol="0" anchor="ctr"/>
          <a:lstStyle/>
          <a:p>
            <a:pPr indent="0" marL="0">
              <a:buNone/>
            </a:pPr>
            <a:r>
              <a:rPr lang="en-US" sz="1550" b="1" dirty="0">
                <a:solidFill>
                  <a:srgbClr val="22D3EE"/>
                </a:solidFill>
                <a:latin typeface="Avenir Next" pitchFamily="34" charset="0"/>
                <a:ea typeface="Avenir Next" pitchFamily="34" charset="-122"/>
                <a:cs typeface="Avenir Next" pitchFamily="34" charset="-120"/>
              </a:rPr>
              <a:t>Bất biến cần bảo vệ</a:t>
            </a:r>
            <a:endParaRPr lang="en-US" sz="1550" dirty="0"/>
          </a:p>
        </p:txBody>
      </p:sp>
      <p:sp>
        <p:nvSpPr>
          <p:cNvPr id="21" name="Text 17"/>
          <p:cNvSpPr/>
          <p:nvPr/>
        </p:nvSpPr>
        <p:spPr>
          <a:xfrm>
            <a:off x="8183880" y="2816352"/>
            <a:ext cx="3218688" cy="1024128"/>
          </a:xfrm>
          <a:prstGeom prst="rect">
            <a:avLst/>
          </a:prstGeom>
          <a:noFill/>
          <a:ln/>
        </p:spPr>
        <p:txBody>
          <a:bodyPr wrap="square" lIns="0" tIns="0" rIns="0" bIns="0" rtlCol="0" anchor="ctr">
            <a:normAutofit/>
          </a:bodyPr>
          <a:lstStyle/>
          <a:p>
            <a:pPr indent="0" marL="0">
              <a:buNone/>
            </a:pPr>
            <a:r>
              <a:rPr lang="en-US" sz="1150" dirty="0">
                <a:solidFill>
                  <a:srgbClr val="A1A1AA"/>
                </a:solidFill>
                <a:latin typeface="Avenir Next" pitchFamily="34" charset="0"/>
                <a:ea typeface="Avenir Next" pitchFamily="34" charset="-122"/>
                <a:cs typeface="Avenir Next" pitchFamily="34" charset="-120"/>
              </a:rPr>
              <a:t>Catalog là dịch vụ duy nhất cập nhật tồn kho; Order chỉ chuyển sang PROCESSING sau khi tồn kho được xử lý thành công; xác nhận lặp không được trừ tồn kho hai lần.</a:t>
            </a:r>
            <a:endParaRPr lang="en-US" sz="1150" dirty="0"/>
          </a:p>
        </p:txBody>
      </p:sp>
      <p:sp>
        <p:nvSpPr>
          <p:cNvPr id="22" name="Text 18"/>
          <p:cNvSpPr/>
          <p:nvPr/>
        </p:nvSpPr>
        <p:spPr>
          <a:xfrm>
            <a:off x="8183880" y="4005072"/>
            <a:ext cx="3200400" cy="274320"/>
          </a:xfrm>
          <a:prstGeom prst="rect">
            <a:avLst/>
          </a:prstGeom>
          <a:noFill/>
          <a:ln/>
        </p:spPr>
        <p:txBody>
          <a:bodyPr wrap="square" lIns="0" tIns="0" rIns="0" bIns="0" rtlCol="0" anchor="ctr"/>
          <a:lstStyle/>
          <a:p>
            <a:pPr indent="0" marL="0">
              <a:buNone/>
            </a:pPr>
            <a:r>
              <a:rPr lang="en-US" sz="1550" b="1" dirty="0">
                <a:solidFill>
                  <a:srgbClr val="34D399"/>
                </a:solidFill>
                <a:latin typeface="Avenir Next" pitchFamily="34" charset="0"/>
                <a:ea typeface="Avenir Next" pitchFamily="34" charset="-122"/>
                <a:cs typeface="Avenir Next" pitchFamily="34" charset="-120"/>
              </a:rPr>
              <a:t>Điểm ghi nhận nghiệp vụ</a:t>
            </a:r>
            <a:endParaRPr lang="en-US" sz="1550" dirty="0"/>
          </a:p>
        </p:txBody>
      </p:sp>
      <p:sp>
        <p:nvSpPr>
          <p:cNvPr id="23" name="Text 19"/>
          <p:cNvSpPr/>
          <p:nvPr/>
        </p:nvSpPr>
        <p:spPr>
          <a:xfrm>
            <a:off x="8183880" y="4389120"/>
            <a:ext cx="3218688" cy="841248"/>
          </a:xfrm>
          <a:prstGeom prst="rect">
            <a:avLst/>
          </a:prstGeom>
          <a:noFill/>
          <a:ln/>
        </p:spPr>
        <p:txBody>
          <a:bodyPr wrap="square" lIns="0" tIns="0" rIns="0" bIns="0" rtlCol="0" anchor="ctr">
            <a:normAutofit/>
          </a:bodyPr>
          <a:lstStyle/>
          <a:p>
            <a:pPr indent="0" marL="0">
              <a:buNone/>
            </a:pPr>
            <a:r>
              <a:rPr lang="en-US" sz="1150" dirty="0">
                <a:solidFill>
                  <a:srgbClr val="A1A1AA"/>
                </a:solidFill>
                <a:latin typeface="Avenir Next" pitchFamily="34" charset="0"/>
                <a:ea typeface="Avenir Next" pitchFamily="34" charset="-122"/>
                <a:cs typeface="Avenir Next" pitchFamily="34" charset="-120"/>
              </a:rPr>
              <a:t>Order ghi trạng thái PROCESSING cùng outbox order.confirmed. Nếu bước này thất bại sau khi Catalog đã trừ tồn kho, Order gọi Catalog hoàn tồn kho.</a:t>
            </a:r>
            <a:endParaRPr lang="en-US" sz="1150" dirty="0"/>
          </a:p>
        </p:txBody>
      </p:sp>
      <p:sp>
        <p:nvSpPr>
          <p:cNvPr id="24" name="Text 20"/>
          <p:cNvSpPr/>
          <p:nvPr/>
        </p:nvSpPr>
        <p:spPr>
          <a:xfrm>
            <a:off x="8183880" y="5422392"/>
            <a:ext cx="3200400" cy="274320"/>
          </a:xfrm>
          <a:prstGeom prst="rect">
            <a:avLst/>
          </a:prstGeom>
          <a:noFill/>
          <a:ln/>
        </p:spPr>
        <p:txBody>
          <a:bodyPr wrap="square" lIns="0" tIns="0" rIns="0" bIns="0" rtlCol="0" anchor="ctr"/>
          <a:lstStyle/>
          <a:p>
            <a:pPr indent="0" marL="0">
              <a:buNone/>
            </a:pPr>
            <a:r>
              <a:rPr lang="en-US" sz="1550" b="1" dirty="0">
                <a:solidFill>
                  <a:srgbClr val="FBBF24"/>
                </a:solidFill>
                <a:latin typeface="Avenir Next" pitchFamily="34" charset="0"/>
                <a:ea typeface="Avenir Next" pitchFamily="34" charset="-122"/>
                <a:cs typeface="Avenir Next" pitchFamily="34" charset="-120"/>
              </a:rPr>
              <a:t>Mức bằng chứng hiện tại</a:t>
            </a:r>
            <a:endParaRPr lang="en-US" sz="1550" dirty="0"/>
          </a:p>
        </p:txBody>
      </p:sp>
      <p:sp>
        <p:nvSpPr>
          <p:cNvPr id="25" name="Text 21"/>
          <p:cNvSpPr/>
          <p:nvPr/>
        </p:nvSpPr>
        <p:spPr>
          <a:xfrm>
            <a:off x="8183880" y="5806440"/>
            <a:ext cx="3218688" cy="566928"/>
          </a:xfrm>
          <a:prstGeom prst="rect">
            <a:avLst/>
          </a:prstGeom>
          <a:noFill/>
          <a:ln/>
        </p:spPr>
        <p:txBody>
          <a:bodyPr wrap="square" lIns="0" tIns="0" rIns="0" bIns="0" rtlCol="0" anchor="ctr">
            <a:normAutofit/>
          </a:bodyPr>
          <a:lstStyle/>
          <a:p>
            <a:pPr indent="0" marL="0">
              <a:buNone/>
            </a:pPr>
            <a:r>
              <a:rPr lang="en-US" sz="1080" dirty="0">
                <a:solidFill>
                  <a:srgbClr val="A1A1AA"/>
                </a:solidFill>
                <a:latin typeface="Avenir Next" pitchFamily="34" charset="0"/>
                <a:ea typeface="Avenir Next" pitchFamily="34" charset="-122"/>
                <a:cs typeface="Avenir Next" pitchFamily="34" charset="-120"/>
              </a:rPr>
              <a:t>Kiểm thử đơn vị và hợp đồng đã kiểm chứng điều phối, phát lại và bù trừ. Tiêm lỗi xác định trên toàn ngăn xếp vẫn là bước củng cố tiếp theo.</a:t>
            </a:r>
            <a:endParaRPr lang="en-US" sz="1080" dirty="0"/>
          </a:p>
        </p:txBody>
      </p:sp>
      <p:sp>
        <p:nvSpPr>
          <p:cNvPr id="26" name="Text 22"/>
          <p:cNvSpPr/>
          <p:nvPr/>
        </p:nvSpPr>
        <p:spPr>
          <a:xfrm>
            <a:off x="758952" y="6528816"/>
            <a:ext cx="5120640" cy="146304"/>
          </a:xfrm>
          <a:prstGeom prst="rect">
            <a:avLst/>
          </a:prstGeom>
          <a:noFill/>
          <a:ln/>
        </p:spPr>
        <p:txBody>
          <a:bodyPr wrap="square" lIns="0" tIns="0" rIns="0" bIns="0" rtlCol="0" anchor="ctr"/>
          <a:lstStyle/>
          <a:p>
            <a:pPr indent="0" marL="0">
              <a:buNone/>
            </a:pPr>
            <a:r>
              <a:rPr lang="en-US" sz="850" dirty="0">
                <a:solidFill>
                  <a:srgbClr val="A1A1AA"/>
                </a:solidFill>
                <a:latin typeface="Avenir Next" pitchFamily="34" charset="0"/>
                <a:ea typeface="Avenir Next" pitchFamily="34" charset="-122"/>
                <a:cs typeface="Avenir Next" pitchFamily="34" charset="-120"/>
              </a:rPr>
              <a:t>QRTable Thesis Defense Deck</a:t>
            </a:r>
            <a:endParaRPr lang="en-US" sz="850" dirty="0"/>
          </a:p>
        </p:txBody>
      </p:sp>
      <p:sp>
        <p:nvSpPr>
          <p:cNvPr id="27" name="Text 23"/>
          <p:cNvSpPr/>
          <p:nvPr/>
        </p:nvSpPr>
        <p:spPr>
          <a:xfrm>
            <a:off x="9281160" y="6528816"/>
            <a:ext cx="2148840" cy="146304"/>
          </a:xfrm>
          <a:prstGeom prst="rect">
            <a:avLst/>
          </a:prstGeom>
          <a:noFill/>
          <a:ln/>
        </p:spPr>
        <p:txBody>
          <a:bodyPr wrap="square" lIns="0" tIns="0" rIns="0" bIns="0" rtlCol="0" anchor="ctr"/>
          <a:lstStyle/>
          <a:p>
            <a:pPr algn="r" indent="0" marL="0">
              <a:buNone/>
            </a:pPr>
            <a:r>
              <a:rPr lang="en-US" sz="850" dirty="0">
                <a:solidFill>
                  <a:srgbClr val="A1A1AA"/>
                </a:solidFill>
                <a:latin typeface="Menlo" pitchFamily="34" charset="0"/>
                <a:ea typeface="Menlo" pitchFamily="34" charset="-122"/>
                <a:cs typeface="Menlo" pitchFamily="34" charset="-120"/>
              </a:rPr>
              <a:t>05_order_confirm_saga</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University of Information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QRTable Defense Deck - 5 Slide Design Preview</dc:title>
  <dc:subject>QRTable thesis defense deck design preview</dc:subject>
  <dc:creator>Võ Đình Minh Quân</dc:creator>
  <cp:lastModifiedBy>Võ Đình Minh Quân</cp:lastModifiedBy>
  <cp:revision>1</cp:revision>
  <dcterms:created xsi:type="dcterms:W3CDTF">2026-06-15T17:52:18Z</dcterms:created>
  <dcterms:modified xsi:type="dcterms:W3CDTF">2026-06-15T17:52:18Z</dcterms:modified>
</cp:coreProperties>
</file>